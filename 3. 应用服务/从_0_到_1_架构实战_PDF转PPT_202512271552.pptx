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7475200" cy="97536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84354" y="1936090"/>
            <a:ext cx="13106400" cy="3395698"/>
          </a:xfrm>
        </p:spPr>
        <p:txBody>
          <a:bodyPr anchor="b"/>
          <a:lstStyle>
            <a:lvl1pPr algn="ctr">
              <a:defRPr sz="85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84354" y="5462738"/>
            <a:ext cx="13106400" cy="2354862"/>
          </a:xfrm>
        </p:spPr>
        <p:txBody>
          <a:bodyPr/>
          <a:lstStyle>
            <a:lvl1pPr marL="0" indent="0" algn="ctr">
              <a:buNone/>
              <a:defRPr sz="3415"/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960" indent="0" algn="ctr">
              <a:buNone/>
              <a:defRPr sz="2275"/>
            </a:lvl5pPr>
            <a:lvl6pPr marL="3251200" indent="0" algn="ctr">
              <a:buNone/>
              <a:defRPr sz="2275"/>
            </a:lvl6pPr>
            <a:lvl7pPr marL="3901440" indent="0" algn="ctr">
              <a:buNone/>
              <a:defRPr sz="2275"/>
            </a:lvl7pPr>
            <a:lvl8pPr marL="4551680" indent="0" algn="ctr">
              <a:buNone/>
              <a:defRPr sz="2275"/>
            </a:lvl8pPr>
            <a:lvl9pPr marL="5201920" indent="0" algn="ctr">
              <a:buNone/>
              <a:defRPr sz="227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397" y="743960"/>
            <a:ext cx="15072360" cy="18852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1397" y="2821116"/>
            <a:ext cx="15072360" cy="61885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2318" y="2431627"/>
            <a:ext cx="15072360" cy="4057226"/>
          </a:xfrm>
        </p:spPr>
        <p:txBody>
          <a:bodyPr anchor="b"/>
          <a:lstStyle>
            <a:lvl1pPr>
              <a:defRPr sz="85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92318" y="6527236"/>
            <a:ext cx="15072360" cy="2133599"/>
          </a:xfrm>
        </p:spPr>
        <p:txBody>
          <a:bodyPr/>
          <a:lstStyle>
            <a:lvl1pPr marL="0" indent="0">
              <a:buNone/>
              <a:defRPr sz="3415">
                <a:solidFill>
                  <a:schemeClr val="tx1">
                    <a:tint val="75000"/>
                  </a:schemeClr>
                </a:solidFill>
              </a:defRPr>
            </a:lvl1pPr>
            <a:lvl2pPr marL="650240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4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96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120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144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168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19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397" y="743960"/>
            <a:ext cx="15072360" cy="18852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01397" y="2821116"/>
            <a:ext cx="7426960" cy="61885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846797" y="2821116"/>
            <a:ext cx="7426960" cy="61885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189" y="734231"/>
            <a:ext cx="15072776" cy="18835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01189" y="2752273"/>
            <a:ext cx="7400800" cy="1177190"/>
          </a:xfrm>
        </p:spPr>
        <p:txBody>
          <a:bodyPr anchor="ctr" anchorCtr="0"/>
          <a:lstStyle>
            <a:lvl1pPr marL="0" indent="0">
              <a:buNone/>
              <a:defRPr sz="3980"/>
            </a:lvl1pPr>
            <a:lvl2pPr marL="650240" indent="0">
              <a:buNone/>
              <a:defRPr sz="3415"/>
            </a:lvl2pPr>
            <a:lvl3pPr marL="1300480" indent="0">
              <a:buNone/>
              <a:defRPr sz="2845"/>
            </a:lvl3pPr>
            <a:lvl4pPr marL="1950720" indent="0">
              <a:buNone/>
              <a:defRPr sz="2560"/>
            </a:lvl4pPr>
            <a:lvl5pPr marL="2600960" indent="0">
              <a:buNone/>
              <a:defRPr sz="2560"/>
            </a:lvl5pPr>
            <a:lvl6pPr marL="3251200" indent="0">
              <a:buNone/>
              <a:defRPr sz="2560"/>
            </a:lvl6pPr>
            <a:lvl7pPr marL="3901440" indent="0">
              <a:buNone/>
              <a:defRPr sz="2560"/>
            </a:lvl7pPr>
            <a:lvl8pPr marL="4551680" indent="0">
              <a:buNone/>
              <a:defRPr sz="2560"/>
            </a:lvl8pPr>
            <a:lvl9pPr marL="5201920" indent="0">
              <a:buNone/>
              <a:defRPr sz="25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01189" y="4007943"/>
            <a:ext cx="7400800" cy="50114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8839268" y="2752273"/>
            <a:ext cx="7434697" cy="1177190"/>
          </a:xfrm>
        </p:spPr>
        <p:txBody>
          <a:bodyPr anchor="ctr" anchorCtr="0"/>
          <a:lstStyle>
            <a:lvl1pPr marL="0" indent="0">
              <a:buNone/>
              <a:defRPr sz="3980"/>
            </a:lvl1pPr>
            <a:lvl2pPr marL="650240" indent="0">
              <a:buNone/>
              <a:defRPr sz="3415"/>
            </a:lvl2pPr>
            <a:lvl3pPr marL="1300480" indent="0">
              <a:buNone/>
              <a:defRPr sz="2845"/>
            </a:lvl3pPr>
            <a:lvl4pPr marL="1950720" indent="0">
              <a:buNone/>
              <a:defRPr sz="2560"/>
            </a:lvl4pPr>
            <a:lvl5pPr marL="2600960" indent="0">
              <a:buNone/>
              <a:defRPr sz="2560"/>
            </a:lvl5pPr>
            <a:lvl6pPr marL="3251200" indent="0">
              <a:buNone/>
              <a:defRPr sz="2560"/>
            </a:lvl6pPr>
            <a:lvl7pPr marL="3901440" indent="0">
              <a:buNone/>
              <a:defRPr sz="2560"/>
            </a:lvl7pPr>
            <a:lvl8pPr marL="4551680" indent="0">
              <a:buNone/>
              <a:defRPr sz="2560"/>
            </a:lvl8pPr>
            <a:lvl9pPr marL="5201920" indent="0">
              <a:buNone/>
              <a:defRPr sz="25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8839268" y="4007943"/>
            <a:ext cx="7434697" cy="50114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397" y="1028440"/>
            <a:ext cx="5970334" cy="2275840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426937" y="1028442"/>
            <a:ext cx="8846820" cy="7685476"/>
          </a:xfrm>
        </p:spPr>
        <p:txBody>
          <a:bodyPr/>
          <a:lstStyle>
            <a:lvl1pPr marL="0" indent="0">
              <a:buNone/>
              <a:defRPr sz="4550"/>
            </a:lvl1pPr>
            <a:lvl2pPr marL="650240" indent="0">
              <a:buNone/>
              <a:defRPr sz="3980"/>
            </a:lvl2pPr>
            <a:lvl3pPr marL="1300480" indent="0">
              <a:buNone/>
              <a:defRPr sz="3415"/>
            </a:lvl3pPr>
            <a:lvl4pPr marL="1950720" indent="0">
              <a:buNone/>
              <a:defRPr sz="2845"/>
            </a:lvl4pPr>
            <a:lvl5pPr marL="2600960" indent="0">
              <a:buNone/>
              <a:defRPr sz="2845"/>
            </a:lvl5pPr>
            <a:lvl6pPr marL="3251200" indent="0">
              <a:buNone/>
              <a:defRPr sz="2845"/>
            </a:lvl6pPr>
            <a:lvl7pPr marL="3901440" indent="0">
              <a:buNone/>
              <a:defRPr sz="2845"/>
            </a:lvl7pPr>
            <a:lvl8pPr marL="4551680" indent="0">
              <a:buNone/>
              <a:defRPr sz="2845"/>
            </a:lvl8pPr>
            <a:lvl9pPr marL="5201920" indent="0">
              <a:buNone/>
              <a:defRPr sz="284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01397" y="3304280"/>
            <a:ext cx="5970334" cy="5420925"/>
          </a:xfrm>
        </p:spPr>
        <p:txBody>
          <a:bodyPr/>
          <a:lstStyle>
            <a:lvl1pPr marL="0" indent="0">
              <a:buNone/>
              <a:defRPr sz="2845"/>
            </a:lvl1pPr>
            <a:lvl2pPr marL="650240" indent="0">
              <a:buNone/>
              <a:defRPr sz="2560"/>
            </a:lvl2pPr>
            <a:lvl3pPr marL="1300480" indent="0">
              <a:buNone/>
              <a:defRPr sz="2275"/>
            </a:lvl3pPr>
            <a:lvl4pPr marL="1950720" indent="0">
              <a:buNone/>
              <a:defRPr sz="1990"/>
            </a:lvl4pPr>
            <a:lvl5pPr marL="2600960" indent="0">
              <a:buNone/>
              <a:defRPr sz="1990"/>
            </a:lvl5pPr>
            <a:lvl6pPr marL="3251200" indent="0">
              <a:buNone/>
              <a:defRPr sz="1990"/>
            </a:lvl6pPr>
            <a:lvl7pPr marL="3901440" indent="0">
              <a:buNone/>
              <a:defRPr sz="1990"/>
            </a:lvl7pPr>
            <a:lvl8pPr marL="4551680" indent="0">
              <a:buNone/>
              <a:defRPr sz="1990"/>
            </a:lvl8pPr>
            <a:lvl9pPr marL="5201920" indent="0">
              <a:buNone/>
              <a:defRPr sz="19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2505667" y="743960"/>
            <a:ext cx="3768090" cy="82657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01397" y="743960"/>
            <a:ext cx="11085830" cy="82657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201397" y="743960"/>
            <a:ext cx="15072360" cy="8265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01374" y="743983"/>
            <a:ext cx="1507236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01374" y="2821138"/>
            <a:ext cx="15072360" cy="61885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300480" rtl="0" eaLnBrk="1" latinLnBrk="0" hangingPunct="1">
        <a:lnSpc>
          <a:spcPct val="90000"/>
        </a:lnSpc>
        <a:spcBef>
          <a:spcPct val="0"/>
        </a:spcBef>
        <a:buNone/>
        <a:defRPr sz="626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325120" indent="-325120" algn="l" defTabSz="1300480" rtl="0" eaLnBrk="1" latinLnBrk="0" hangingPunct="1">
        <a:lnSpc>
          <a:spcPct val="90000"/>
        </a:lnSpc>
        <a:spcBef>
          <a:spcPct val="285000"/>
        </a:spcBef>
        <a:buFont typeface="Arial" panose="020B060402020202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97536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62560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227584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92608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3576320" marR="0" indent="-325120" algn="l" defTabSz="1300480" rtl="0" eaLnBrk="1" fontAlgn="auto" latinLnBrk="0" hangingPunct="1">
        <a:lnSpc>
          <a:spcPct val="90000"/>
        </a:lnSpc>
        <a:spcBef>
          <a:spcPct val="143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3415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422656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lang="en-US" altLang="zh-CN" sz="34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487680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lang="en-US" altLang="zh-CN" sz="34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5201920" indent="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None/>
        <a:defRPr lang="en-US" altLang="zh-CN" sz="34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DF1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353601" y="1289036"/>
            <a:ext cx="6997594" cy="7131051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028647" y="3429523"/>
            <a:ext cx="6982459" cy="3030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99000"/>
              </a:lnSpc>
              <a:spcBef>
                <a:spcPts val="0"/>
              </a:spcBef>
            </a:pPr>
            <a:r>
              <a:rPr sz="6800" b="1" kern="0" spc="-3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</a:t>
            </a:r>
            <a:r>
              <a:rPr sz="6800" kern="0" spc="-1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800" b="1" kern="0" spc="-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r>
              <a:rPr sz="6800" b="1" kern="0" spc="-5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800" b="1" kern="0" spc="8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到1:构建可</a:t>
            </a:r>
            <a:r>
              <a:rPr sz="6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8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扩展的部署架构</a:t>
            </a:r>
            <a:endParaRPr sz="6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3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一场面向未来的运维入门课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EF1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1308162" y="5498489"/>
            <a:ext cx="3984625" cy="2258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3700" b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看懂</a:t>
            </a:r>
            <a:r>
              <a:rPr sz="37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700" b="1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(Understa</a:t>
            </a:r>
            <a:r>
              <a:rPr sz="3700" b="1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nd)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  <a:spcBef>
                <a:spcPts val="875"/>
              </a:spcBef>
            </a:pP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任何架构图，你能识别</a:t>
            </a:r>
            <a:endParaRPr sz="2900" dirty="0">
              <a:latin typeface="SimHei"/>
              <a:ea typeface="SimHei"/>
              <a:cs typeface="SimHei"/>
            </a:endParaRPr>
          </a:p>
          <a:p>
            <a:pPr marL="564515" algn="l" rtl="0" eaLnBrk="0">
              <a:lnSpc>
                <a:spcPts val="4755"/>
              </a:lnSpc>
            </a:pP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核心组件和链路。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198294" y="805254"/>
            <a:ext cx="11095355" cy="895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6000" b="1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今天的</a:t>
            </a:r>
            <a:r>
              <a:rPr sz="6000" b="1" kern="0" spc="-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目标：让“架构”不再神</a:t>
            </a:r>
            <a:r>
              <a:rPr sz="6000" b="1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秘</a:t>
            </a:r>
            <a:endParaRPr sz="6000" dirty="0">
              <a:latin typeface="SimHei"/>
              <a:ea typeface="SimHei"/>
              <a:cs typeface="Sim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2198270" y="5504829"/>
            <a:ext cx="3794125" cy="2249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8950" algn="l" rtl="0" eaLnBrk="0">
              <a:lnSpc>
                <a:spcPct val="93000"/>
              </a:lnSpc>
            </a:pPr>
            <a:r>
              <a:rPr sz="3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画出</a:t>
            </a:r>
            <a:r>
              <a:rPr sz="3700" kern="0" spc="-6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7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(Draw)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880"/>
              </a:spcBef>
            </a:pPr>
            <a:r>
              <a:rPr sz="2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亲手画出一个典型的互</a:t>
            </a:r>
            <a:endParaRPr sz="2900" dirty="0">
              <a:latin typeface="SimHei"/>
              <a:ea typeface="SimHei"/>
              <a:cs typeface="SimHei"/>
            </a:endParaRPr>
          </a:p>
          <a:p>
            <a:pPr marL="190500" algn="l" rtl="0" eaLnBrk="0">
              <a:lnSpc>
                <a:spcPts val="4740"/>
              </a:lnSpc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联网应用部署架构。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6826220" y="5504829"/>
            <a:ext cx="3790950" cy="2249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0" algn="l" rtl="0" eaLnBrk="0">
              <a:lnSpc>
                <a:spcPct val="93000"/>
              </a:lnSpc>
            </a:pPr>
            <a:r>
              <a:rPr sz="37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复述</a:t>
            </a:r>
            <a:r>
              <a:rPr sz="3700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7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(Retell)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85000"/>
              </a:lnSpc>
              <a:spcBef>
                <a:spcPts val="880"/>
              </a:spcBef>
            </a:pPr>
            <a:r>
              <a:rPr sz="2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向同事解释一个网站为</a:t>
            </a:r>
            <a:endParaRPr sz="2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4740"/>
              </a:lnSpc>
            </a:pP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何要拆分、要加缓存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941259" y="2819376"/>
            <a:ext cx="2292396" cy="2038404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02543" y="2857512"/>
            <a:ext cx="2044773" cy="1943112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20965" y="3105156"/>
            <a:ext cx="2508215" cy="1479523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 2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DF1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14477" y="3575084"/>
            <a:ext cx="15709853" cy="4864022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933407" y="705531"/>
            <a:ext cx="15735935" cy="2802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7000"/>
              </a:lnSpc>
            </a:pPr>
            <a:r>
              <a:rPr sz="4600" b="1" kern="0" spc="50" dirty="0">
                <a:solidFill>
                  <a:srgbClr val="205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架构的核心：</a:t>
            </a:r>
            <a:r>
              <a:rPr sz="4600" b="1" kern="0" spc="5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组件、连接与规则</a:t>
            </a:r>
            <a:endParaRPr sz="4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430"/>
              </a:spcBef>
            </a:pPr>
            <a:r>
              <a:rPr sz="22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架构回答三个基本问题，决定了系统的“生死存亡”。架构就是为了实现业务</a:t>
            </a:r>
            <a:r>
              <a:rPr sz="22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目标，把系统需要的组件组织起来，并规定它们如何协作。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315710" algn="l" rtl="0" eaLnBrk="0">
              <a:lnSpc>
                <a:spcPts val="3150"/>
              </a:lnSpc>
              <a:spcBef>
                <a:spcPts val="670"/>
              </a:spcBef>
            </a:pPr>
            <a:r>
              <a:rPr sz="2200" b="1" kern="0" spc="-2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怎么连</a:t>
            </a:r>
            <a:r>
              <a:rPr sz="2200" kern="0" spc="-2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b="1" kern="0" spc="-2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</a:t>
            </a:r>
            <a:r>
              <a:rPr sz="2200" b="1" kern="0" spc="-20" dirty="0">
                <a:solidFill>
                  <a:srgbClr val="2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onne</a:t>
            </a:r>
            <a:r>
              <a:rPr sz="2200" b="1" kern="0" spc="-30" dirty="0">
                <a:solidFill>
                  <a:srgbClr val="2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ction):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92800" algn="l" rtl="0" eaLnBrk="0">
              <a:lnSpc>
                <a:spcPct val="96000"/>
              </a:lnSpc>
              <a:spcBef>
                <a:spcPts val="525"/>
              </a:spcBef>
            </a:pPr>
            <a:r>
              <a:rPr sz="22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链路与调用。决定了功能</a:t>
            </a:r>
            <a:r>
              <a:rPr sz="22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和性能。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13588945" y="4540341"/>
            <a:ext cx="2981960" cy="1136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200" kern="0" spc="-1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怎么扩</a:t>
            </a:r>
            <a:r>
              <a:rPr sz="2200" kern="0" spc="-41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1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(Scalability):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7000"/>
              </a:lnSpc>
              <a:spcBef>
                <a:spcPts val="150"/>
              </a:spcBef>
            </a:pP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扩展与容灾。决定了弹性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和稳定性。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933407" y="4514884"/>
            <a:ext cx="2704464" cy="1120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200" kern="0" spc="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放哪儿</a:t>
            </a:r>
            <a:r>
              <a:rPr sz="2200" kern="0" spc="-33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(Placem</a:t>
            </a:r>
            <a:r>
              <a:rPr sz="2200" kern="0" spc="-1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ent):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  <a:spcBef>
                <a:spcPts val="845"/>
              </a:spcBef>
            </a:pP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资源与边界。决定了安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115"/>
              </a:lnSpc>
            </a:pPr>
            <a:r>
              <a:rPr sz="21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全和隔离。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7683552" y="6006146"/>
            <a:ext cx="2021204" cy="874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90550" algn="l" rtl="0" eaLnBrk="0">
              <a:lnSpc>
                <a:spcPct val="96000"/>
              </a:lnSpc>
            </a:pPr>
            <a:r>
              <a:rPr sz="36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连接</a:t>
            </a:r>
            <a:endParaRPr sz="3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3000"/>
              </a:lnSpc>
              <a:spcBef>
                <a:spcPts val="40"/>
              </a:spcBef>
            </a:pP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Connections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2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4590966" y="5992612"/>
            <a:ext cx="1778635" cy="873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5300" algn="l" rtl="0" eaLnBrk="0">
              <a:lnSpc>
                <a:spcPct val="97000"/>
              </a:lnSpc>
            </a:pPr>
            <a:r>
              <a:rPr sz="36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组件</a:t>
            </a:r>
            <a:endParaRPr sz="3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1000"/>
              </a:lnSpc>
              <a:spcBef>
                <a:spcPts val="345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(Components)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11042636" y="6366730"/>
            <a:ext cx="1049655" cy="882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2550" algn="l" rtl="0" eaLnBrk="0">
              <a:lnSpc>
                <a:spcPct val="96000"/>
              </a:lnSpc>
            </a:pPr>
            <a:r>
              <a:rPr sz="3600" b="1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规则</a:t>
            </a:r>
            <a:endParaRPr sz="3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3000"/>
              </a:lnSpc>
              <a:spcBef>
                <a:spcPts val="115"/>
              </a:spcBef>
            </a:pP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(Rules)</a:t>
            </a:r>
            <a:endParaRPr sz="2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16097336" y="9481038"/>
            <a:ext cx="1263650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300" b="1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 46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DF1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" name="textbox 48"/>
          <p:cNvSpPr/>
          <p:nvPr/>
        </p:nvSpPr>
        <p:spPr>
          <a:xfrm>
            <a:off x="3276656" y="2411314"/>
            <a:ext cx="4906645" cy="6341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</a:t>
            </a:r>
            <a:r>
              <a:rPr sz="2400" b="1" kern="0" spc="5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0: 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单机时代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(The</a:t>
            </a:r>
            <a:r>
              <a:rPr sz="24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olith)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950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PingFang SC,300</a:t>
            </a:r>
            <a:r>
              <a:rPr sz="22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ight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  <a:spcBef>
                <a:spcPts val="670"/>
              </a:spcBef>
            </a:pP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</a:t>
            </a:r>
            <a:r>
              <a:rPr sz="2200" b="1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2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2:</a:t>
            </a:r>
            <a:r>
              <a:rPr sz="2200" b="1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人多势众</a:t>
            </a:r>
            <a:r>
              <a:rPr sz="22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Load</a:t>
            </a:r>
            <a:r>
              <a:rPr sz="22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Balancing</a:t>
            </a:r>
            <a:r>
              <a:rPr sz="22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050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PingFang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,300</a:t>
            </a:r>
            <a:r>
              <a:rPr sz="22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Light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725"/>
              </a:spcBef>
            </a:pP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</a:t>
            </a:r>
            <a:r>
              <a:rPr sz="2400" b="1" kern="0" spc="4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4:</a:t>
            </a:r>
            <a:r>
              <a:rPr sz="2400" b="1" kern="0" spc="3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专业分工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(Static/Dynamic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Split)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255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PingFang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,300</a:t>
            </a:r>
            <a:r>
              <a:rPr sz="22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Light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0934638" y="3770184"/>
            <a:ext cx="4824095" cy="3432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1000"/>
              </a:lnSpc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</a:t>
            </a:r>
            <a:r>
              <a:rPr sz="2400" b="1" kern="0" spc="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1: 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初次分家(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App/D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 Split)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PingFang SC,300</a:t>
            </a:r>
            <a:r>
              <a:rPr sz="22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ght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9000"/>
              </a:lnSpc>
              <a:spcBef>
                <a:spcPts val="0"/>
              </a:spcBef>
            </a:pP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</a:t>
            </a:r>
            <a:r>
              <a:rPr sz="2200" b="1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2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3:</a:t>
            </a:r>
            <a:r>
              <a:rPr sz="2200" b="1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全力加速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Caching</a:t>
            </a:r>
            <a:r>
              <a:rPr sz="22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Layer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PingFang SC,300</a:t>
            </a:r>
            <a:r>
              <a:rPr sz="22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ght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62931" y="2343107"/>
            <a:ext cx="2260592" cy="6096000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6212735" y="703700"/>
            <a:ext cx="5039995" cy="730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4800" b="1" kern="0" spc="100" dirty="0">
                <a:solidFill>
                  <a:srgbClr val="2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一个系统的成长史</a:t>
            </a:r>
            <a:endParaRPr sz="4800" dirty="0">
              <a:latin typeface="SimHei"/>
              <a:ea typeface="SimHei"/>
              <a:cs typeface="SimHei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47827" y="4870460"/>
            <a:ext cx="1206487" cy="1168383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92214" y="7639018"/>
            <a:ext cx="1104956" cy="1060509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00211" y="2197096"/>
            <a:ext cx="882672" cy="1066848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 6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CF1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869915" y="2578071"/>
            <a:ext cx="7391485" cy="4406969"/>
            <a:chOff x="0" y="0"/>
            <a:chExt cx="7391485" cy="4406969"/>
          </a:xfrm>
        </p:grpSpPr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7391485" cy="4406969"/>
            </a:xfrm>
            <a:prstGeom prst="rect">
              <a:avLst/>
            </a:prstGeom>
          </p:spPr>
        </p:pic>
        <p:sp>
          <p:nvSpPr>
            <p:cNvPr id="68" name="textbox 68"/>
            <p:cNvSpPr/>
            <p:nvPr/>
          </p:nvSpPr>
          <p:spPr>
            <a:xfrm>
              <a:off x="3200464" y="1416836"/>
              <a:ext cx="3201670" cy="23215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98000"/>
                </a:lnSpc>
              </a:pPr>
              <a:r>
                <a:rPr sz="2600" kern="0" spc="1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数据库</a:t>
              </a:r>
              <a:endParaRPr sz="2600" dirty="0">
                <a:latin typeface="SimHei"/>
                <a:ea typeface="SimHei"/>
                <a:cs typeface="SimHei"/>
              </a:endParaRPr>
            </a:p>
            <a:p>
              <a:pPr marL="2305050" algn="l" rtl="0" eaLnBrk="0">
                <a:lnSpc>
                  <a:spcPct val="83000"/>
                </a:lnSpc>
                <a:spcBef>
                  <a:spcPts val="280"/>
                </a:spcBef>
              </a:pPr>
              <a:r>
                <a:rPr sz="26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(DB)</a:t>
              </a:r>
              <a:endParaRPr sz="2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13665" algn="l" rtl="0" eaLnBrk="0">
                <a:lnSpc>
                  <a:spcPct val="98000"/>
                </a:lnSpc>
                <a:spcBef>
                  <a:spcPts val="40"/>
                </a:spcBef>
              </a:pPr>
              <a:r>
                <a:rPr sz="2600" kern="0" spc="1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</a:t>
              </a:r>
              <a:endParaRPr sz="26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70"/>
                </a:spcBef>
              </a:pPr>
              <a:r>
                <a:rPr sz="28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(App)</a:t>
              </a:r>
              <a:endParaRPr sz="2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24100" algn="l" rtl="0" eaLnBrk="0">
                <a:lnSpc>
                  <a:spcPct val="97000"/>
                </a:lnSpc>
                <a:spcBef>
                  <a:spcPts val="30"/>
                </a:spcBef>
              </a:pPr>
              <a:r>
                <a:rPr sz="2600" kern="0" spc="1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文件</a:t>
              </a:r>
              <a:endParaRPr sz="2600" dirty="0">
                <a:latin typeface="SimHei"/>
                <a:ea typeface="SimHei"/>
                <a:cs typeface="SimHei"/>
              </a:endParaRPr>
            </a:p>
            <a:p>
              <a:pPr marL="2164715" algn="l" rtl="0" eaLnBrk="0">
                <a:lnSpc>
                  <a:spcPct val="83000"/>
                </a:lnSpc>
                <a:spcBef>
                  <a:spcPts val="55"/>
                </a:spcBef>
              </a:pPr>
              <a:r>
                <a:rPr sz="28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(Files)</a:t>
              </a:r>
              <a:endParaRPr sz="2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0" name="textbox 70"/>
          <p:cNvSpPr/>
          <p:nvPr/>
        </p:nvSpPr>
        <p:spPr>
          <a:xfrm>
            <a:off x="9449060" y="3149828"/>
            <a:ext cx="7254875" cy="3065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36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三大硬伤</a:t>
            </a:r>
            <a:r>
              <a:rPr sz="36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6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36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</a:t>
            </a:r>
            <a:r>
              <a:rPr sz="36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Challenge</a:t>
            </a:r>
            <a:r>
              <a:rPr sz="36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4845" algn="l" rtl="0" eaLnBrk="0">
              <a:lnSpc>
                <a:spcPct val="97000"/>
              </a:lnSpc>
              <a:spcBef>
                <a:spcPts val="780"/>
              </a:spcBef>
            </a:pPr>
            <a:r>
              <a:rPr sz="2600" b="1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单点故障：</a:t>
            </a:r>
            <a:r>
              <a:rPr sz="26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机器挂了就全挂。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4845" algn="l" rtl="0" eaLnBrk="0">
              <a:lnSpc>
                <a:spcPts val="3610"/>
              </a:lnSpc>
              <a:spcBef>
                <a:spcPts val="790"/>
              </a:spcBef>
            </a:pPr>
            <a:r>
              <a:rPr sz="2600" b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性能瓶颈：</a:t>
            </a:r>
            <a:r>
              <a:rPr sz="26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CPU</a:t>
            </a:r>
            <a:r>
              <a:rPr sz="26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、</a:t>
            </a:r>
            <a:r>
              <a:rPr sz="2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内存、</a:t>
            </a:r>
            <a:r>
              <a:rPr sz="26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I/0</a:t>
            </a:r>
            <a:r>
              <a:rPr sz="26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6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互相争抢。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4845" algn="l" rtl="0" eaLnBrk="0">
              <a:lnSpc>
                <a:spcPct val="94000"/>
              </a:lnSpc>
              <a:spcBef>
                <a:spcPts val="5"/>
              </a:spcBef>
            </a:pP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维护风险：</a:t>
            </a:r>
            <a:r>
              <a:rPr sz="2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重启一次服务，等于全站抖</a:t>
            </a: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一下。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943032" y="990458"/>
            <a:ext cx="9406890" cy="796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5300" b="1" kern="0" spc="-50" dirty="0">
                <a:solidFill>
                  <a:srgbClr val="206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万物之始：一台服务器搞定一切</a:t>
            </a:r>
            <a:endParaRPr sz="5300" dirty="0">
              <a:latin typeface="SimHei"/>
              <a:ea typeface="SimHei"/>
              <a:cs typeface="Sim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4006922" y="8174584"/>
            <a:ext cx="9725659" cy="487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0" algn="l" rtl="0" eaLnBrk="0">
              <a:lnSpc>
                <a:spcPct val="92000"/>
              </a:lnSpc>
            </a:pPr>
            <a:r>
              <a:rPr sz="33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“便宜、快、学习成本低，但无法支撑业务增长。”</a:t>
            </a:r>
            <a:endParaRPr sz="3300" dirty="0">
              <a:latin typeface="SimHei"/>
              <a:ea typeface="SimHei"/>
              <a:cs typeface="Sim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3605526" y="2892501"/>
            <a:ext cx="2801620" cy="485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300" b="1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服务器</a:t>
            </a:r>
            <a:r>
              <a:rPr sz="3300" kern="0" spc="-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300" b="1" kern="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(Serve</a:t>
            </a:r>
            <a:r>
              <a:rPr sz="3300" b="1" kern="0" spc="-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r)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46164" y="3858235"/>
            <a:ext cx="706119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4175"/>
              </a:lnSpc>
            </a:pPr>
            <a:r>
              <a:rPr sz="10400" kern="0" spc="-4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10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6097336" y="9481038"/>
            <a:ext cx="1263650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300" b="1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 8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BF0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50867" y="1974811"/>
            <a:ext cx="15716321" cy="4413309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9436423" y="6869599"/>
            <a:ext cx="7931784" cy="2804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800" b="1" kern="0" spc="-70" dirty="0">
                <a:solidFill>
                  <a:srgbClr val="D09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新问题</a:t>
            </a:r>
            <a:r>
              <a:rPr sz="3800" kern="0" spc="-430" dirty="0">
                <a:solidFill>
                  <a:srgbClr val="D09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800" b="1" kern="0" spc="-70" dirty="0">
                <a:solidFill>
                  <a:srgbClr val="D09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(The</a:t>
            </a:r>
            <a:r>
              <a:rPr sz="3800" b="1" kern="0" spc="350" dirty="0">
                <a:solidFill>
                  <a:srgbClr val="D09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b="1" kern="0" spc="-70" dirty="0">
                <a:solidFill>
                  <a:srgbClr val="D09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</a:t>
            </a:r>
            <a:r>
              <a:rPr sz="3800" b="1" kern="0" spc="340" dirty="0">
                <a:solidFill>
                  <a:srgbClr val="D09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b="1" kern="0" spc="-70" dirty="0">
                <a:solidFill>
                  <a:srgbClr val="D09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Puzzl</a:t>
            </a:r>
            <a:r>
              <a:rPr sz="3800" b="1" kern="0" spc="-80" dirty="0">
                <a:solidFill>
                  <a:srgbClr val="D09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e)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85000"/>
              </a:lnSpc>
              <a:spcBef>
                <a:spcPts val="815"/>
              </a:spcBef>
            </a:pP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网络与权限：</a:t>
            </a: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必须保证应用到数据库的连通性</a:t>
            </a:r>
            <a:endParaRPr sz="2700" dirty="0">
              <a:latin typeface="SimHei"/>
              <a:ea typeface="SimHei"/>
              <a:cs typeface="SimHei"/>
            </a:endParaRPr>
          </a:p>
          <a:p>
            <a:pPr marL="393065" indent="208915" algn="l" rtl="0" eaLnBrk="0">
              <a:lnSpc>
                <a:spcPct val="125000"/>
              </a:lnSpc>
              <a:spcBef>
                <a:spcPts val="35"/>
              </a:spcBef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(安全组、防火墙、白名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单),同时防止数据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库对外网开放。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5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927116" y="6977570"/>
            <a:ext cx="7033894" cy="2268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91000"/>
              </a:lnSpc>
            </a:pPr>
            <a:r>
              <a:rPr sz="3800" b="1" kern="0" spc="-50" dirty="0">
                <a:solidFill>
                  <a:srgbClr val="208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收益</a:t>
            </a:r>
            <a:r>
              <a:rPr sz="3800" kern="0" spc="-470" dirty="0">
                <a:solidFill>
                  <a:srgbClr val="208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800" b="1" kern="0" spc="-50" dirty="0">
                <a:solidFill>
                  <a:srgbClr val="208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(The</a:t>
            </a:r>
            <a:r>
              <a:rPr sz="3800" b="1" kern="0" spc="830" dirty="0">
                <a:solidFill>
                  <a:srgbClr val="208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b="1" kern="0" spc="-50" dirty="0">
                <a:solidFill>
                  <a:srgbClr val="208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Payoff</a:t>
            </a:r>
            <a:r>
              <a:rPr sz="3800" b="1" kern="0" spc="-60" dirty="0">
                <a:solidFill>
                  <a:srgbClr val="208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7350" indent="-374650" algn="l" rtl="0" eaLnBrk="0">
              <a:lnSpc>
                <a:spcPct val="108000"/>
              </a:lnSpc>
              <a:spcBef>
                <a:spcPts val="810"/>
              </a:spcBef>
            </a:pPr>
            <a:r>
              <a:rPr sz="2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b="1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风险隔离：</a:t>
            </a:r>
            <a:r>
              <a:rPr sz="2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应用发版不</a:t>
            </a:r>
            <a:r>
              <a:rPr sz="27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影响数据库，数据库是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核心资产。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27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7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b="1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性能专注：</a:t>
            </a:r>
            <a:r>
              <a:rPr sz="27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资源独立，互</a:t>
            </a:r>
            <a:r>
              <a:rPr sz="27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不干扰，各自优化。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3599084" y="2992901"/>
            <a:ext cx="6391275" cy="1176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应用服务器</a:t>
            </a:r>
            <a:r>
              <a:rPr sz="2700" kern="0" spc="-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(App</a:t>
            </a:r>
            <a:r>
              <a:rPr sz="2700" b="1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Server)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135"/>
              </a:spcBef>
            </a:pP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数据库</a:t>
            </a:r>
            <a:endParaRPr sz="2700" dirty="0">
              <a:latin typeface="SimHei"/>
              <a:ea typeface="SimHei"/>
              <a:cs typeface="SimHei"/>
            </a:endParaRPr>
          </a:p>
          <a:p>
            <a:pPr marL="5494020" algn="l" rtl="0" eaLnBrk="0">
              <a:lnSpc>
                <a:spcPct val="81000"/>
              </a:lnSpc>
              <a:spcBef>
                <a:spcPts val="235"/>
              </a:spcBef>
            </a:pPr>
            <a:r>
              <a:rPr sz="27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(DB)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936832" y="988983"/>
            <a:ext cx="8805544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5300" b="1" kern="0" spc="-10" dirty="0">
                <a:solidFill>
                  <a:srgbClr val="205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关键一步：应用与数据库分离</a:t>
            </a:r>
            <a:endParaRPr sz="5300" dirty="0">
              <a:latin typeface="SimHei"/>
              <a:ea typeface="SimHei"/>
              <a:cs typeface="Sim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11682589" y="2973882"/>
            <a:ext cx="4280534" cy="401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数据库服务器</a:t>
            </a:r>
            <a:r>
              <a:rPr sz="2700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(DB</a:t>
            </a:r>
            <a:r>
              <a:rPr sz="2700" b="1" kern="0" spc="3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Server)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12185688" y="4566713"/>
            <a:ext cx="1087119" cy="771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数据库</a:t>
            </a:r>
            <a:endParaRPr sz="2700" dirty="0">
              <a:latin typeface="SimHei"/>
              <a:ea typeface="SimHei"/>
              <a:cs typeface="SimHei"/>
            </a:endParaRPr>
          </a:p>
          <a:p>
            <a:pPr marL="164465" algn="l" rtl="0" eaLnBrk="0">
              <a:lnSpc>
                <a:spcPct val="82000"/>
              </a:lnSpc>
              <a:spcBef>
                <a:spcPts val="30"/>
              </a:spcBef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(DB)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14490667" y="4559246"/>
            <a:ext cx="956944" cy="772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5415" algn="l" rtl="0" eaLnBrk="0">
              <a:lnSpc>
                <a:spcPct val="96000"/>
              </a:lnSpc>
            </a:pP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</a:t>
            </a:r>
            <a:endParaRPr sz="2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1000"/>
              </a:lnSpc>
              <a:spcBef>
                <a:spcPts val="150"/>
              </a:spcBef>
            </a:pP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(Files)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5378398" y="4523607"/>
            <a:ext cx="888364" cy="791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82550" algn="l" rtl="0" eaLnBrk="0">
              <a:lnSpc>
                <a:spcPct val="92000"/>
              </a:lnSpc>
            </a:pP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(App)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8820139" y="5148455"/>
            <a:ext cx="1388744" cy="41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内部网络</a:t>
            </a:r>
            <a:endParaRPr sz="2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 10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DF1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2203447" y="1898636"/>
            <a:ext cx="13017450" cy="4438667"/>
            <a:chOff x="0" y="0"/>
            <a:chExt cx="13017450" cy="4438667"/>
          </a:xfrm>
        </p:grpSpPr>
        <p:pic>
          <p:nvPicPr>
            <p:cNvPr id="106" name="picture 10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3017450" cy="4438667"/>
            </a:xfrm>
            <a:prstGeom prst="rect">
              <a:avLst/>
            </a:prstGeom>
          </p:spPr>
        </p:pic>
        <p:sp>
          <p:nvSpPr>
            <p:cNvPr id="108" name="textbox 108"/>
            <p:cNvSpPr/>
            <p:nvPr/>
          </p:nvSpPr>
          <p:spPr>
            <a:xfrm>
              <a:off x="3181416" y="406744"/>
              <a:ext cx="9183369" cy="38595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669665" algn="l" rtl="0" eaLnBrk="0">
                <a:lnSpc>
                  <a:spcPts val="1950"/>
                </a:lnSpc>
              </a:pPr>
              <a:r>
                <a:rPr sz="1600" kern="0" spc="-5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应用服需器</a:t>
              </a:r>
              <a:r>
                <a:rPr sz="1600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</a:t>
              </a:r>
              <a:r>
                <a:rPr sz="1600" kern="0" spc="-5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应用服务</a:t>
              </a:r>
              <a:r>
                <a:rPr sz="1600" kern="0" spc="-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器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r" rtl="0" eaLnBrk="0">
                <a:lnSpc>
                  <a:spcPct val="81000"/>
                </a:lnSpc>
                <a:spcBef>
                  <a:spcPts val="390"/>
                </a:spcBef>
              </a:pP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(App</a:t>
              </a:r>
              <a:r>
                <a:rPr sz="1600" kern="0" spc="6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Server)</a:t>
              </a:r>
              <a:endParaRPr sz="1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2865" algn="l" rtl="0" eaLnBrk="0">
                <a:lnSpc>
                  <a:spcPct val="85000"/>
                </a:lnSpc>
                <a:spcBef>
                  <a:spcPts val="480"/>
                </a:spcBef>
              </a:pP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负载均衡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marL="170815" algn="l" rtl="0" eaLnBrk="0">
                <a:lnSpc>
                  <a:spcPct val="81000"/>
                </a:lnSpc>
                <a:spcBef>
                  <a:spcPts val="10"/>
                </a:spcBef>
              </a:pP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(Load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67000"/>
                </a:lnSpc>
                <a:spcBef>
                  <a:spcPts val="340"/>
                </a:spcBef>
              </a:pP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Balancer)</a:t>
              </a:r>
              <a:endParaRPr sz="1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695065" algn="l" rtl="0" eaLnBrk="0">
                <a:lnSpc>
                  <a:spcPct val="84000"/>
                </a:lnSpc>
                <a:spcBef>
                  <a:spcPts val="5"/>
                </a:spcBef>
              </a:pP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</a:t>
              </a:r>
              <a:r>
                <a:rPr sz="1400" kern="0" spc="-4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App</a:t>
              </a: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                           </a:t>
              </a: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店用</a:t>
              </a:r>
              <a:r>
                <a:rPr sz="1400" kern="0" spc="-3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App)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771515" algn="l" rtl="0" eaLnBrk="0">
                <a:lnSpc>
                  <a:spcPct val="95000"/>
                </a:lnSpc>
                <a:spcBef>
                  <a:spcPts val="425"/>
                </a:spcBef>
              </a:pPr>
              <a:r>
                <a:rPr sz="1400" kern="0" spc="1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激据虑服务器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5810250" algn="l" rtl="0" eaLnBrk="0">
                <a:lnSpc>
                  <a:spcPct val="81000"/>
                </a:lnSpc>
                <a:spcBef>
                  <a:spcPts val="340"/>
                </a:spcBef>
              </a:pP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(DB</a:t>
              </a:r>
              <a:r>
                <a:rPr sz="1600" kern="0" spc="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Server)</a:t>
              </a:r>
              <a:endParaRPr sz="1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302250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数据库</a:t>
              </a:r>
              <a:r>
                <a:rPr sz="1400" kern="0" spc="-2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(DB)</a:t>
              </a:r>
              <a:r>
                <a:rPr sz="1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文件</a:t>
              </a:r>
              <a:r>
                <a:rPr sz="1400" kern="0" spc="-1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(Files)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0" name="textbox 110"/>
          <p:cNvSpPr/>
          <p:nvPr/>
        </p:nvSpPr>
        <p:spPr>
          <a:xfrm>
            <a:off x="899463" y="6770237"/>
            <a:ext cx="16476980" cy="2903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5700" b="1" kern="0" spc="-50" dirty="0">
                <a:solidFill>
                  <a:srgbClr val="209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收益</a:t>
            </a:r>
            <a:r>
              <a:rPr sz="5700" kern="0" spc="-430" dirty="0">
                <a:solidFill>
                  <a:srgbClr val="209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700" b="1" kern="0" spc="-50" dirty="0">
                <a:solidFill>
                  <a:srgbClr val="209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(The</a:t>
            </a:r>
            <a:r>
              <a:rPr sz="5700" b="1" kern="0" spc="1030" dirty="0">
                <a:solidFill>
                  <a:srgbClr val="209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700" b="1" kern="0" spc="-50" dirty="0">
                <a:solidFill>
                  <a:srgbClr val="209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Payoff)</a:t>
            </a:r>
            <a:endParaRPr sz="5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8105" algn="l" rtl="0" eaLnBrk="0">
              <a:lnSpc>
                <a:spcPct val="92000"/>
              </a:lnSpc>
              <a:spcBef>
                <a:spcPts val="875"/>
              </a:spcBef>
            </a:pPr>
            <a:r>
              <a:rPr sz="2900" kern="0" spc="-50" dirty="0">
                <a:solidFill>
                  <a:srgbClr val="1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2900" kern="0" spc="-50" dirty="0">
                <a:solidFill>
                  <a:srgbClr val="1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高可用：</a:t>
            </a:r>
            <a:r>
              <a:rPr sz="29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负载均</a:t>
            </a:r>
            <a:r>
              <a:rPr sz="29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衡器会做健康检查，单台应用故障，流量自动切换，用户无感知。</a:t>
            </a:r>
            <a:endParaRPr sz="2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8105" algn="l" rtl="0" eaLnBrk="0">
              <a:lnSpc>
                <a:spcPct val="92000"/>
              </a:lnSpc>
              <a:spcBef>
                <a:spcPts val="875"/>
              </a:spcBef>
            </a:pPr>
            <a:r>
              <a:rPr sz="2900" kern="0" spc="-70" dirty="0">
                <a:solidFill>
                  <a:srgbClr val="205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2900" kern="0" spc="-70" dirty="0">
                <a:solidFill>
                  <a:srgbClr val="205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水平扩展：</a:t>
            </a:r>
            <a:r>
              <a:rPr sz="2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流量增加时，只需增加应用服务器即可。扩</a:t>
            </a:r>
            <a:r>
              <a:rPr sz="29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容变得简单。</a:t>
            </a:r>
            <a:endParaRPr sz="2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905693" y="820064"/>
            <a:ext cx="11605259" cy="861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5700" b="1" kern="0" spc="-30" dirty="0">
                <a:solidFill>
                  <a:srgbClr val="206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流量倍增：引入负载均衡与应用集群</a:t>
            </a:r>
            <a:endParaRPr sz="5700" dirty="0">
              <a:latin typeface="SimHei"/>
              <a:ea typeface="SimHei"/>
              <a:cs typeface="SimHei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13464872" y="2315154"/>
            <a:ext cx="994410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6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应用服务器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13493708" y="3683634"/>
            <a:ext cx="862330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应同</a:t>
            </a:r>
            <a:r>
              <a:rPr sz="14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(App)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 11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CF1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1168391" y="1981249"/>
            <a:ext cx="6394525" cy="4171906"/>
            <a:chOff x="0" y="0"/>
            <a:chExt cx="6394525" cy="4171906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394525" cy="4171906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3886191" y="346336"/>
              <a:ext cx="1781175" cy="3761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7000"/>
                </a:lnSpc>
              </a:pPr>
              <a:r>
                <a:rPr sz="2300" kern="0" spc="1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应用服务器</a:t>
              </a:r>
              <a:r>
                <a:rPr sz="2300" kern="0" spc="1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sz="2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7000"/>
                </a:lnSpc>
                <a:spcBef>
                  <a:spcPts val="700"/>
                </a:spcBef>
              </a:pPr>
              <a:r>
                <a:rPr sz="23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应用服务器</a:t>
              </a:r>
              <a:r>
                <a:rPr sz="2300" kern="0" spc="-5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23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sz="2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79450" algn="l" rtl="0" eaLnBrk="0">
                <a:lnSpc>
                  <a:spcPts val="6295"/>
                </a:lnSpc>
              </a:pPr>
              <a:r>
                <a:rPr sz="4900" kern="0" spc="-10" dirty="0">
                  <a:solidFill>
                    <a:srgbClr val="E0A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?</a:t>
              </a:r>
              <a:endParaRPr sz="4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24" name="textbox 124"/>
          <p:cNvSpPr/>
          <p:nvPr/>
        </p:nvSpPr>
        <p:spPr>
          <a:xfrm>
            <a:off x="9537670" y="2134237"/>
            <a:ext cx="6831330" cy="3037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1000"/>
              </a:lnSpc>
            </a:pPr>
            <a:r>
              <a:rPr sz="3600" b="1" kern="0" spc="-150" dirty="0">
                <a:solidFill>
                  <a:srgbClr val="205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解决思路</a:t>
            </a:r>
            <a:r>
              <a:rPr sz="3600" kern="0" spc="-320" dirty="0">
                <a:solidFill>
                  <a:srgbClr val="205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600" b="1" kern="0" spc="-150" dirty="0">
                <a:solidFill>
                  <a:srgbClr val="2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(The Solutions)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810" algn="l" rtl="0" eaLnBrk="0">
              <a:lnSpc>
                <a:spcPct val="104000"/>
              </a:lnSpc>
              <a:spcBef>
                <a:spcPts val="695"/>
              </a:spcBef>
            </a:pP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会话-&gt;共享存储：</a:t>
            </a: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</a:t>
            </a:r>
            <a:r>
              <a:rPr sz="2300" b="1" kern="0" spc="-70" dirty="0">
                <a:solidFill>
                  <a:srgbClr val="206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“无</a:t>
            </a:r>
            <a:r>
              <a:rPr sz="2300" b="1" kern="0" spc="-80" dirty="0">
                <a:solidFill>
                  <a:srgbClr val="206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状态化”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或</a:t>
            </a:r>
            <a:r>
              <a:rPr sz="2300" b="1" kern="0" spc="-80" dirty="0">
                <a:solidFill>
                  <a:srgbClr val="3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“共享会话”,</a:t>
            </a:r>
            <a:r>
              <a:rPr sz="2300" kern="0" spc="0" dirty="0">
                <a:solidFill>
                  <a:srgbClr val="306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将状态集中存放到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Redis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等外部服务。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108000"/>
              </a:lnSpc>
              <a:spcBef>
                <a:spcPts val="5"/>
              </a:spcBef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文件-&gt;共享存储：</a:t>
            </a:r>
            <a:r>
              <a:rPr sz="23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文件上传到共享存储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，如</a:t>
            </a:r>
            <a:r>
              <a:rPr sz="2300" kern="0" spc="70" dirty="0">
                <a:solidFill>
                  <a:srgbClr val="2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对象存</a:t>
            </a:r>
            <a:r>
              <a:rPr sz="2300" kern="0" spc="0" dirty="0">
                <a:solidFill>
                  <a:srgbClr val="2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b="1" kern="0" spc="-5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储</a:t>
            </a:r>
            <a:r>
              <a:rPr sz="2500" kern="0" spc="-5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(OSS/S3</a:t>
            </a: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),    </a:t>
            </a: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杜绝依赖应用本地磁盘。</a:t>
            </a:r>
            <a:endParaRPr sz="2500" dirty="0">
              <a:latin typeface="SimHei"/>
              <a:ea typeface="SimHei"/>
              <a:cs typeface="SimHei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914359" y="6737387"/>
            <a:ext cx="7134225" cy="2268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7815" indent="-285115" algn="l" rtl="0" eaLnBrk="0">
              <a:lnSpc>
                <a:spcPct val="110000"/>
              </a:lnSpc>
            </a:pP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3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会话一致性：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用户第一次请求打到应用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300" kern="0" spc="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第二次打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到应用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B,</a:t>
            </a:r>
            <a:r>
              <a:rPr sz="23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登录状态丢失导致反复掉线。怎么办?</a:t>
            </a:r>
            <a:endParaRPr sz="2300" dirty="0">
              <a:latin typeface="SimHei"/>
              <a:ea typeface="SimHei"/>
              <a:cs typeface="SimHei"/>
            </a:endParaRPr>
          </a:p>
          <a:p>
            <a:pPr marL="297815" indent="-285115" algn="l" rtl="0" eaLnBrk="0">
              <a:lnSpc>
                <a:spcPct val="106000"/>
              </a:lnSpc>
              <a:spcBef>
                <a:spcPts val="1945"/>
              </a:spcBef>
            </a:pP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500" kern="0" spc="-4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文件共享：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用户上传的文件，如果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只存在某一台应用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的本地磁盘，换一台服务器访问就找不到了。怎么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7815" algn="l" rtl="0" eaLnBrk="0">
              <a:lnSpc>
                <a:spcPct val="97000"/>
              </a:lnSpc>
            </a:pP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办?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776802" y="614422"/>
            <a:ext cx="8652509" cy="709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4700" b="1" kern="0" spc="-4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集群之后：状态和文件去哪儿了?</a:t>
            </a:r>
            <a:endParaRPr sz="4700" dirty="0">
              <a:latin typeface="SimHei"/>
              <a:ea typeface="SimHei"/>
              <a:cs typeface="SimHe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1479507" y="4826425"/>
            <a:ext cx="626744" cy="370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 13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DF1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group 8"/>
          <p:cNvGrpSpPr/>
          <p:nvPr/>
        </p:nvGrpSpPr>
        <p:grpSpPr>
          <a:xfrm rot="21600000">
            <a:off x="1193730" y="2165396"/>
            <a:ext cx="15049642" cy="4368735"/>
            <a:chOff x="0" y="0"/>
            <a:chExt cx="15049642" cy="4368735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5049642" cy="4368735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4222764" y="399384"/>
              <a:ext cx="10638790" cy="39198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65065" algn="l" rtl="0" eaLnBrk="0">
                <a:lnSpc>
                  <a:spcPct val="82000"/>
                </a:lnSpc>
              </a:pPr>
              <a:r>
                <a:rPr sz="2000" b="1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 </a:t>
              </a:r>
              <a:r>
                <a:rPr sz="2000" b="1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缓存未命中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1136650" algn="l" rtl="0" eaLnBrk="0">
                <a:lnSpc>
                  <a:spcPct val="93000"/>
                </a:lnSpc>
                <a:spcBef>
                  <a:spcPts val="15"/>
                </a:spcBef>
              </a:pPr>
              <a:r>
                <a:rPr sz="2000" kern="0" spc="1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508625" algn="l" rtl="0" eaLnBrk="0">
                <a:lnSpc>
                  <a:spcPct val="96000"/>
                </a:lnSpc>
                <a:spcBef>
                  <a:spcPts val="610"/>
                </a:spcBef>
              </a:pP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缓存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4883150" algn="l" rtl="0" eaLnBrk="0">
                <a:lnSpc>
                  <a:spcPts val="2860"/>
                </a:lnSpc>
                <a:spcBef>
                  <a:spcPts val="225"/>
                </a:spcBef>
              </a:pPr>
              <a:r>
                <a:rPr sz="3400" kern="0" spc="10" baseline="150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3400" kern="0" spc="0" baseline="150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Cache</a:t>
              </a:r>
              <a:r>
                <a:rPr sz="3400" kern="0" spc="10" baseline="150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/</a:t>
              </a:r>
              <a:r>
                <a:rPr sz="3400" kern="0" spc="0" baseline="150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Redis</a:t>
              </a:r>
              <a:r>
                <a:rPr sz="3400" kern="0" spc="10" baseline="150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r>
                <a:rPr sz="2200" kern="0" spc="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</a:t>
              </a:r>
              <a:r>
                <a:rPr sz="3000" b="1" kern="0" spc="10" baseline="-13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3.</a:t>
              </a:r>
              <a:r>
                <a:rPr sz="1900" b="1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b="1" kern="0" spc="10" baseline="-130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回墙缓存</a:t>
              </a:r>
              <a:endParaRPr sz="3000" baseline="-13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95000"/>
                </a:lnSpc>
                <a:spcBef>
                  <a:spcPts val="610"/>
                </a:spcBef>
              </a:pPr>
              <a:r>
                <a:rPr sz="2000" b="1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数据库服务器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9194800" algn="l" rtl="0" eaLnBrk="0">
                <a:lnSpc>
                  <a:spcPct val="81000"/>
                </a:lnSpc>
                <a:spcBef>
                  <a:spcPts val="335"/>
                </a:spcBef>
              </a:pPr>
              <a:r>
                <a:rPr sz="2000" b="1" kern="0" spc="-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(DB Server)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66700" algn="l" rtl="0" eaLnBrk="0">
                <a:lnSpc>
                  <a:spcPct val="95000"/>
                </a:lnSpc>
                <a:spcBef>
                  <a:spcPts val="605"/>
                </a:spcBef>
              </a:pPr>
              <a:r>
                <a:rPr sz="20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应用服务器集群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81000"/>
                </a:lnSpc>
                <a:spcBef>
                  <a:spcPts val="410"/>
                </a:spcBef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(App Server</a:t>
              </a: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Clust</a:t>
              </a: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er)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0" name="textbox 140"/>
          <p:cNvSpPr/>
          <p:nvPr/>
        </p:nvSpPr>
        <p:spPr>
          <a:xfrm>
            <a:off x="908068" y="6918839"/>
            <a:ext cx="7381240" cy="2036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3000"/>
              </a:lnSpc>
            </a:pPr>
            <a:r>
              <a:rPr sz="3200" b="1" kern="0" spc="-10" dirty="0">
                <a:solidFill>
                  <a:srgbClr val="209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收益</a:t>
            </a:r>
            <a:r>
              <a:rPr sz="3200" kern="0" spc="-10" dirty="0">
                <a:solidFill>
                  <a:srgbClr val="209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200" b="1" kern="0" spc="-10" dirty="0">
                <a:solidFill>
                  <a:srgbClr val="209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(The</a:t>
            </a:r>
            <a:r>
              <a:rPr sz="3200" b="1" kern="0" spc="670" dirty="0">
                <a:solidFill>
                  <a:srgbClr val="209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200" b="1" kern="0" spc="-10" dirty="0">
                <a:solidFill>
                  <a:srgbClr val="209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</a:t>
            </a:r>
            <a:r>
              <a:rPr sz="3200" b="1" kern="0" spc="-20" dirty="0">
                <a:solidFill>
                  <a:srgbClr val="209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off)</a:t>
            </a:r>
            <a:endParaRPr sz="3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665"/>
              </a:spcBef>
            </a:pP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·大幅降低数据库读取压力</a:t>
            </a: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，尤其是“读多写少”的场景。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9250" indent="-336550" algn="l" rtl="0" eaLnBrk="0">
              <a:lnSpc>
                <a:spcPct val="115000"/>
              </a:lnSpc>
            </a:pP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200" kern="0" spc="-8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显著提升高频读取场景(如商品详情、文章内容)的响应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速度。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9048715" y="6974709"/>
            <a:ext cx="7370444" cy="1896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Concept</a:t>
            </a:r>
            <a:endParaRPr sz="3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665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200" kern="0" spc="-9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同时，数据库自身也可以通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过“读写分离”(主库写，从库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340360" algn="l" rtl="0" eaLnBrk="0">
              <a:lnSpc>
                <a:spcPct val="94000"/>
              </a:lnSpc>
              <a:spcBef>
                <a:spcPts val="985"/>
              </a:spcBef>
            </a:pPr>
            <a:r>
              <a:rPr sz="22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读)来增强读取能力，但这会引入数据同步延迟的复杂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5915" algn="l" rtl="0" eaLnBrk="0">
              <a:lnSpc>
                <a:spcPts val="2565"/>
              </a:lnSpc>
              <a:spcBef>
                <a:spcPts val="5"/>
              </a:spcBef>
            </a:pPr>
            <a:r>
              <a:rPr sz="21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度。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916694" y="589171"/>
            <a:ext cx="8576944" cy="716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7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性能瓶颈：为数据库添加缓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存层</a:t>
            </a:r>
            <a:endParaRPr sz="4700" dirty="0">
              <a:latin typeface="SimHei"/>
              <a:ea typeface="SimHei"/>
              <a:cs typeface="Sim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1492264" y="4608509"/>
            <a:ext cx="2768600" cy="329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负载均衡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2800282" y="4953467"/>
            <a:ext cx="1861185" cy="274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(Load</a:t>
            </a:r>
            <a:r>
              <a:rPr sz="2000" b="1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Balancer)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8077269" y="3626052"/>
            <a:ext cx="1083944" cy="297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读请求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6540499" y="3897364"/>
            <a:ext cx="569594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6540499" y="4964212"/>
            <a:ext cx="569594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</a:t>
            </a:r>
            <a:endParaRPr sz="20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 15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DF1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1200196" y="1885956"/>
            <a:ext cx="15074806" cy="4641835"/>
            <a:chOff x="0" y="0"/>
            <a:chExt cx="15074806" cy="4641835"/>
          </a:xfrm>
        </p:grpSpPr>
        <p:pic>
          <p:nvPicPr>
            <p:cNvPr id="160" name="picture 16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5074806" cy="4641835"/>
            </a:xfrm>
            <a:prstGeom prst="rect">
              <a:avLst/>
            </a:prstGeom>
          </p:spPr>
        </p:pic>
        <p:sp>
          <p:nvSpPr>
            <p:cNvPr id="162" name="textbox 162"/>
            <p:cNvSpPr/>
            <p:nvPr/>
          </p:nvSpPr>
          <p:spPr>
            <a:xfrm>
              <a:off x="298358" y="224290"/>
              <a:ext cx="10197465" cy="43745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74015" algn="l" rtl="0" eaLnBrk="0">
                <a:lnSpc>
                  <a:spcPct val="95000"/>
                </a:lnSpc>
              </a:pPr>
              <a:r>
                <a:rPr sz="20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静态资源请求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501650" algn="l" rtl="0" eaLnBrk="0">
                <a:lnSpc>
                  <a:spcPct val="82000"/>
                </a:lnSpc>
                <a:spcBef>
                  <a:spcPts val="1175"/>
                </a:spcBef>
              </a:pPr>
              <a:r>
                <a:rPr sz="2000" kern="0" spc="-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(图片，</a:t>
              </a:r>
              <a:r>
                <a:rPr sz="2000" kern="0" spc="-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JS,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81050" algn="l" rtl="0" eaLnBrk="0">
                <a:lnSpc>
                  <a:spcPts val="2450"/>
                </a:lnSpc>
              </a:pPr>
              <a:r>
                <a:rPr sz="3000" kern="0" spc="0" baseline="1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CSS</a:t>
              </a:r>
              <a:r>
                <a:rPr sz="3000" kern="0" spc="50" baseline="1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r>
                <a:rPr sz="19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                                       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000" kern="0" spc="50" baseline="120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</a:t>
              </a:r>
              <a:endParaRPr sz="3000" baseline="12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054600" algn="l" rtl="0" eaLnBrk="0">
                <a:lnSpc>
                  <a:spcPct val="96000"/>
                </a:lnSpc>
                <a:spcBef>
                  <a:spcPts val="605"/>
                </a:spcBef>
              </a:pPr>
              <a:r>
                <a:rPr sz="2000" kern="0" spc="1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600"/>
                </a:spcBef>
              </a:pPr>
              <a:r>
                <a:rPr sz="20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用户</a:t>
              </a:r>
              <a:r>
                <a:rPr sz="20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</a:t>
              </a:r>
              <a:r>
                <a:rPr sz="20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负载均衡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1313815" algn="l" rtl="0" eaLnBrk="0">
                <a:lnSpc>
                  <a:spcPct val="89000"/>
                </a:lnSpc>
                <a:spcBef>
                  <a:spcPts val="330"/>
                </a:spcBef>
              </a:pP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Load</a:t>
              </a:r>
              <a:r>
                <a:rPr sz="2000" kern="0" spc="4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Balancer</a:t>
              </a: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             </a:t>
              </a:r>
              <a:r>
                <a:rPr sz="3000" kern="0" spc="10" baseline="-90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</a:t>
              </a:r>
              <a:endParaRPr sz="3000" baseline="-9000" dirty="0">
                <a:latin typeface="SimHei"/>
                <a:ea typeface="SimHei"/>
                <a:cs typeface="SimHei"/>
              </a:endParaRPr>
            </a:p>
            <a:p>
              <a:pPr algn="r" rtl="0" eaLnBrk="0">
                <a:lnSpc>
                  <a:spcPct val="76000"/>
                </a:lnSpc>
                <a:spcBef>
                  <a:spcPts val="5"/>
                </a:spcBef>
              </a:pPr>
              <a:r>
                <a:rPr sz="2000" b="1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文件上传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2209800" algn="l" rtl="0" eaLnBrk="0">
                <a:lnSpc>
                  <a:spcPct val="87000"/>
                </a:lnSpc>
                <a:spcBef>
                  <a:spcPts val="10"/>
                </a:spcBef>
              </a:pPr>
              <a:r>
                <a:rPr sz="20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动态数据请求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4181475" algn="l" rtl="0" eaLnBrk="0">
                <a:lnSpc>
                  <a:spcPct val="95000"/>
                </a:lnSpc>
                <a:spcBef>
                  <a:spcPts val="1125"/>
                </a:spcBef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应用服考器集群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3930015" algn="l" rtl="0" eaLnBrk="0">
                <a:lnSpc>
                  <a:spcPct val="81000"/>
                </a:lnSpc>
                <a:spcBef>
                  <a:spcPts val="435"/>
                </a:spcBef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(App Server</a:t>
              </a: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Clust</a:t>
              </a: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er)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4" name="textbox 164"/>
          <p:cNvSpPr/>
          <p:nvPr/>
        </p:nvSpPr>
        <p:spPr>
          <a:xfrm>
            <a:off x="908068" y="6918397"/>
            <a:ext cx="9535794" cy="2038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1000"/>
              </a:lnSpc>
            </a:pPr>
            <a:r>
              <a:rPr sz="3300" b="1" kern="0" spc="-50" dirty="0">
                <a:solidFill>
                  <a:srgbClr val="208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收益</a:t>
            </a:r>
            <a:r>
              <a:rPr sz="3300" kern="0" spc="-50" dirty="0">
                <a:solidFill>
                  <a:srgbClr val="208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300" b="1" kern="0" spc="-50" dirty="0">
                <a:solidFill>
                  <a:srgbClr val="208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(The</a:t>
            </a:r>
            <a:r>
              <a:rPr sz="3300" b="1" kern="0" spc="230" dirty="0">
                <a:solidFill>
                  <a:srgbClr val="208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300" b="1" kern="0" spc="-50" dirty="0">
                <a:solidFill>
                  <a:srgbClr val="208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Payoff)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7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630"/>
              </a:spcBef>
            </a:pPr>
            <a:r>
              <a:rPr sz="2100" kern="0" spc="-20" dirty="0">
                <a:solidFill>
                  <a:srgbClr val="30A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100" kern="0" spc="380" dirty="0">
                <a:solidFill>
                  <a:srgbClr val="30A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-20" dirty="0">
                <a:solidFill>
                  <a:srgbClr val="30A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更快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CDN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将内容缓存</a:t>
            </a: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到离用户更近的边缘节点，用户就近访问。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2425" indent="-340360" algn="l" rtl="0" eaLnBrk="0">
              <a:lnSpc>
                <a:spcPct val="110000"/>
              </a:lnSpc>
            </a:pPr>
            <a:r>
              <a:rPr sz="2100" kern="0" spc="0" dirty="0">
                <a:solidFill>
                  <a:srgbClr val="30A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100" kern="0" spc="380" dirty="0">
                <a:solidFill>
                  <a:srgbClr val="30A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0" dirty="0">
                <a:solidFill>
                  <a:srgbClr val="30A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更省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释放源站服务器的带宽和磁盘压力。当带宽成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为瓶颈时，此方案尤为重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916785" y="549107"/>
            <a:ext cx="12078334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sz="4800" b="1" kern="0" spc="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资源优化：静态内容上</a:t>
            </a:r>
            <a:r>
              <a:rPr sz="4800" b="1" kern="0" spc="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云(对象存储&amp;</a:t>
            </a:r>
            <a:r>
              <a:rPr sz="4800" kern="0" spc="-8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CDN</a:t>
            </a:r>
            <a:r>
              <a:rPr sz="4800" b="1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4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4319236" y="4717498"/>
            <a:ext cx="1898650" cy="611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5925" algn="l" rtl="0" eaLnBrk="0">
              <a:lnSpc>
                <a:spcPct val="96000"/>
              </a:lnSpc>
            </a:pP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对象存储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1000"/>
              </a:lnSpc>
              <a:spcBef>
                <a:spcPts val="370"/>
              </a:spcBef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(Object Storage)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9017085" y="3733664"/>
            <a:ext cx="1753870" cy="624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38810" algn="l" rtl="0" eaLnBrk="0">
              <a:lnSpc>
                <a:spcPct val="98000"/>
              </a:lnSpc>
            </a:pP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缓存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3000"/>
              </a:lnSpc>
              <a:spcBef>
                <a:spcPts val="155"/>
              </a:spcBef>
            </a:pP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Cache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Redis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12030471" y="4716482"/>
            <a:ext cx="1579880" cy="671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数据库服务器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21590" algn="l" rtl="0" eaLnBrk="0">
              <a:lnSpc>
                <a:spcPct val="92000"/>
              </a:lnSpc>
              <a:spcBef>
                <a:spcPts val="250"/>
              </a:spcBef>
            </a:pPr>
            <a:r>
              <a:rPr sz="23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(DB Server)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3670373" y="3041627"/>
            <a:ext cx="563244" cy="274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CDN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12725321" y="3000676"/>
            <a:ext cx="3929379" cy="5233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用户请求域名，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DNS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解析。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30200" algn="l" rtl="0" eaLnBrk="0">
              <a:lnSpc>
                <a:spcPct val="107000"/>
              </a:lnSpc>
              <a:spcBef>
                <a:spcPts val="660"/>
              </a:spcBef>
            </a:pP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CDN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命中并响应静态资源(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图片，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CSS</a:t>
            </a:r>
            <a:r>
              <a:rPr sz="2200" kern="0" spc="-3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、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JS)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。</a:t>
            </a:r>
            <a:endParaRPr sz="2200" dirty="0">
              <a:latin typeface="宋体"/>
              <a:ea typeface="宋体"/>
              <a:cs typeface="宋体"/>
            </a:endParaRPr>
          </a:p>
          <a:p>
            <a:pPr algn="r" rtl="0" eaLnBrk="0">
              <a:lnSpc>
                <a:spcPts val="3065"/>
              </a:lnSpc>
              <a:spcBef>
                <a:spcPts val="1675"/>
              </a:spcBef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动态请求到达负载均衡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(LB)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。</a:t>
            </a:r>
            <a:endParaRPr sz="2200" dirty="0">
              <a:latin typeface="宋体"/>
              <a:ea typeface="宋体"/>
              <a:cs typeface="宋体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30200" algn="l" rtl="0" eaLnBrk="0">
              <a:lnSpc>
                <a:spcPct val="105000"/>
              </a:lnSpc>
              <a:spcBef>
                <a:spcPts val="665"/>
              </a:spcBef>
            </a:pP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LB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将请求转发至应用服务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器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集群。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065"/>
              </a:lnSpc>
              <a:spcBef>
                <a:spcPts val="1525"/>
              </a:spcBef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应用服务器查询缓存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342900" indent="43815" algn="l" rtl="0" eaLnBrk="0">
              <a:lnSpc>
                <a:spcPct val="112000"/>
              </a:lnSpc>
              <a:spcBef>
                <a:spcPts val="255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(Cache)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。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若未命中，则查询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数据库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DB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),  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并将结果回填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缓存。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065"/>
              </a:lnSpc>
            </a:pP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6.</a:t>
            </a:r>
            <a:r>
              <a:rPr sz="22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数据逐层返回给用户。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1574747" y="3567134"/>
            <a:ext cx="4479925" cy="2618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44700" algn="l" rtl="0" eaLnBrk="0">
              <a:lnSpc>
                <a:spcPct val="83000"/>
              </a:lnSpc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CDN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20"/>
              </a:lnSpc>
              <a:spcBef>
                <a:spcPts val="595"/>
              </a:spcBef>
            </a:pPr>
            <a:r>
              <a:rPr sz="3000" kern="0" spc="-10" baseline="-17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</a:t>
            </a:r>
            <a:r>
              <a:rPr sz="3000" kern="0" spc="-10" baseline="15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负载均衡</a:t>
            </a:r>
            <a:endParaRPr sz="3000" baseline="150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75000"/>
              </a:lnSpc>
              <a:spcBef>
                <a:spcPts val="1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(Load</a:t>
            </a:r>
            <a:r>
              <a:rPr sz="1900" kern="0" spc="4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Balancer)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10140914" y="3608590"/>
            <a:ext cx="1895475" cy="528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1515" algn="l" rtl="0" eaLnBrk="0">
              <a:lnSpc>
                <a:spcPct val="98000"/>
              </a:lnSpc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缪存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50165" algn="l" rtl="0" eaLnBrk="0">
              <a:lnSpc>
                <a:spcPct val="84000"/>
              </a:lnSpc>
              <a:spcBef>
                <a:spcPts val="250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Cache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Redis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2565" algn="l" rtl="0" eaLnBrk="0">
              <a:lnSpc>
                <a:spcPct val="98000"/>
              </a:lnSpc>
              <a:spcBef>
                <a:spcPts val="575"/>
              </a:spcBef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数据库服务器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285750" algn="l" rtl="0" eaLnBrk="0">
              <a:lnSpc>
                <a:spcPct val="84000"/>
              </a:lnSpc>
              <a:spcBef>
                <a:spcPts val="300"/>
              </a:spcBef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DB</a:t>
            </a:r>
            <a:r>
              <a:rPr sz="19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Server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0215" algn="l" rtl="0" eaLnBrk="0">
              <a:lnSpc>
                <a:spcPct val="98000"/>
              </a:lnSpc>
              <a:spcBef>
                <a:spcPts val="575"/>
              </a:spcBef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对象存储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4000"/>
              </a:lnSpc>
              <a:spcBef>
                <a:spcPts val="48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Storage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6902411" y="3960590"/>
            <a:ext cx="2327275" cy="333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31900" algn="l" rtl="0" eaLnBrk="0">
              <a:lnSpc>
                <a:spcPct val="99000"/>
              </a:lnSpc>
            </a:pPr>
            <a:r>
              <a:rPr sz="19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31900" algn="l" rtl="0" eaLnBrk="0">
              <a:lnSpc>
                <a:spcPct val="99000"/>
              </a:lnSpc>
              <a:spcBef>
                <a:spcPts val="580"/>
              </a:spcBef>
            </a:pP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31900" algn="l" rtl="0" eaLnBrk="0">
              <a:lnSpc>
                <a:spcPct val="99000"/>
              </a:lnSpc>
              <a:spcBef>
                <a:spcPts val="575"/>
              </a:spcBef>
            </a:pP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0" algn="l" rtl="0" eaLnBrk="0">
              <a:lnSpc>
                <a:spcPct val="98000"/>
              </a:lnSpc>
              <a:spcBef>
                <a:spcPts val="575"/>
              </a:spcBef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应用服务器集群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4000"/>
              </a:lnSpc>
              <a:spcBef>
                <a:spcPts val="450"/>
              </a:spcBef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</a:t>
            </a:r>
            <a:r>
              <a:rPr sz="1900" kern="0" spc="3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Server</a:t>
            </a:r>
            <a:r>
              <a:rPr sz="19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Cluster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1278566" y="1210871"/>
            <a:ext cx="10203180" cy="690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47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架构全景图：我们的系统，现在长这样</a:t>
            </a:r>
            <a:endParaRPr sz="4700" dirty="0">
              <a:latin typeface="SimHei"/>
              <a:ea typeface="SimHei"/>
              <a:cs typeface="SimH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 19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DF1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7194539" y="2762219"/>
            <a:ext cx="9055122" cy="4832421"/>
            <a:chOff x="0" y="0"/>
            <a:chExt cx="9055122" cy="4832421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9055122" cy="4832421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-12700" y="-12700"/>
              <a:ext cx="9081134" cy="48634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64150" algn="l" rtl="0" eaLnBrk="0">
                <a:lnSpc>
                  <a:spcPct val="95000"/>
                </a:lnSpc>
                <a:spcBef>
                  <a:spcPts val="0"/>
                </a:spcBef>
              </a:pP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用户服务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5264150" algn="l" rtl="0" eaLnBrk="0">
                <a:lnSpc>
                  <a:spcPct val="81000"/>
                </a:lnSpc>
                <a:spcBef>
                  <a:spcPts val="275"/>
                </a:spcBef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(Roboto</a:t>
              </a:r>
              <a:r>
                <a:rPr sz="1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Mono)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64150" algn="l" rtl="0" eaLnBrk="0">
                <a:lnSpc>
                  <a:spcPct val="98000"/>
                </a:lnSpc>
                <a:spcBef>
                  <a:spcPts val="605"/>
                </a:spcBef>
              </a:pP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订单服务</a:t>
              </a: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支付服务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5264150" algn="l" rtl="0" eaLnBrk="0">
                <a:lnSpc>
                  <a:spcPct val="84000"/>
                </a:lnSpc>
                <a:spcBef>
                  <a:spcPts val="125"/>
                </a:spcBef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(Roboto</a:t>
              </a:r>
              <a:r>
                <a:rPr sz="1400" kern="0" spc="2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Mono)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          (Credit</a:t>
              </a:r>
              <a:r>
                <a:rPr sz="14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Cardes)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65400" algn="l" rtl="0" eaLnBrk="0">
                <a:lnSpc>
                  <a:spcPct val="80000"/>
                </a:lnSpc>
                <a:spcBef>
                  <a:spcPts val="600"/>
                </a:spcBef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API</a:t>
              </a:r>
              <a:r>
                <a:rPr sz="2000" kern="0" spc="-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网关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2362200" algn="l" rtl="0" eaLnBrk="0">
                <a:lnSpc>
                  <a:spcPct val="99000"/>
                </a:lnSpc>
                <a:spcBef>
                  <a:spcPts val="25"/>
                </a:spcBef>
              </a:pP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API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Gateway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           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</a:t>
              </a:r>
              <a:r>
                <a:rPr sz="3000" kern="0" spc="0" baseline="50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商品服务</a:t>
              </a:r>
              <a:endParaRPr sz="3000" baseline="5000" dirty="0">
                <a:latin typeface="SimHei"/>
                <a:ea typeface="SimHei"/>
                <a:cs typeface="SimHei"/>
              </a:endParaRPr>
            </a:p>
            <a:p>
              <a:pPr marL="5264150" algn="l" rtl="0" eaLnBrk="0">
                <a:lnSpc>
                  <a:spcPct val="81000"/>
                </a:lnSpc>
                <a:spcBef>
                  <a:spcPts val="170"/>
                </a:spcBef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(Roboto</a:t>
              </a:r>
              <a:r>
                <a:rPr sz="1400" kern="0" spc="2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Mono)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64150" algn="l" rtl="0" eaLnBrk="0">
                <a:lnSpc>
                  <a:spcPct val="95000"/>
                </a:lnSpc>
                <a:spcBef>
                  <a:spcPts val="600"/>
                </a:spcBef>
              </a:pP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库存服务</a:t>
              </a:r>
              <a:endParaRPr sz="2000" dirty="0">
                <a:latin typeface="SimHei"/>
                <a:ea typeface="SimHei"/>
                <a:cs typeface="SimHei"/>
              </a:endParaRPr>
            </a:p>
            <a:p>
              <a:pPr marL="5264150" algn="l" rtl="0" eaLnBrk="0">
                <a:lnSpc>
                  <a:spcPct val="81000"/>
                </a:lnSpc>
                <a:spcBef>
                  <a:spcPts val="225"/>
                </a:spcBef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(Roboto</a:t>
              </a:r>
              <a:r>
                <a:rPr sz="1400" kern="0" spc="3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Mono)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98" name="textbox 198"/>
          <p:cNvSpPr/>
          <p:nvPr/>
        </p:nvSpPr>
        <p:spPr>
          <a:xfrm>
            <a:off x="705210" y="561457"/>
            <a:ext cx="15868014" cy="1925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3800" b="1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未来展望：当单体应用大到</a:t>
            </a:r>
            <a:r>
              <a:rPr sz="3800" b="1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“拆”以为敬</a:t>
            </a:r>
            <a:endParaRPr sz="3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  <a:spcBef>
                <a:spcPts val="810"/>
              </a:spcBef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拆分服务的核心动机是“可维护性”与“团队协作效率”,而非性能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。当一个应用里什么都有，全写在一</a:t>
            </a:r>
            <a:endParaRPr sz="2700" dirty="0">
              <a:latin typeface="SimHei"/>
              <a:ea typeface="SimHei"/>
              <a:cs typeface="SimHei"/>
            </a:endParaRPr>
          </a:p>
          <a:p>
            <a:pPr marL="43815" algn="l" rtl="0" eaLnBrk="0">
              <a:lnSpc>
                <a:spcPts val="4015"/>
              </a:lnSpc>
            </a:pP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起会很难改、很难测、很难发版。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46114" y="2800356"/>
            <a:ext cx="5588044" cy="4787847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920825" y="8257886"/>
            <a:ext cx="16441419" cy="141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Trade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2700" b="1" kern="0" spc="3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获得了敏捷性，但引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入了分布式系统的复杂度(</a:t>
            </a:r>
            <a:r>
              <a:rPr sz="2700" kern="0" spc="30" dirty="0">
                <a:solidFill>
                  <a:srgbClr val="206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服务治理、链路追踪、集中监控)。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 20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CF0F4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06" name="table 206"/>
          <p:cNvGraphicFramePr>
            <a:graphicFrameLocks noGrp="1"/>
          </p:cNvGraphicFramePr>
          <p:nvPr/>
        </p:nvGraphicFramePr>
        <p:xfrm>
          <a:off x="727113" y="1616117"/>
          <a:ext cx="15995015" cy="6355714"/>
        </p:xfrm>
        <a:graphic>
          <a:graphicData uri="http://schemas.openxmlformats.org/drawingml/2006/table">
            <a:tbl>
              <a:tblPr/>
              <a:tblGrid>
                <a:gridCol w="5446395"/>
                <a:gridCol w="2550795"/>
                <a:gridCol w="5570854"/>
                <a:gridCol w="2426970"/>
              </a:tblGrid>
              <a:tr h="32410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7390" algn="l" rtl="0" eaLnBrk="0">
                        <a:lnSpc>
                          <a:spcPct val="97000"/>
                        </a:lnSpc>
                      </a:pPr>
                      <a:r>
                        <a:rPr sz="3200" b="1" kern="0" spc="21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性能(</a:t>
                      </a:r>
                      <a:r>
                        <a:rPr sz="3200" b="1" kern="0" spc="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Performance</a:t>
                      </a:r>
                      <a:r>
                        <a:rPr sz="3200" b="1" kern="0" spc="21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)</a:t>
                      </a:r>
                      <a:endParaRPr sz="3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739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32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访问快不快?</a:t>
                      </a:r>
                      <a:endParaRPr sz="3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770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3200" b="1" kern="0" spc="17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扩展性(</a:t>
                      </a:r>
                      <a:r>
                        <a:rPr sz="3200" b="1" kern="0" spc="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Scalability</a:t>
                      </a:r>
                      <a:r>
                        <a:rPr sz="3200" b="1" kern="0" spc="17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)</a:t>
                      </a:r>
                      <a:endParaRPr sz="3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135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3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能不能扩?</a:t>
                      </a:r>
                      <a:endParaRPr sz="3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914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3200" b="1" kern="0" spc="19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成本(</a:t>
                      </a:r>
                      <a:r>
                        <a:rPr sz="3200" b="1" kern="0" spc="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Cost</a:t>
                      </a:r>
                      <a:r>
                        <a:rPr sz="3200" b="1" kern="0" spc="19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)</a:t>
                      </a:r>
                      <a:endParaRPr sz="3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9140" algn="l" rtl="0" eaLnBrk="0">
                        <a:lnSpc>
                          <a:spcPct val="97000"/>
                        </a:lnSpc>
                      </a:pPr>
                      <a:r>
                        <a:rPr sz="32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方案贵不贵?</a:t>
                      </a:r>
                      <a:endParaRPr sz="3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13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3200" b="1" kern="0" spc="17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稳定性(</a:t>
                      </a:r>
                      <a:r>
                        <a:rPr sz="3200" b="1" kern="0" spc="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Stability</a:t>
                      </a:r>
                      <a:r>
                        <a:rPr sz="3200" b="1" kern="0" spc="17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)</a:t>
                      </a:r>
                      <a:endParaRPr sz="3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00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3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系统稳不稳?</a:t>
                      </a:r>
                      <a:endParaRPr sz="3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8" name="textbox 208"/>
          <p:cNvSpPr/>
          <p:nvPr/>
        </p:nvSpPr>
        <p:spPr>
          <a:xfrm>
            <a:off x="901576" y="8574530"/>
            <a:ext cx="12805409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34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你做的每一个架构决策，都是在</a:t>
            </a: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这四个目标之间找到最佳平衡点。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718750" y="547137"/>
            <a:ext cx="4387215" cy="640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2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架构的本质是权衡</a:t>
            </a:r>
            <a:endParaRPr sz="4200" dirty="0">
              <a:latin typeface="SimHei"/>
              <a:ea typeface="SimHei"/>
              <a:cs typeface="SimHei"/>
            </a:endParaRPr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5214607" y="2082783"/>
            <a:ext cx="952572" cy="939856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21584" y="2095463"/>
            <a:ext cx="952397" cy="908060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46924" y="5289572"/>
            <a:ext cx="920768" cy="895282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220898" y="5295912"/>
            <a:ext cx="908186" cy="888943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 22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EF3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4" name="textbox 224"/>
          <p:cNvSpPr/>
          <p:nvPr/>
        </p:nvSpPr>
        <p:spPr>
          <a:xfrm>
            <a:off x="1054160" y="987311"/>
            <a:ext cx="13457555" cy="2245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7000"/>
              </a:lnSpc>
            </a:pPr>
            <a:r>
              <a:rPr sz="54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现场练习：从100</a:t>
            </a:r>
            <a:r>
              <a:rPr sz="5400" kern="0" spc="15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PV</a:t>
            </a:r>
            <a:r>
              <a:rPr sz="5400" b="1" kern="0" spc="8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400" b="1" kern="0" spc="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到100万</a:t>
            </a:r>
            <a:r>
              <a:rPr sz="5400" kern="0" spc="-10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PV</a:t>
            </a:r>
            <a:r>
              <a:rPr sz="5400" b="1" kern="0" spc="8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400" b="1" kern="0" spc="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的博客</a:t>
            </a:r>
            <a:endParaRPr sz="5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5"/>
              </a:spcBef>
            </a:pPr>
            <a:r>
              <a:rPr sz="33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如果你来设计，它的架构演进路线会是怎样的?</a:t>
            </a:r>
            <a:endParaRPr sz="3300" dirty="0">
              <a:latin typeface="SimHei"/>
              <a:ea typeface="SimHei"/>
              <a:cs typeface="SimHei"/>
            </a:endParaRPr>
          </a:p>
        </p:txBody>
      </p:sp>
      <p:pic>
        <p:nvPicPr>
          <p:cNvPr id="226" name="picture 2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00196" y="3981419"/>
            <a:ext cx="15157463" cy="1720925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1054160" y="6865108"/>
            <a:ext cx="11911330" cy="1122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3600" b="1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Answer</a:t>
            </a:r>
            <a:r>
              <a:rPr sz="3600" b="1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b="1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Hint: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3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单机-&gt;拆分数据库-&gt;上负载均衡-&gt;加缓存-&gt;上对象存储/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CDN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 23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DF2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4" name="textbox 234"/>
          <p:cNvSpPr/>
          <p:nvPr/>
        </p:nvSpPr>
        <p:spPr>
          <a:xfrm>
            <a:off x="9029667" y="2459383"/>
            <a:ext cx="7399655" cy="1789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Summary Takeaway:</a:t>
            </a:r>
            <a:r>
              <a:rPr sz="3400" b="1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今天，你已经掌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8415" algn="l" rtl="0" eaLnBrk="0">
              <a:lnSpc>
                <a:spcPct val="128000"/>
              </a:lnSpc>
              <a:spcBef>
                <a:spcPts val="65"/>
              </a:spcBef>
            </a:pPr>
            <a:r>
              <a:rPr sz="3400" b="1" kern="0" spc="-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握了从“用户入口-</a:t>
            </a:r>
            <a:r>
              <a:rPr sz="3400" b="1" kern="0" spc="-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r>
              <a:rPr sz="3400" b="1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DN</a:t>
            </a:r>
            <a:r>
              <a:rPr sz="3400" b="1" kern="0" spc="3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b="1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一应用一缓存一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2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数据库一文件”的整条</a:t>
            </a:r>
            <a:r>
              <a:rPr sz="3200" b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核心链路。</a:t>
            </a:r>
            <a:endParaRPr sz="3200" dirty="0">
              <a:latin typeface="SimHei"/>
              <a:ea typeface="SimHei"/>
              <a:cs typeface="SimHei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939816" y="2768559"/>
            <a:ext cx="7531112" cy="977896"/>
            <a:chOff x="0" y="0"/>
            <a:chExt cx="7531112" cy="977896"/>
          </a:xfrm>
        </p:grpSpPr>
        <p:pic>
          <p:nvPicPr>
            <p:cNvPr id="236" name="picture 23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7531112" cy="977896"/>
            </a:xfrm>
            <a:prstGeom prst="rect">
              <a:avLst/>
            </a:prstGeom>
          </p:spPr>
        </p:pic>
        <p:sp>
          <p:nvSpPr>
            <p:cNvPr id="238" name="textbox 238"/>
            <p:cNvSpPr/>
            <p:nvPr/>
          </p:nvSpPr>
          <p:spPr>
            <a:xfrm>
              <a:off x="-12700" y="-12700"/>
              <a:ext cx="7557134" cy="1052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933565" algn="l" rtl="0" eaLnBrk="0">
                <a:lnSpc>
                  <a:spcPct val="81000"/>
                </a:lnSpc>
              </a:pPr>
              <a:r>
                <a:rPr sz="1600" kern="0" spc="-30" dirty="0">
                  <a:solidFill>
                    <a:srgbClr val="30606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FILE</a:t>
              </a:r>
              <a:endParaRPr sz="1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40" name="textbox 240"/>
          <p:cNvSpPr/>
          <p:nvPr/>
        </p:nvSpPr>
        <p:spPr>
          <a:xfrm>
            <a:off x="7854784" y="6774486"/>
            <a:ext cx="2955925" cy="2320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云上网络：安全组</a:t>
            </a:r>
            <a:endParaRPr sz="2800" dirty="0">
              <a:latin typeface="SimHei"/>
              <a:ea typeface="SimHei"/>
              <a:cs typeface="SimHei"/>
            </a:endParaRPr>
          </a:p>
          <a:p>
            <a:pPr marL="107950" algn="l" rtl="0" eaLnBrk="0">
              <a:lnSpc>
                <a:spcPts val="4130"/>
              </a:lnSpc>
            </a:pPr>
            <a:r>
              <a:rPr sz="28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</a:t>
            </a:r>
            <a:r>
              <a:rPr sz="2800" kern="0" spc="-5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8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VPC </a:t>
            </a:r>
            <a:r>
              <a:rPr sz="28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规划。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34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感谢聆听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706349" y="556300"/>
            <a:ext cx="5608954" cy="651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43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总结与下一步学习建议</a:t>
            </a:r>
            <a:endParaRPr sz="4300" dirty="0">
              <a:latin typeface="SimHei"/>
              <a:ea typeface="SimHei"/>
              <a:cs typeface="SimHei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13238412" y="6770823"/>
            <a:ext cx="3220085" cy="893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85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监控设计：如何定义</a:t>
            </a:r>
            <a:endParaRPr sz="2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990"/>
              </a:lnSpc>
            </a:pPr>
            <a:r>
              <a:rPr sz="2800" b="1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核心业务指标。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2355888" y="6783047"/>
            <a:ext cx="3225164" cy="886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Nginx</a:t>
            </a:r>
            <a:r>
              <a:rPr sz="2800" kern="0" spc="7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配置：反向代</a:t>
            </a:r>
            <a:endParaRPr sz="2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790"/>
              </a:lnSpc>
            </a:pPr>
            <a:r>
              <a:rPr sz="28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理与负载均衡实践。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1053960" y="5577219"/>
            <a:ext cx="589724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34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下一步学习建议</a:t>
            </a:r>
            <a:r>
              <a:rPr sz="3400" kern="0" spc="-4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4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3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Next</a:t>
            </a:r>
            <a:r>
              <a:rPr sz="3400" b="1" kern="0" spc="8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Steps</a:t>
            </a:r>
            <a:r>
              <a:rPr sz="34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6960" y="6642103"/>
            <a:ext cx="1124004" cy="1104887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78539" y="6680240"/>
            <a:ext cx="1124005" cy="1015934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880863" y="6730959"/>
            <a:ext cx="1098491" cy="914400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3336</Words>
  <Application>WPS Office WWO_wpscloud_20251224173010-b51a25e58c</Application>
  <PresentationFormat>宽屏</PresentationFormat>
  <Paragraphs>534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Arial</vt:lpstr>
      <vt:lpstr>SimHei</vt:lpstr>
      <vt:lpstr>宋体</vt:lpstr>
      <vt:lpstr>Office 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2025-12-27T07:53:24Z</dcterms:created>
  <dcterms:modified xsi:type="dcterms:W3CDTF">2025-12-27T07:53:24Z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2052-12.9.0.24678</vt:lpwstr>
  </property>
  <property fmtid="{D5CDD505-2E9C-101B-9397-08002B2CF9AE}" pid="3" name="ICV">
    <vt:lpwstr>B75C98F4C40948689CB49D1002CA5FAC</vt:lpwstr>
  </property>
</Properties>
</file>