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3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4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3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4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15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9"/>
  </p:notesMasterIdLst>
  <p:sldIdLst>
    <p:sldId id="661" r:id="rId2"/>
    <p:sldId id="296" r:id="rId3"/>
    <p:sldId id="683" r:id="rId4"/>
    <p:sldId id="716" r:id="rId5"/>
    <p:sldId id="664" r:id="rId6"/>
    <p:sldId id="665" r:id="rId7"/>
    <p:sldId id="666" r:id="rId8"/>
    <p:sldId id="667" r:id="rId9"/>
    <p:sldId id="668" r:id="rId10"/>
    <p:sldId id="715" r:id="rId11"/>
    <p:sldId id="740" r:id="rId12"/>
    <p:sldId id="669" r:id="rId13"/>
    <p:sldId id="670" r:id="rId14"/>
    <p:sldId id="720" r:id="rId15"/>
    <p:sldId id="671" r:id="rId16"/>
    <p:sldId id="672" r:id="rId17"/>
    <p:sldId id="673" r:id="rId18"/>
    <p:sldId id="686" r:id="rId19"/>
    <p:sldId id="704" r:id="rId20"/>
    <p:sldId id="687" r:id="rId21"/>
    <p:sldId id="705" r:id="rId22"/>
    <p:sldId id="684" r:id="rId23"/>
    <p:sldId id="662" r:id="rId24"/>
    <p:sldId id="414" r:id="rId25"/>
    <p:sldId id="618" r:id="rId26"/>
    <p:sldId id="303" r:id="rId27"/>
    <p:sldId id="368" r:id="rId28"/>
  </p:sldIdLst>
  <p:sldSz cx="9144000" cy="6858000" type="screen4x3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1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  " initials="  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4DC"/>
    <a:srgbClr val="E46C0A"/>
    <a:srgbClr val="FEA01A"/>
    <a:srgbClr val="000E3A"/>
    <a:srgbClr val="FFE9A3"/>
    <a:srgbClr val="FFE389"/>
    <a:srgbClr val="030449"/>
    <a:srgbClr val="001E7F"/>
    <a:srgbClr val="E6E3D2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596" autoAdjust="0"/>
  </p:normalViewPr>
  <p:slideViewPr>
    <p:cSldViewPr showGuides="1">
      <p:cViewPr varScale="1">
        <p:scale>
          <a:sx n="86" d="100"/>
          <a:sy n="86" d="100"/>
        </p:scale>
        <p:origin x="76" y="328"/>
      </p:cViewPr>
      <p:guideLst>
        <p:guide orient="horz" pos="231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5F76E-FF15-4BE5-AA9E-53295ECA6D34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42FEC-979A-4AF6-8F22-E8750821CC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课前小考实施方法：</a:t>
            </a:r>
            <a:endParaRPr lang="zh-CN" altLang="en-US"/>
          </a:p>
          <a:p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、实施时间</a:t>
            </a:r>
            <a:r>
              <a:rPr lang="en-US" altLang="zh-CN">
                <a:sym typeface="+mn-ea"/>
              </a:rPr>
              <a:t>3-5</a:t>
            </a:r>
            <a:r>
              <a:rPr lang="zh-CN" altLang="en-US">
                <a:sym typeface="+mn-ea"/>
              </a:rPr>
              <a:t>分钟</a:t>
            </a:r>
            <a:endParaRPr lang="zh-CN" altLang="en-US"/>
          </a:p>
          <a:p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、复习题中抽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道，预习题中抽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道，让所有学员写在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课前小考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本上。</a:t>
            </a:r>
            <a:endParaRPr lang="zh-CN" altLang="en-US"/>
          </a:p>
          <a:p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、课上收回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课前小考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本，课下批改，于下次课前下发回学员。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本章授课思路：</a:t>
            </a:r>
            <a:r>
              <a:rPr lang="en-US" altLang="zh-CN">
                <a:sym typeface="+mn-ea"/>
              </a:rPr>
              <a:t>I</a:t>
            </a:r>
            <a:r>
              <a:rPr lang="zh-CN" altLang="en-US"/>
              <a:t>P地址格式与分类是重点，相对好理解；难点是子网掩码。要教会学员习惯从二进制的角度看IP地址和子网掩码，才好理解网段的概念。本章操作较简单，可适当增加查看直连路由的操作，以对照验证网段。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教学思路：橘色部分为本章重点内容，需要明确提醒学员记笔记</a:t>
            </a:r>
          </a:p>
          <a:p>
            <a:r>
              <a:rPr lang="zh-CN" altLang="en-US">
                <a:sym typeface="+mn-ea"/>
              </a:rPr>
              <a:t>授课推荐时间：</a:t>
            </a:r>
            <a:endParaRPr lang="zh-CN" altLang="en-US"/>
          </a:p>
          <a:p>
            <a:r>
              <a:rPr lang="en-US" altLang="zh-CN" dirty="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dirty="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、IP地址概述（</a:t>
            </a:r>
            <a:r>
              <a:rPr lang="en-US" altLang="zh-CN" dirty="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35</a:t>
            </a:r>
            <a:r>
              <a:rPr lang="zh-CN" altLang="en-US" dirty="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分钟）</a:t>
            </a:r>
          </a:p>
          <a:p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、</a:t>
            </a:r>
            <a:r>
              <a:rPr lang="zh-CN" altLang="en-US" dirty="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计算机配置IP地址（</a:t>
            </a:r>
            <a:r>
              <a:rPr lang="en-US" altLang="zh-CN" dirty="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</a:t>
            </a:r>
            <a:r>
              <a:rPr lang="zh-CN" altLang="en-US" dirty="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分钟）</a:t>
            </a:r>
          </a:p>
          <a:p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、</a:t>
            </a:r>
            <a:r>
              <a:rPr lang="zh-CN" altLang="en-US" dirty="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路由器配置</a:t>
            </a:r>
            <a:r>
              <a:rPr lang="en-US" altLang="zh-CN" dirty="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</a:t>
            </a:r>
            <a:r>
              <a:rPr lang="zh-CN" altLang="en-US" dirty="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地址（</a:t>
            </a:r>
            <a:r>
              <a:rPr lang="en-US" altLang="zh-CN" dirty="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35</a:t>
            </a:r>
            <a:r>
              <a:rPr lang="zh-CN" altLang="en-US" dirty="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分钟）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AFA895-5E0B-442D-B271-D2DF800B9B8D}" type="slidenum">
              <a:rPr lang="en-US" altLang="zh-CN" smtClean="0">
                <a:latin typeface="Arial" panose="020B0604020202020204" pitchFamily="34" charset="0"/>
              </a:rPr>
              <a:t>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简单温习二进制转换十进制。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 txBox="1">
            <a:spLocks noGrp="1"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75" tIns="49538" rIns="99075" bIns="49538" anchor="b"/>
          <a:lstStyle/>
          <a:p>
            <a:pPr algn="r"/>
            <a:fld id="{6D235AEE-9EE6-4218-8A71-DBF21AFBF232}" type="slidenum">
              <a:rPr lang="en-US" altLang="zh-CN" sz="1300">
                <a:ea typeface="宋体" panose="02010600030101010101" pitchFamily="2" charset="-122"/>
              </a:rPr>
              <a:t>6</a:t>
            </a:fld>
            <a:endParaRPr lang="en-US" altLang="zh-CN" sz="1300">
              <a:ea typeface="宋体" panose="02010600030101010101" pitchFamily="2" charset="-122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举生活中的例子讲解</a:t>
            </a:r>
            <a:r>
              <a:rPr lang="en-US" altLang="zh-CN">
                <a:ea typeface="宋体" panose="02010600030101010101" pitchFamily="2" charset="-122"/>
              </a:rPr>
              <a:t>IP</a:t>
            </a:r>
            <a:r>
              <a:rPr lang="zh-CN" altLang="en-US">
                <a:ea typeface="宋体" panose="02010600030101010101" pitchFamily="2" charset="-122"/>
              </a:rPr>
              <a:t>地址的组成，如手机号码，前</a:t>
            </a:r>
            <a:r>
              <a:rPr lang="en-US" altLang="zh-CN">
                <a:ea typeface="宋体" panose="02010600030101010101" pitchFamily="2" charset="-122"/>
              </a:rPr>
              <a:t>7</a:t>
            </a:r>
            <a:r>
              <a:rPr lang="zh-CN" altLang="en-US">
                <a:ea typeface="宋体" panose="02010600030101010101" pitchFamily="2" charset="-122"/>
              </a:rPr>
              <a:t>位相当于网络地址，后</a:t>
            </a:r>
            <a:r>
              <a:rPr lang="en-US" altLang="zh-CN">
                <a:ea typeface="宋体" panose="02010600030101010101" pitchFamily="2" charset="-122"/>
              </a:rPr>
              <a:t>4</a:t>
            </a:r>
            <a:r>
              <a:rPr lang="zh-CN" altLang="en-US">
                <a:ea typeface="宋体" panose="02010600030101010101" pitchFamily="2" charset="-122"/>
              </a:rPr>
              <a:t>位相当于主机地址。</a:t>
            </a:r>
          </a:p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再用之前配置的</a:t>
            </a:r>
            <a:r>
              <a:rPr lang="en-US" altLang="zh-CN">
                <a:ea typeface="宋体" panose="02010600030101010101" pitchFamily="2" charset="-122"/>
              </a:rPr>
              <a:t>IP</a:t>
            </a:r>
            <a:r>
              <a:rPr lang="zh-CN" altLang="en-US">
                <a:ea typeface="宋体" panose="02010600030101010101" pitchFamily="2" charset="-122"/>
              </a:rPr>
              <a:t>地址</a:t>
            </a:r>
            <a:r>
              <a:rPr lang="en-US" altLang="zh-CN">
                <a:ea typeface="宋体" panose="02010600030101010101" pitchFamily="2" charset="-122"/>
              </a:rPr>
              <a:t>192.168.0.25</a:t>
            </a:r>
            <a:r>
              <a:rPr lang="zh-CN" altLang="en-US">
                <a:ea typeface="宋体" panose="02010600030101010101" pitchFamily="2" charset="-122"/>
              </a:rPr>
              <a:t>为例讲解</a:t>
            </a:r>
            <a:r>
              <a:rPr lang="en-US" altLang="zh-CN">
                <a:ea typeface="宋体" panose="02010600030101010101" pitchFamily="2" charset="-122"/>
              </a:rPr>
              <a:t>IP</a:t>
            </a:r>
            <a:r>
              <a:rPr lang="zh-CN" altLang="en-US">
                <a:ea typeface="宋体" panose="02010600030101010101" pitchFamily="2" charset="-122"/>
              </a:rPr>
              <a:t>地址的组成。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0056E5-4A4E-4F5F-A811-3C593821F3BB}" type="slidenum">
              <a:rPr lang="en-US" altLang="zh-CN" smtClean="0">
                <a:latin typeface="Arial" panose="020B0604020202020204" pitchFamily="34" charset="0"/>
              </a:rPr>
              <a:t>7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讲解</a:t>
            </a:r>
            <a:r>
              <a:rPr lang="en-US" altLang="zh-CN">
                <a:ea typeface="宋体" panose="02010600030101010101" pitchFamily="2" charset="-122"/>
              </a:rPr>
              <a:t>IP</a:t>
            </a:r>
            <a:r>
              <a:rPr lang="zh-CN" altLang="en-US">
                <a:ea typeface="宋体" panose="02010600030101010101" pitchFamily="2" charset="-122"/>
              </a:rPr>
              <a:t>的分类：</a:t>
            </a:r>
          </a:p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主要根据每类</a:t>
            </a:r>
            <a:r>
              <a:rPr lang="en-US" altLang="zh-CN">
                <a:ea typeface="宋体" panose="02010600030101010101" pitchFamily="2" charset="-122"/>
              </a:rPr>
              <a:t>IP</a:t>
            </a:r>
            <a:r>
              <a:rPr lang="zh-CN" altLang="en-US">
                <a:ea typeface="宋体" panose="02010600030101010101" pitchFamily="2" charset="-122"/>
              </a:rPr>
              <a:t>的组成来讲解其第一个八位的数值范围，以及每类地址拥有的最大网络数和主机数，以让学员能够根据企业需求进行</a:t>
            </a:r>
            <a:r>
              <a:rPr lang="en-US" altLang="zh-CN">
                <a:ea typeface="宋体" panose="02010600030101010101" pitchFamily="2" charset="-122"/>
              </a:rPr>
              <a:t>IP</a:t>
            </a:r>
            <a:r>
              <a:rPr lang="zh-CN" altLang="en-US">
                <a:ea typeface="宋体" panose="02010600030101010101" pitchFamily="2" charset="-122"/>
              </a:rPr>
              <a:t>地址的规划。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127.0.0.1</a:t>
            </a:r>
            <a:r>
              <a:rPr lang="zh-CN" altLang="en-US">
                <a:ea typeface="宋体" panose="02010600030101010101" pitchFamily="2" charset="-122"/>
              </a:rPr>
              <a:t>又称为本机回环地址，通常利用在本机上</a:t>
            </a:r>
            <a:r>
              <a:rPr lang="en-US" altLang="zh-CN">
                <a:ea typeface="宋体" panose="02010600030101010101" pitchFamily="2" charset="-122"/>
              </a:rPr>
              <a:t>ping</a:t>
            </a:r>
            <a:r>
              <a:rPr lang="zh-CN" altLang="en-US">
                <a:ea typeface="宋体" panose="02010600030101010101" pitchFamily="2" charset="-122"/>
              </a:rPr>
              <a:t>此地址来检查</a:t>
            </a:r>
            <a:r>
              <a:rPr lang="en-US" altLang="zh-CN">
                <a:ea typeface="宋体" panose="02010600030101010101" pitchFamily="2" charset="-122"/>
              </a:rPr>
              <a:t>TCP/IP</a:t>
            </a:r>
            <a:r>
              <a:rPr lang="zh-CN" altLang="en-US">
                <a:ea typeface="宋体" panose="02010600030101010101" pitchFamily="2" charset="-122"/>
              </a:rPr>
              <a:t>协议安装是否正确。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D</a:t>
            </a:r>
            <a:r>
              <a:rPr lang="zh-CN" altLang="en-US">
                <a:ea typeface="宋体" panose="02010600030101010101" pitchFamily="2" charset="-122"/>
              </a:rPr>
              <a:t>类、</a:t>
            </a:r>
            <a:r>
              <a:rPr lang="en-US" altLang="zh-CN">
                <a:ea typeface="宋体" panose="02010600030101010101" pitchFamily="2" charset="-122"/>
              </a:rPr>
              <a:t>E</a:t>
            </a:r>
            <a:r>
              <a:rPr lang="zh-CN" altLang="en-US">
                <a:ea typeface="宋体" panose="02010600030101010101" pitchFamily="2" charset="-122"/>
              </a:rPr>
              <a:t>类地址仅作为了解内容，不需要过多介绍。</a:t>
            </a: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 txBox="1">
            <a:spLocks noGrp="1" noChangeArrowheads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75" tIns="49538" rIns="99075" bIns="49538" anchor="b"/>
          <a:lstStyle/>
          <a:p>
            <a:pPr algn="r"/>
            <a:fld id="{A6ADDA42-CB37-4A5F-8EFB-C1891102D611}" type="slidenum">
              <a:rPr lang="en-US" altLang="zh-CN" sz="1300">
                <a:ea typeface="宋体" panose="02010600030101010101" pitchFamily="2" charset="-122"/>
              </a:rPr>
              <a:t>8</a:t>
            </a:fld>
            <a:endParaRPr lang="en-US" altLang="zh-CN" sz="1300">
              <a:ea typeface="宋体" panose="02010600030101010101" pitchFamily="2" charset="-122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zh-CN" altLang="en-US">
                <a:ea typeface="宋体" panose="02010600030101010101" pitchFamily="2" charset="-122"/>
              </a:rPr>
              <a:t>类地址：第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个</a:t>
            </a:r>
            <a:r>
              <a:rPr lang="en-US" altLang="zh-CN">
                <a:ea typeface="宋体" panose="02010600030101010101" pitchFamily="2" charset="-122"/>
              </a:rPr>
              <a:t>8</a:t>
            </a:r>
            <a:r>
              <a:rPr lang="zh-CN" altLang="en-US">
                <a:ea typeface="宋体" panose="02010600030101010101" pitchFamily="2" charset="-122"/>
              </a:rPr>
              <a:t>位组为网络部分，其余</a:t>
            </a:r>
            <a:r>
              <a:rPr lang="en-US" altLang="zh-CN">
                <a:ea typeface="宋体" panose="02010600030101010101" pitchFamily="2" charset="-122"/>
              </a:rPr>
              <a:t>3</a:t>
            </a:r>
            <a:r>
              <a:rPr lang="zh-CN" altLang="en-US">
                <a:ea typeface="宋体" panose="02010600030101010101" pitchFamily="2" charset="-122"/>
              </a:rPr>
              <a:t>个</a:t>
            </a:r>
            <a:r>
              <a:rPr lang="en-US" altLang="zh-CN">
                <a:ea typeface="宋体" panose="02010600030101010101" pitchFamily="2" charset="-122"/>
              </a:rPr>
              <a:t>8</a:t>
            </a:r>
            <a:r>
              <a:rPr lang="zh-CN" altLang="en-US">
                <a:ea typeface="宋体" panose="02010600030101010101" pitchFamily="2" charset="-122"/>
              </a:rPr>
              <a:t>位组为主机部分 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B</a:t>
            </a:r>
            <a:r>
              <a:rPr lang="zh-CN" altLang="en-US">
                <a:ea typeface="宋体" panose="02010600030101010101" pitchFamily="2" charset="-122"/>
              </a:rPr>
              <a:t>类地址：前</a:t>
            </a:r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zh-CN" altLang="en-US">
                <a:ea typeface="宋体" panose="02010600030101010101" pitchFamily="2" charset="-122"/>
              </a:rPr>
              <a:t>个</a:t>
            </a:r>
            <a:r>
              <a:rPr lang="en-US" altLang="zh-CN">
                <a:ea typeface="宋体" panose="02010600030101010101" pitchFamily="2" charset="-122"/>
              </a:rPr>
              <a:t>8</a:t>
            </a:r>
            <a:r>
              <a:rPr lang="zh-CN" altLang="en-US">
                <a:ea typeface="宋体" panose="02010600030101010101" pitchFamily="2" charset="-122"/>
              </a:rPr>
              <a:t>位组为网络部分，后</a:t>
            </a:r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zh-CN" altLang="en-US">
                <a:ea typeface="宋体" panose="02010600030101010101" pitchFamily="2" charset="-122"/>
              </a:rPr>
              <a:t>个</a:t>
            </a:r>
            <a:r>
              <a:rPr lang="en-US" altLang="zh-CN">
                <a:ea typeface="宋体" panose="02010600030101010101" pitchFamily="2" charset="-122"/>
              </a:rPr>
              <a:t>8</a:t>
            </a:r>
            <a:r>
              <a:rPr lang="zh-CN" altLang="en-US">
                <a:ea typeface="宋体" panose="02010600030101010101" pitchFamily="2" charset="-122"/>
              </a:rPr>
              <a:t>位组为主机部分 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C</a:t>
            </a:r>
            <a:r>
              <a:rPr lang="zh-CN" altLang="en-US">
                <a:ea typeface="宋体" panose="02010600030101010101" pitchFamily="2" charset="-122"/>
              </a:rPr>
              <a:t>类地址：前</a:t>
            </a:r>
            <a:r>
              <a:rPr lang="en-US" altLang="zh-CN">
                <a:ea typeface="宋体" panose="02010600030101010101" pitchFamily="2" charset="-122"/>
              </a:rPr>
              <a:t>3</a:t>
            </a:r>
            <a:r>
              <a:rPr lang="zh-CN" altLang="en-US">
                <a:ea typeface="宋体" panose="02010600030101010101" pitchFamily="2" charset="-122"/>
              </a:rPr>
              <a:t>个</a:t>
            </a:r>
            <a:r>
              <a:rPr lang="en-US" altLang="zh-CN">
                <a:ea typeface="宋体" panose="02010600030101010101" pitchFamily="2" charset="-122"/>
              </a:rPr>
              <a:t>8</a:t>
            </a:r>
            <a:r>
              <a:rPr lang="zh-CN" altLang="en-US">
                <a:ea typeface="宋体" panose="02010600030101010101" pitchFamily="2" charset="-122"/>
              </a:rPr>
              <a:t>位组为网络部分，最后一个</a:t>
            </a:r>
            <a:r>
              <a:rPr lang="en-US" altLang="zh-CN">
                <a:ea typeface="宋体" panose="02010600030101010101" pitchFamily="2" charset="-122"/>
              </a:rPr>
              <a:t>8</a:t>
            </a:r>
            <a:r>
              <a:rPr lang="zh-CN" altLang="en-US">
                <a:ea typeface="宋体" panose="02010600030101010101" pitchFamily="2" charset="-122"/>
              </a:rPr>
              <a:t>位组为主机部分 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3BB0E48-52D5-46D9-BD80-842118422CA3}" type="slidenum">
              <a:rPr lang="en-US" altLang="zh-CN" smtClean="0">
                <a:latin typeface="Arial" panose="020B0604020202020204" pitchFamily="34" charset="0"/>
              </a:rPr>
              <a:t>9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3A85FA-1362-491F-9B10-5DF4542938C3}" type="slidenum">
              <a:rPr lang="en-US" altLang="zh-CN" smtClean="0">
                <a:latin typeface="Arial" panose="020B0604020202020204" pitchFamily="34" charset="0"/>
              </a:rPr>
              <a:t>12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重点让学员理解子网掩码的作用，教员应举实际案例帮助学员理解</a:t>
            </a:r>
          </a:p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如寄信：同一街道与不同街道的寄信方式可能不一样，同一街道直接送达，不同街道可能需要第三方转达</a:t>
            </a:r>
          </a:p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而计算机通信也是一样，同一网络直接送达，不同网络需要通过其它方式传递</a:t>
            </a:r>
          </a:p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子网掩码就是用来确定</a:t>
            </a:r>
            <a:r>
              <a:rPr lang="en-US" altLang="zh-CN">
                <a:ea typeface="宋体" panose="02010600030101010101" pitchFamily="2" charset="-122"/>
              </a:rPr>
              <a:t>IP</a:t>
            </a:r>
            <a:r>
              <a:rPr lang="zh-CN" altLang="en-US">
                <a:ea typeface="宋体" panose="02010600030101010101" pitchFamily="2" charset="-122"/>
              </a:rPr>
              <a:t>的网络地址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ECFCF4-45A3-4CBC-B2D0-68E65C1DAD80}" type="slidenum">
              <a:rPr lang="en-US" altLang="zh-CN" smtClean="0">
                <a:latin typeface="Arial" panose="020B0604020202020204" pitchFamily="34" charset="0"/>
              </a:rPr>
              <a:t>13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只需要让学员了解默认的子网掩码即可。</a:t>
            </a:r>
          </a:p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其它的知识点（如不使用默认子网掩码的情况）会在后续的课程中进行介绍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ECFCF4-45A3-4CBC-B2D0-68E65C1DAD80}" type="slidenum">
              <a:rPr lang="en-US" altLang="zh-CN" smtClean="0">
                <a:latin typeface="Arial" panose="020B0604020202020204" pitchFamily="34" charset="0"/>
              </a:rPr>
              <a:t>14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5734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C1B7BE-380C-4A1B-896A-EC5F85DB005B}" type="slidenum">
              <a:rPr lang="en-US" altLang="zh-CN" smtClean="0"/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4A5978-D06D-41F9-9995-2942CD6C71E7}" type="slidenum">
              <a:rPr lang="en-US" altLang="zh-CN" smtClean="0">
                <a:latin typeface="Arial" panose="020B0604020202020204" pitchFamily="34" charset="0"/>
              </a:rPr>
              <a:t>17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【】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帮助学员梳理知识体系，回忆最右侧的重点内容，无最右侧文字提示的地方，回忆当前标签的内容。根据本章内容要求学员整理笔记。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72A3DF3-C6E8-4F06-8492-D4035DB508A6}" type="slidenum">
              <a:rPr lang="zh-CN" altLang="en-US" smtClean="0"/>
              <a:t>24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</p:spPr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72A3DF3-C6E8-4F06-8492-D4035DB508A6}" type="slidenum">
              <a:rPr lang="zh-CN" altLang="en-US" smtClean="0"/>
              <a:t>25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E:\工作\正做的\2022年工作【项目制】\BCNT\S1封面底图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283E6-7B15-41E9-9B82-3A406F797F75}" type="datetime1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3" name="Picture 3" descr="E:\工作\正做的\2022年工作【项目制】\BCNT\999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017189"/>
            <a:ext cx="2844198" cy="244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9592" y="0"/>
            <a:ext cx="7920880" cy="908720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980727"/>
            <a:ext cx="8496944" cy="5381337"/>
          </a:xfrm>
        </p:spPr>
        <p:txBody>
          <a:bodyPr/>
          <a:lstStyle>
            <a:lvl1pPr marL="342900" indent="-342900">
              <a:buClr>
                <a:srgbClr val="0034DC"/>
              </a:buClr>
              <a:buFont typeface="Wingdings" panose="05000000000000000000" pitchFamily="2" charset="2"/>
              <a:buChar char="n"/>
              <a:defRPr sz="2200" b="1">
                <a:solidFill>
                  <a:srgbClr val="00165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39750" indent="-215900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n"/>
              <a:defRPr sz="200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720090" indent="-228600">
              <a:buClr>
                <a:schemeClr val="accent6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  <a:defRPr sz="1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899795" indent="-179705">
              <a:buClr>
                <a:srgbClr val="0034DC"/>
              </a:buClr>
              <a:buSzPct val="150000"/>
              <a:buFont typeface="Arial" panose="020B0604020202020204" pitchFamily="34" charset="0"/>
              <a:buChar char="•"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448251"/>
            <a:ext cx="2133600" cy="365125"/>
          </a:xfrm>
        </p:spPr>
        <p:txBody>
          <a:bodyPr/>
          <a:lstStyle/>
          <a:p>
            <a:fld id="{69AC3C20-2C6B-4A96-BA0B-3DF8B981D576}" type="datetime1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448251"/>
            <a:ext cx="2895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448251"/>
            <a:ext cx="21336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r>
              <a:rPr lang="en-US" altLang="zh-CN" dirty="0"/>
              <a:t>/28</a:t>
            </a: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323528" y="822722"/>
            <a:ext cx="835292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88640"/>
            <a:ext cx="662880" cy="549705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理论讲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 descr="E:\工作\正做的\2022年工作【项目制】\BCNT\S1封面底图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矩形 25"/>
          <p:cNvSpPr/>
          <p:nvPr userDrawn="1"/>
        </p:nvSpPr>
        <p:spPr>
          <a:xfrm flipV="1">
            <a:off x="-635" y="4779010"/>
            <a:ext cx="9128760" cy="2065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 userDrawn="1"/>
        </p:nvSpPr>
        <p:spPr>
          <a:xfrm flipV="1">
            <a:off x="0" y="4725144"/>
            <a:ext cx="9144000" cy="85088"/>
          </a:xfrm>
          <a:prstGeom prst="rect">
            <a:avLst/>
          </a:prstGeom>
          <a:solidFill>
            <a:srgbClr val="40EC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32"/>
          <p:cNvSpPr txBox="1"/>
          <p:nvPr userDrawn="1"/>
        </p:nvSpPr>
        <p:spPr>
          <a:xfrm>
            <a:off x="5941060" y="4737918"/>
            <a:ext cx="2954655" cy="92333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5400" b="1" dirty="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理论讲解</a:t>
            </a:r>
          </a:p>
        </p:txBody>
      </p:sp>
      <p:pic>
        <p:nvPicPr>
          <p:cNvPr id="31" name="图片 30" descr="pen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6972024" y="5589240"/>
            <a:ext cx="864151" cy="864151"/>
          </a:xfrm>
          <a:prstGeom prst="rect">
            <a:avLst/>
          </a:prstGeom>
        </p:spPr>
      </p:pic>
      <p:pic>
        <p:nvPicPr>
          <p:cNvPr id="25" name="Picture 3" descr="E:\工作\正做的\2022年工作【项目制】\BCNT\999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017189"/>
            <a:ext cx="2844198" cy="244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章实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 descr="E:\工作\正做的\2022年工作【项目制】\BCNT\S1封面底图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13"/>
          <p:cNvSpPr/>
          <p:nvPr userDrawn="1"/>
        </p:nvSpPr>
        <p:spPr>
          <a:xfrm flipV="1">
            <a:off x="-635" y="4779010"/>
            <a:ext cx="9128760" cy="2065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 flipV="1">
            <a:off x="0" y="4725144"/>
            <a:ext cx="9144000" cy="85088"/>
          </a:xfrm>
          <a:prstGeom prst="rect">
            <a:avLst/>
          </a:prstGeom>
          <a:solidFill>
            <a:srgbClr val="40EC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32"/>
          <p:cNvSpPr txBox="1"/>
          <p:nvPr userDrawn="1"/>
        </p:nvSpPr>
        <p:spPr>
          <a:xfrm>
            <a:off x="5941060" y="4725144"/>
            <a:ext cx="2954655" cy="92333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5400" b="1" dirty="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本章实验</a:t>
            </a:r>
          </a:p>
        </p:txBody>
      </p:sp>
      <p:pic>
        <p:nvPicPr>
          <p:cNvPr id="1026" name="Picture 2" descr="E:\工作\正做的\2022年工作【项目制】\BCNT\本章实验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5430" y="5589240"/>
            <a:ext cx="956930" cy="947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" descr="E:\工作\正做的\2022年工作【项目制】\BCNT\999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017189"/>
            <a:ext cx="2844198" cy="244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章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2" descr="E:\工作\正做的\2022年工作【项目制】\BCNT\S1封面底图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矩形 31"/>
          <p:cNvSpPr/>
          <p:nvPr userDrawn="1"/>
        </p:nvSpPr>
        <p:spPr>
          <a:xfrm flipV="1">
            <a:off x="-635" y="4779010"/>
            <a:ext cx="9128760" cy="2065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 userDrawn="1"/>
        </p:nvSpPr>
        <p:spPr>
          <a:xfrm flipV="1">
            <a:off x="0" y="4725144"/>
            <a:ext cx="9144000" cy="85088"/>
          </a:xfrm>
          <a:prstGeom prst="rect">
            <a:avLst/>
          </a:prstGeom>
          <a:solidFill>
            <a:srgbClr val="40EC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2"/>
          <p:cNvSpPr txBox="1"/>
          <p:nvPr userDrawn="1"/>
        </p:nvSpPr>
        <p:spPr>
          <a:xfrm>
            <a:off x="5941060" y="4739228"/>
            <a:ext cx="2954655" cy="92333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5400" b="1" dirty="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本章作业</a:t>
            </a:r>
          </a:p>
        </p:txBody>
      </p:sp>
      <p:pic>
        <p:nvPicPr>
          <p:cNvPr id="2050" name="Picture 2" descr="E:\工作\正做的\2022年工作【项目制】\BCNT\本章作业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2229" y="5622608"/>
            <a:ext cx="986435" cy="983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" descr="E:\工作\正做的\2022年工作【项目制】\BCNT\999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017189"/>
            <a:ext cx="2844198" cy="244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699FF-2376-4885-915F-EF3765A0FC5E}" type="datetime1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642283E6-7B15-41E9-9B82-3A406F797F75}" type="datetime1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7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E:\工作\正做的\2022年工作【项目制】\BCNT\S1封面底图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3" descr="E:\工作\正做的\2022年工作【项目制】\BCNT\999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017189"/>
            <a:ext cx="2844198" cy="244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642283E6-7B15-41E9-9B82-3A406F797F75}" type="datetime1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准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lang="zh-CN" altLang="en-US" sz="1200" kern="120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fld id="{7D9BB5D0-35E4-459D-AEF3-FE4D7C45CC19}" type="slidenum">
              <a:rPr lang="en-US" altLang="zh-CN" smtClean="0"/>
              <a:t>‹#›</a:t>
            </a:fld>
            <a:r>
              <a:rPr lang="en-US" altLang="zh-CN">
                <a:sym typeface="+mn-ea"/>
              </a:rPr>
              <a:t>/24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266700" y="1114425"/>
            <a:ext cx="85344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>
                <a:sym typeface="+mn-ea"/>
              </a:rPr>
              <a:t>第四级</a:t>
            </a:r>
          </a:p>
          <a:p>
            <a:pPr lvl="4"/>
            <a:r>
              <a:rPr lang="en-US" altLang="zh-CN" dirty="0" err="1"/>
              <a:t>第五级</a:t>
            </a:r>
            <a:endParaRPr lang="en-US" altLang="zh-CN" dirty="0"/>
          </a:p>
        </p:txBody>
      </p:sp>
    </p:spTree>
  </p:cSld>
  <p:clrMapOvr>
    <a:masterClrMapping/>
  </p:clrMapOvr>
  <p:transition>
    <p:wipe dir="d"/>
  </p:transition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6B54E2-0453-4383-BB10-F5F7085A7C1A}" type="datetime1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3" Type="http://schemas.openxmlformats.org/officeDocument/2006/relationships/tags" Target="../tags/tag4.xml"/><Relationship Id="rId21" Type="http://schemas.openxmlformats.org/officeDocument/2006/relationships/notesSlide" Target="../notesSlides/notesSlide3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image" Target="../media/image8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7" Type="http://schemas.openxmlformats.org/officeDocument/2006/relationships/image" Target="../media/image8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7" Type="http://schemas.openxmlformats.org/officeDocument/2006/relationships/image" Target="../media/image8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36.xml"/><Relationship Id="rId7" Type="http://schemas.openxmlformats.org/officeDocument/2006/relationships/image" Target="../media/image11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image" Target="../media/image14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13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44.xml"/><Relationship Id="rId7" Type="http://schemas.openxmlformats.org/officeDocument/2006/relationships/image" Target="../media/image15.GIF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image" Target="../media/image8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tags" Target="../tags/tag63.xml"/><Relationship Id="rId18" Type="http://schemas.openxmlformats.org/officeDocument/2006/relationships/tags" Target="../tags/tag68.xml"/><Relationship Id="rId3" Type="http://schemas.openxmlformats.org/officeDocument/2006/relationships/tags" Target="../tags/tag53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tags" Target="../tags/tag67.xml"/><Relationship Id="rId2" Type="http://schemas.openxmlformats.org/officeDocument/2006/relationships/tags" Target="../tags/tag52.xml"/><Relationship Id="rId16" Type="http://schemas.openxmlformats.org/officeDocument/2006/relationships/tags" Target="../tags/tag66.xml"/><Relationship Id="rId20" Type="http://schemas.openxmlformats.org/officeDocument/2006/relationships/tags" Target="../tags/tag70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5" Type="http://schemas.openxmlformats.org/officeDocument/2006/relationships/tags" Target="../tags/tag55.xml"/><Relationship Id="rId15" Type="http://schemas.openxmlformats.org/officeDocument/2006/relationships/tags" Target="../tags/tag65.xml"/><Relationship Id="rId10" Type="http://schemas.openxmlformats.org/officeDocument/2006/relationships/tags" Target="../tags/tag60.xml"/><Relationship Id="rId19" Type="http://schemas.openxmlformats.org/officeDocument/2006/relationships/tags" Target="../tags/tag69.xml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tags" Target="../tags/tag64.xml"/><Relationship Id="rId22" Type="http://schemas.openxmlformats.org/officeDocument/2006/relationships/notesSlide" Target="../notesSlides/notesSlide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3" Type="http://schemas.openxmlformats.org/officeDocument/2006/relationships/tags" Target="../tags/tag7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11" Type="http://schemas.openxmlformats.org/officeDocument/2006/relationships/image" Target="../media/image21.png"/><Relationship Id="rId5" Type="http://schemas.openxmlformats.org/officeDocument/2006/relationships/tags" Target="../tags/tag75.xml"/><Relationship Id="rId10" Type="http://schemas.openxmlformats.org/officeDocument/2006/relationships/image" Target="../media/image19.png"/><Relationship Id="rId4" Type="http://schemas.openxmlformats.org/officeDocument/2006/relationships/tags" Target="../tags/tag74.xml"/><Relationship Id="rId9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课前小考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复习题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预习题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3568" y="1390124"/>
            <a:ext cx="8136904" cy="3041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1．画图说明以太网帧格式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2．画图说明MAC地址的标准格式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3．一个标准以太网帧的长度范围是多少？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4．用表格比较华为交换机三种命令行视图的作用及其进入方法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5．简述交换机的工作原理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6．当前在用户视图中，依次执行哪些命令可以将交换机的主机名改为SW？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7．从系统视图或接口视图回到用户视图的方法有哪些？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8．执行哪些命令可以进入Console用户界面视图并设置用户级别为3？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9．在华为交换机上执行display mac-address命令，可以获取到哪些信息的对应关系？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10．在华为交换机上依次执行什么命令可以配置本地用户名和密码？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3669" y="5057889"/>
            <a:ext cx="8136904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1．简述IP地址的作用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2．IP地址由哪两部分组成？其作用分别是什么？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3．请写出C类IP地址的默认子网掩码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4．在Windows 操作系统中，使用什么命令可以查看IP地址信息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5．在路由器中，使用什么命令可以配置IP地址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</a:t>
            </a:fld>
            <a:r>
              <a:rPr lang="en-US" altLang="zh-CN" dirty="0"/>
              <a:t>/28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标题 4"/>
          <p:cNvSpPr>
            <a:spLocks noGrp="1"/>
          </p:cNvSpPr>
          <p:nvPr/>
        </p:nvSpPr>
        <p:spPr>
          <a:xfrm>
            <a:off x="1588" y="2479546"/>
            <a:ext cx="9140825" cy="10934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800" b="1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</a:t>
            </a:r>
            <a:r>
              <a:rPr lang="zh-CN" altLang="en-US" sz="4800" b="1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地址概述与配置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3421173" y="1951658"/>
            <a:ext cx="2301655" cy="397222"/>
            <a:chOff x="4932040" y="3751858"/>
            <a:chExt cx="2301655" cy="397222"/>
          </a:xfrm>
        </p:grpSpPr>
        <p:sp>
          <p:nvSpPr>
            <p:cNvPr id="16" name="标题 1"/>
            <p:cNvSpPr txBox="1"/>
            <p:nvPr/>
          </p:nvSpPr>
          <p:spPr>
            <a:xfrm>
              <a:off x="4932040" y="3751858"/>
              <a:ext cx="2301655" cy="39722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第三章</a:t>
              </a: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5321495" y="3899824"/>
              <a:ext cx="184008" cy="145008"/>
              <a:chOff x="3923928" y="3595371"/>
              <a:chExt cx="252028" cy="198611"/>
            </a:xfrm>
          </p:grpSpPr>
          <p:sp>
            <p:nvSpPr>
              <p:cNvPr id="18" name="燕尾形 17"/>
              <p:cNvSpPr/>
              <p:nvPr/>
            </p:nvSpPr>
            <p:spPr>
              <a:xfrm>
                <a:off x="4067944" y="3595371"/>
                <a:ext cx="108012" cy="198611"/>
              </a:xfrm>
              <a:prstGeom prst="chevron">
                <a:avLst/>
              </a:prstGeom>
              <a:solidFill>
                <a:srgbClr val="40EC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燕尾形 18"/>
              <p:cNvSpPr/>
              <p:nvPr/>
            </p:nvSpPr>
            <p:spPr>
              <a:xfrm>
                <a:off x="3923928" y="3595371"/>
                <a:ext cx="108012" cy="198611"/>
              </a:xfrm>
              <a:prstGeom prst="chevron">
                <a:avLst/>
              </a:prstGeom>
              <a:solidFill>
                <a:srgbClr val="40EC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36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 rot="16200000">
            <a:off x="3780020" y="4047308"/>
            <a:ext cx="0" cy="21600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solidFill>
                <a:srgbClr val="1343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Line 36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 rot="16200000">
            <a:off x="3929698" y="2499995"/>
            <a:ext cx="0" cy="242887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solidFill>
                <a:srgbClr val="1343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本章结构</a:t>
            </a:r>
          </a:p>
        </p:txBody>
      </p:sp>
      <p:sp>
        <p:nvSpPr>
          <p:cNvPr id="12294" name="Line 16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5132388" y="1550988"/>
            <a:ext cx="358775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>
              <a:solidFill>
                <a:srgbClr val="1343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00" name="Line 10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2282825" y="3727450"/>
            <a:ext cx="431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>
              <a:solidFill>
                <a:srgbClr val="1343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07" name="Line 14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5143500" y="1547813"/>
            <a:ext cx="0" cy="9525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>
              <a:solidFill>
                <a:srgbClr val="1343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11" name="AutoShape 4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96848" y="3437190"/>
            <a:ext cx="2132012" cy="373665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6893C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>
            <a:lvl1pPr marL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lvl="0" algn="ctr" eaLnBrk="1" hangingPunct="1">
              <a:buClrTx/>
              <a:buSzTx/>
              <a:buFontTx/>
            </a:pPr>
            <a:r>
              <a:rPr lang="zh-CN" altLang="en-US" sz="1600" dirty="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IP地址的概述与应用</a:t>
            </a:r>
          </a:p>
        </p:txBody>
      </p:sp>
      <p:sp>
        <p:nvSpPr>
          <p:cNvPr id="12314" name="Line 36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2714625" y="2060575"/>
            <a:ext cx="0" cy="30600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>
              <a:solidFill>
                <a:srgbClr val="1343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17" name="AutoShape 11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464175" y="1357751"/>
            <a:ext cx="2700338" cy="373665"/>
          </a:xfrm>
          <a:prstGeom prst="roundRect">
            <a:avLst>
              <a:gd name="adj" fmla="val 16667"/>
            </a:avLst>
          </a:prstGeom>
          <a:solidFill>
            <a:srgbClr val="FEA01A"/>
          </a:solidFill>
          <a:ln w="1905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地址的定义与分类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19" name="AutoShape 5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961200" y="3547943"/>
            <a:ext cx="2000263" cy="373669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6893C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>
            <a:lvl1pPr marL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lvl="0" algn="ctr" eaLnBrk="1" hangingPunct="1">
              <a:buClrTx/>
              <a:buSzTx/>
              <a:buFontTx/>
            </a:pPr>
            <a:r>
              <a:rPr lang="zh-CN" altLang="en-US" sz="1600" dirty="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计算机配置IP地址</a:t>
            </a:r>
          </a:p>
        </p:txBody>
      </p:sp>
      <p:sp>
        <p:nvSpPr>
          <p:cNvPr id="40" name="Line 16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5143500" y="3236913"/>
            <a:ext cx="360363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>
              <a:solidFill>
                <a:srgbClr val="1343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AutoShape 18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468042" y="3047879"/>
            <a:ext cx="2700338" cy="373665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6893C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>
            <a:lvl1pPr marL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lvl="0" algn="ctr" eaLnBrk="1" hangingPunct="1">
              <a:buClrTx/>
              <a:buSzTx/>
              <a:buFontTx/>
            </a:pPr>
            <a:r>
              <a:rPr lang="zh-CN" altLang="en-US" sz="1600" dirty="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配置主机的IP地址</a:t>
            </a:r>
          </a:p>
        </p:txBody>
      </p:sp>
      <p:sp>
        <p:nvSpPr>
          <p:cNvPr id="47" name="Line 37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 flipH="1">
            <a:off x="5151755" y="3226118"/>
            <a:ext cx="3175" cy="900112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>
              <a:solidFill>
                <a:srgbClr val="1343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AutoShape 5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941118" y="4910685"/>
            <a:ext cx="2000263" cy="373665"/>
          </a:xfrm>
          <a:prstGeom prst="roundRect">
            <a:avLst>
              <a:gd name="adj" fmla="val 16667"/>
            </a:avLst>
          </a:prstGeom>
          <a:solidFill>
            <a:srgbClr val="FEA01A"/>
          </a:solidFill>
          <a:ln w="1905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>
            <a:lvl1pPr marL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lvl="0" algn="ctr" eaLnBrk="1" hangingPunct="1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路由器配置IP地址</a:t>
            </a:r>
          </a:p>
        </p:txBody>
      </p:sp>
      <p:sp>
        <p:nvSpPr>
          <p:cNvPr id="23" name="Line 36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 rot="16200000">
            <a:off x="3929063" y="857250"/>
            <a:ext cx="0" cy="242887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solidFill>
                <a:srgbClr val="1343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20" name="AutoShape 5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2957513" y="1861646"/>
            <a:ext cx="1971675" cy="373665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6893C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>
            <a:lvl1pPr marL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lvl="0" algn="ctr" eaLnBrk="1" hangingPunct="1">
              <a:buClrTx/>
              <a:buSzTx/>
              <a:buFontTx/>
            </a:pPr>
            <a:r>
              <a:rPr lang="zh-CN" altLang="en-US" sz="1600" dirty="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IP地址概述</a:t>
            </a:r>
          </a:p>
        </p:txBody>
      </p:sp>
      <p:sp>
        <p:nvSpPr>
          <p:cNvPr id="28" name="Line 16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5154613" y="4117975"/>
            <a:ext cx="36036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>
              <a:solidFill>
                <a:srgbClr val="1343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AutoShape 28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466422" y="3959192"/>
            <a:ext cx="2700338" cy="373665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6893C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>
            <a:lvl1pPr marL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lvl="0" algn="ctr" eaLnBrk="1" hangingPunct="1">
              <a:buClrTx/>
              <a:buSzTx/>
              <a:buFontTx/>
            </a:pPr>
            <a:r>
              <a:rPr lang="zh-CN" altLang="en-US" sz="1600" dirty="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测试IP地址</a:t>
            </a:r>
          </a:p>
        </p:txBody>
      </p:sp>
      <p:sp>
        <p:nvSpPr>
          <p:cNvPr id="39" name="Line 16"/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>
            <a:off x="5143500" y="2500313"/>
            <a:ext cx="358775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>
              <a:solidFill>
                <a:srgbClr val="1343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18" name="AutoShape 11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464175" y="2291281"/>
            <a:ext cx="2700338" cy="374571"/>
          </a:xfrm>
          <a:prstGeom prst="roundRect">
            <a:avLst>
              <a:gd name="adj" fmla="val 16667"/>
            </a:avLst>
          </a:prstGeom>
          <a:solidFill>
            <a:srgbClr val="FEA01A"/>
          </a:solidFill>
          <a:ln w="1905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子网掩码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</a:t>
            </a:fld>
            <a:r>
              <a:rPr lang="en-US" altLang="zh-CN" dirty="0"/>
              <a:t>/28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请思考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>
                <a:sym typeface="+mn-ea"/>
              </a:rPr>
              <a:t>既然</a:t>
            </a:r>
            <a:r>
              <a:rPr>
                <a:sym typeface="+mn-ea"/>
              </a:rPr>
              <a:t>MAC地址</a:t>
            </a:r>
            <a:r>
              <a:rPr lang="zh-CN">
                <a:sym typeface="+mn-ea"/>
              </a:rPr>
              <a:t>是全球唯一的物理</a:t>
            </a:r>
            <a:r>
              <a:rPr>
                <a:sym typeface="+mn-ea"/>
              </a:rPr>
              <a:t>地址</a:t>
            </a:r>
            <a:r>
              <a:rPr lang="zh-CN" altLang="en-US"/>
              <a:t>，那么为什么还需要</a:t>
            </a:r>
            <a:r>
              <a:rPr lang="en-US" altLang="zh-CN"/>
              <a:t>IP</a:t>
            </a:r>
            <a:r>
              <a:rPr lang="zh-CN" altLang="en-US"/>
              <a:t>地址？</a:t>
            </a:r>
          </a:p>
          <a:p>
            <a:pPr lvl="1"/>
            <a:endParaRPr lang="zh-CN" altLang="en-US"/>
          </a:p>
        </p:txBody>
      </p:sp>
      <p:pic>
        <p:nvPicPr>
          <p:cNvPr id="7" name="图片 6" descr="摄图网_401538411_问号（企业商用）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9161" t="7210" r="8548" b="6839"/>
          <a:stretch>
            <a:fillRect/>
          </a:stretch>
        </p:blipFill>
        <p:spPr>
          <a:xfrm>
            <a:off x="2844165" y="2780665"/>
            <a:ext cx="3239770" cy="3383915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</a:t>
            </a:fld>
            <a:r>
              <a:rPr lang="en-US" altLang="zh-CN" dirty="0"/>
              <a:t>/28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IP地址概述</a:t>
            </a:r>
            <a:endParaRPr lang="zh-CN" alt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1E7F"/>
                </a:solidFill>
                <a:sym typeface="+mn-ea"/>
              </a:rPr>
              <a:t>IP地址的定义</a:t>
            </a:r>
            <a:endParaRPr lang="zh-CN" altLang="en-US"/>
          </a:p>
          <a:p>
            <a:pPr lvl="1"/>
            <a:r>
              <a:rPr lang="zh-CN" altLang="en-US"/>
              <a:t>IP地址（Internet Protocol Address，网际协议地址）</a:t>
            </a:r>
          </a:p>
          <a:p>
            <a:pPr lvl="1"/>
            <a:r>
              <a:rPr lang="zh-CN" altLang="en-US"/>
              <a:t>标识网络节点的逻辑地址</a:t>
            </a:r>
          </a:p>
          <a:p>
            <a:pPr lvl="1"/>
            <a:r>
              <a:rPr lang="zh-CN" altLang="en-US">
                <a:sym typeface="+mn-ea"/>
              </a:rPr>
              <a:t>为了识别出网络中通信的目标地址，确保主机之间的正常通信</a:t>
            </a:r>
          </a:p>
          <a:p>
            <a:pPr lvl="0"/>
            <a:endParaRPr lang="zh-CN" altLang="en-US" dirty="0">
              <a:sym typeface="+mn-ea"/>
            </a:endParaRPr>
          </a:p>
          <a:p>
            <a:pPr lvl="0"/>
            <a:r>
              <a:rPr lang="zh-CN" altLang="en-US" dirty="0">
                <a:sym typeface="+mn-ea"/>
              </a:rPr>
              <a:t>IP地址格式</a:t>
            </a:r>
          </a:p>
          <a:p>
            <a:pPr lvl="1"/>
            <a:r>
              <a:rPr lang="en-US" altLang="zh-CN"/>
              <a:t>32</a:t>
            </a:r>
            <a:r>
              <a:rPr lang="zh-CN" altLang="en-US"/>
              <a:t>位二进制（</a:t>
            </a:r>
            <a:r>
              <a:rPr lang="en-US" altLang="zh-CN"/>
              <a:t>32bit</a:t>
            </a:r>
            <a:r>
              <a:rPr lang="zh-CN" altLang="en-US"/>
              <a:t>）数</a:t>
            </a:r>
          </a:p>
          <a:p>
            <a:endParaRPr lang="en-US" altLang="zh-CN"/>
          </a:p>
          <a:p>
            <a:endParaRPr lang="zh-CN" altLang="en-US"/>
          </a:p>
          <a:p>
            <a:pPr algn="ctr" eaLnBrk="1" hangingPunct="1">
              <a:spcBef>
                <a:spcPts val="675"/>
              </a:spcBef>
              <a:buClr>
                <a:srgbClr val="9AC9F0"/>
              </a:buClr>
              <a:buSzPct val="85000"/>
              <a:buFont typeface="Wingdings" panose="05000000000000000000" pitchFamily="2" charset="2"/>
              <a:buNone/>
            </a:pPr>
            <a:endParaRPr lang="en-US" altLang="zh-CN"/>
          </a:p>
        </p:txBody>
      </p:sp>
      <p:grpSp>
        <p:nvGrpSpPr>
          <p:cNvPr id="2" name="Group 8"/>
          <p:cNvGrpSpPr/>
          <p:nvPr/>
        </p:nvGrpSpPr>
        <p:grpSpPr bwMode="auto">
          <a:xfrm>
            <a:off x="2987992" y="4716145"/>
            <a:ext cx="4197351" cy="1190625"/>
            <a:chOff x="1869" y="2727"/>
            <a:chExt cx="2644" cy="750"/>
          </a:xfrm>
        </p:grpSpPr>
        <p:sp>
          <p:nvSpPr>
            <p:cNvPr id="192517" name="AutoShape 5"/>
            <p:cNvSpPr>
              <a:spLocks noChangeArrowheads="1"/>
            </p:cNvSpPr>
            <p:nvPr/>
          </p:nvSpPr>
          <p:spPr bwMode="auto">
            <a:xfrm rot="580174">
              <a:off x="3870" y="2769"/>
              <a:ext cx="371" cy="682"/>
            </a:xfrm>
            <a:prstGeom prst="curvedLeftArrow">
              <a:avLst>
                <a:gd name="adj1" fmla="val 37521"/>
                <a:gd name="adj2" fmla="val 75041"/>
                <a:gd name="adj3" fmla="val 33333"/>
              </a:avLst>
            </a:prstGeom>
            <a:gradFill rotWithShape="1">
              <a:gsLst>
                <a:gs pos="0">
                  <a:srgbClr val="3399FF"/>
                </a:gs>
                <a:gs pos="100000">
                  <a:schemeClr val="bg1"/>
                </a:gs>
              </a:gsLst>
              <a:lin ang="5400000" scaled="1"/>
            </a:gradFill>
            <a:ln w="12700" cap="rnd">
              <a:solidFill>
                <a:srgbClr val="3399FF"/>
              </a:solidFill>
              <a:miter lim="800000"/>
            </a:ln>
            <a:effectLst>
              <a:outerShdw dist="71842" dir="2700000" algn="ctr" rotWithShape="0">
                <a:srgbClr val="808080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1270" name="Text Box 6"/>
            <p:cNvSpPr txBox="1">
              <a:spLocks noChangeArrowheads="1"/>
            </p:cNvSpPr>
            <p:nvPr/>
          </p:nvSpPr>
          <p:spPr bwMode="auto">
            <a:xfrm>
              <a:off x="4332" y="2727"/>
              <a:ext cx="181" cy="750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003366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便于记忆</a:t>
              </a:r>
            </a:p>
          </p:txBody>
        </p:sp>
        <p:sp>
          <p:nvSpPr>
            <p:cNvPr id="11271" name="Rectangle 7"/>
            <p:cNvSpPr>
              <a:spLocks noChangeArrowheads="1"/>
            </p:cNvSpPr>
            <p:nvPr/>
          </p:nvSpPr>
          <p:spPr bwMode="auto">
            <a:xfrm>
              <a:off x="1869" y="3150"/>
              <a:ext cx="1610" cy="327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anchorCtr="1">
              <a:spAutoFit/>
            </a:bodyPr>
            <a:lstStyle/>
            <a:p>
              <a:pPr>
                <a:spcBef>
                  <a:spcPct val="20000"/>
                </a:spcBef>
                <a:buClr>
                  <a:srgbClr val="9AC9F0"/>
                </a:buClr>
                <a:buSzPct val="85000"/>
                <a:buFont typeface="Wingdings" panose="05000000000000000000" pitchFamily="2" charset="2"/>
                <a:buNone/>
              </a:pPr>
              <a:r>
                <a:rPr lang="en-US" altLang="zh-CN" sz="2800" dirty="0">
                  <a:solidFill>
                    <a:srgbClr val="003366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210.73.140.6 </a:t>
              </a:r>
            </a:p>
          </p:txBody>
        </p:sp>
      </p:grpSp>
      <p:sp>
        <p:nvSpPr>
          <p:cNvPr id="11" name="AutoShape 16"/>
          <p:cNvSpPr/>
          <p:nvPr>
            <p:custDataLst>
              <p:tags r:id="rId1"/>
            </p:custDataLst>
          </p:nvPr>
        </p:nvSpPr>
        <p:spPr>
          <a:xfrm>
            <a:off x="931545" y="4061460"/>
            <a:ext cx="7092315" cy="555625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19050" cap="flat" cmpd="sng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lvl="2" algn="l" fontAlgn="auto">
              <a:spcBef>
                <a:spcPts val="400"/>
              </a:spcBef>
            </a:pPr>
            <a:r>
              <a:rPr altLang="zh-CN" sz="2400" b="1" dirty="0">
                <a:solidFill>
                  <a:srgbClr val="0077B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solidFill>
                  <a:srgbClr val="001E7F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11010010.01001001.10001100.00000110</a:t>
            </a:r>
            <a:endParaRPr altLang="zh-CN" sz="2400" b="1" dirty="0">
              <a:solidFill>
                <a:srgbClr val="001E7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653020" y="3970655"/>
            <a:ext cx="688975" cy="648335"/>
            <a:chOff x="3011139" y="5284495"/>
            <a:chExt cx="688814" cy="648325"/>
          </a:xfrm>
        </p:grpSpPr>
        <p:pic>
          <p:nvPicPr>
            <p:cNvPr id="4" name="Picture 3" descr="C:\Users\lei.sun.PRD\Desktop\示例.png"/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244" y="5284495"/>
              <a:ext cx="520604" cy="3767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" name="组合 5"/>
            <p:cNvGrpSpPr/>
            <p:nvPr/>
          </p:nvGrpSpPr>
          <p:grpSpPr>
            <a:xfrm>
              <a:off x="3011139" y="5593560"/>
              <a:ext cx="688814" cy="339260"/>
              <a:chOff x="3011139" y="5593560"/>
              <a:chExt cx="688814" cy="339260"/>
            </a:xfrm>
          </p:grpSpPr>
          <p:sp>
            <p:nvSpPr>
              <p:cNvPr id="7" name="矩形 6"/>
              <p:cNvSpPr/>
              <p:nvPr>
                <p:custDataLst>
                  <p:tags r:id="rId3"/>
                </p:custDataLst>
              </p:nvPr>
            </p:nvSpPr>
            <p:spPr>
              <a:xfrm>
                <a:off x="3011139" y="5593562"/>
                <a:ext cx="688814" cy="339258"/>
              </a:xfrm>
              <a:prstGeom prst="rect">
                <a:avLst/>
              </a:prstGeom>
              <a:solidFill>
                <a:srgbClr val="001E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文本框 15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3045235" y="5593560"/>
                <a:ext cx="607939" cy="33855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示例</a:t>
                </a:r>
              </a:p>
            </p:txBody>
          </p:sp>
        </p:grp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</a:t>
            </a:fld>
            <a:r>
              <a:rPr lang="en-US" altLang="zh-CN" dirty="0"/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IP</a:t>
            </a:r>
            <a:r>
              <a:rPr lang="zh-CN" altLang="en-US"/>
              <a:t>地址组成</a:t>
            </a:r>
          </a:p>
          <a:p>
            <a:pPr lvl="1"/>
            <a:r>
              <a:rPr lang="zh-CN" altLang="en-US"/>
              <a:t>网络部分（</a:t>
            </a:r>
            <a:r>
              <a:rPr lang="en-US" altLang="zh-CN"/>
              <a:t>NetID</a:t>
            </a:r>
            <a:r>
              <a:rPr lang="zh-CN" altLang="en-US"/>
              <a:t>）</a:t>
            </a:r>
          </a:p>
          <a:p>
            <a:pPr lvl="2"/>
            <a:r>
              <a:rPr lang="zh-CN" altLang="en-US"/>
              <a:t>用于标识不同的网络</a:t>
            </a:r>
          </a:p>
          <a:p>
            <a:pPr lvl="1"/>
            <a:r>
              <a:rPr lang="zh-CN" altLang="en-US"/>
              <a:t>主机部分（</a:t>
            </a:r>
            <a:r>
              <a:rPr lang="en-US" altLang="zh-CN"/>
              <a:t>HostID</a:t>
            </a:r>
            <a:r>
              <a:rPr lang="zh-CN" altLang="en-US"/>
              <a:t>）</a:t>
            </a:r>
          </a:p>
          <a:p>
            <a:pPr lvl="2"/>
            <a:r>
              <a:rPr lang="zh-CN" altLang="en-US"/>
              <a:t>用于标识在一个网络中特定的主机</a:t>
            </a:r>
            <a:endParaRPr lang="en-US" altLang="zh-CN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IP</a:t>
            </a:r>
            <a:r>
              <a:rPr lang="zh-CN" altLang="en-US"/>
              <a:t>地址概述</a:t>
            </a:r>
            <a:endParaRPr lang="en-US" altLang="zh-CN"/>
          </a:p>
        </p:txBody>
      </p:sp>
      <p:sp>
        <p:nvSpPr>
          <p:cNvPr id="12292" name="Line 5"/>
          <p:cNvSpPr>
            <a:spLocks noChangeShapeType="1"/>
          </p:cNvSpPr>
          <p:nvPr/>
        </p:nvSpPr>
        <p:spPr bwMode="auto">
          <a:xfrm>
            <a:off x="2355395" y="3652298"/>
            <a:ext cx="1476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>
            <a:prstShdw prst="shdw17" dist="17961" dir="2700000">
              <a:srgbClr val="990000">
                <a:alpha val="50000"/>
              </a:srgbClr>
            </a:prstShdw>
          </a:effectLst>
        </p:spPr>
        <p:txBody>
          <a:bodyPr wrap="none" anchor="ctr" anchorCtr="1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293" name="Line 6"/>
          <p:cNvSpPr>
            <a:spLocks noChangeShapeType="1"/>
          </p:cNvSpPr>
          <p:nvPr/>
        </p:nvSpPr>
        <p:spPr bwMode="auto">
          <a:xfrm>
            <a:off x="3036433" y="3645313"/>
            <a:ext cx="0" cy="7556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>
            <a:prstShdw prst="shdw17" dist="17961" dir="2700000">
              <a:srgbClr val="990000">
                <a:alpha val="50000"/>
              </a:srgbClr>
            </a:prstShdw>
          </a:effectLst>
        </p:spPr>
        <p:txBody>
          <a:bodyPr wrap="none" anchor="ctr" anchorCtr="1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296" name="矩形 27"/>
          <p:cNvSpPr>
            <a:spLocks noChangeArrowheads="1"/>
          </p:cNvSpPr>
          <p:nvPr/>
        </p:nvSpPr>
        <p:spPr bwMode="auto">
          <a:xfrm>
            <a:off x="2438898" y="4407948"/>
            <a:ext cx="1198880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网络部分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735070" y="3652298"/>
            <a:ext cx="1198880" cy="1154652"/>
            <a:chOff x="6673" y="5074"/>
            <a:chExt cx="1888" cy="1818"/>
          </a:xfrm>
        </p:grpSpPr>
        <p:sp>
          <p:nvSpPr>
            <p:cNvPr id="12294" name="Line 7"/>
            <p:cNvSpPr>
              <a:spLocks noChangeShapeType="1"/>
            </p:cNvSpPr>
            <p:nvPr/>
          </p:nvSpPr>
          <p:spPr bwMode="auto">
            <a:xfrm>
              <a:off x="6957" y="5074"/>
              <a:ext cx="85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>
              <a:prstShdw prst="shdw17" dist="17961" dir="2700000">
                <a:srgbClr val="990000">
                  <a:alpha val="50000"/>
                </a:srgbClr>
              </a:prstShdw>
            </a:effectLst>
          </p:spPr>
          <p:txBody>
            <a:bodyPr wrap="none" anchor="ctr" anchorCtr="1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2295" name="Line 8"/>
            <p:cNvSpPr>
              <a:spLocks noChangeShapeType="1"/>
            </p:cNvSpPr>
            <p:nvPr/>
          </p:nvSpPr>
          <p:spPr bwMode="auto">
            <a:xfrm>
              <a:off x="7354" y="5074"/>
              <a:ext cx="0" cy="119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>
              <a:prstShdw prst="shdw17" dist="17961" dir="2700000">
                <a:srgbClr val="990000">
                  <a:alpha val="50000"/>
                </a:srgbClr>
              </a:prstShdw>
            </a:effectLst>
          </p:spPr>
          <p:txBody>
            <a:bodyPr wrap="none" anchor="ctr" anchorCtr="1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2297" name="矩形 27"/>
            <p:cNvSpPr>
              <a:spLocks noChangeArrowheads="1"/>
            </p:cNvSpPr>
            <p:nvPr/>
          </p:nvSpPr>
          <p:spPr bwMode="auto">
            <a:xfrm>
              <a:off x="6673" y="6264"/>
              <a:ext cx="1888" cy="62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rgbClr val="FF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主机部分</a:t>
              </a:r>
            </a:p>
          </p:txBody>
        </p:sp>
      </p:grpSp>
      <p:sp>
        <p:nvSpPr>
          <p:cNvPr id="11" name="AutoShape 16"/>
          <p:cNvSpPr/>
          <p:nvPr>
            <p:custDataLst>
              <p:tags r:id="rId1"/>
            </p:custDataLst>
          </p:nvPr>
        </p:nvSpPr>
        <p:spPr>
          <a:xfrm>
            <a:off x="1173480" y="2924175"/>
            <a:ext cx="4191000" cy="57178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19050" cap="flat" cmpd="sng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lvl="2" algn="ctr" fontAlgn="auto">
              <a:spcBef>
                <a:spcPts val="400"/>
              </a:spcBef>
            </a:pPr>
            <a:r>
              <a:rPr altLang="zh-CN" sz="2400" b="1" dirty="0">
                <a:solidFill>
                  <a:srgbClr val="0077B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01E7F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192.168.0.25</a:t>
            </a:r>
          </a:p>
        </p:txBody>
      </p:sp>
      <p:grpSp>
        <p:nvGrpSpPr>
          <p:cNvPr id="61" name="组合 60"/>
          <p:cNvGrpSpPr/>
          <p:nvPr/>
        </p:nvGrpSpPr>
        <p:grpSpPr>
          <a:xfrm>
            <a:off x="4996180" y="2847975"/>
            <a:ext cx="688975" cy="648335"/>
            <a:chOff x="3011139" y="5284495"/>
            <a:chExt cx="688814" cy="648325"/>
          </a:xfrm>
        </p:grpSpPr>
        <p:pic>
          <p:nvPicPr>
            <p:cNvPr id="2051" name="Picture 3" descr="C:\Users\lei.sun.PRD\Desktop\示例.png"/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244" y="5284495"/>
              <a:ext cx="520604" cy="3767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0" name="组合 59"/>
            <p:cNvGrpSpPr/>
            <p:nvPr/>
          </p:nvGrpSpPr>
          <p:grpSpPr>
            <a:xfrm>
              <a:off x="3011139" y="5593560"/>
              <a:ext cx="688814" cy="339260"/>
              <a:chOff x="3011139" y="5593560"/>
              <a:chExt cx="688814" cy="339260"/>
            </a:xfrm>
          </p:grpSpPr>
          <p:sp>
            <p:nvSpPr>
              <p:cNvPr id="64" name="矩形 63"/>
              <p:cNvSpPr/>
              <p:nvPr>
                <p:custDataLst>
                  <p:tags r:id="rId3"/>
                </p:custDataLst>
              </p:nvPr>
            </p:nvSpPr>
            <p:spPr>
              <a:xfrm>
                <a:off x="3011139" y="5593562"/>
                <a:ext cx="688814" cy="339258"/>
              </a:xfrm>
              <a:prstGeom prst="rect">
                <a:avLst/>
              </a:prstGeom>
              <a:solidFill>
                <a:srgbClr val="001E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文本框 15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3045235" y="5593560"/>
                <a:ext cx="607939" cy="33855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示例</a:t>
                </a:r>
              </a:p>
            </p:txBody>
          </p:sp>
        </p:grpSp>
      </p:grpSp>
      <p:sp>
        <p:nvSpPr>
          <p:cNvPr id="10" name="AutoShape 28"/>
          <p:cNvSpPr/>
          <p:nvPr/>
        </p:nvSpPr>
        <p:spPr>
          <a:xfrm>
            <a:off x="1791970" y="5171440"/>
            <a:ext cx="4750435" cy="1005840"/>
          </a:xfrm>
          <a:prstGeom prst="wedgeRectCallout">
            <a:avLst>
              <a:gd name="adj1" fmla="val -24388"/>
              <a:gd name="adj2" fmla="val -78345"/>
            </a:avLst>
          </a:prstGeom>
          <a:noFill/>
          <a:ln w="19050"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E9A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/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由IANA（Internet地址分配机构）统一分配，以保证IP地址的唯一性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</a:t>
            </a:fld>
            <a:r>
              <a:rPr lang="en-US" altLang="zh-CN" dirty="0"/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 bldLvl="0" animBg="1"/>
      <p:bldP spid="12293" grpId="0" bldLvl="0" animBg="1"/>
      <p:bldP spid="12296" grpId="0"/>
      <p:bldP spid="11" grpId="0" animBg="1"/>
      <p:bldP spid="10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0" descr="IP地址分类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1488" y="1879918"/>
            <a:ext cx="5219700" cy="288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IP地址概述</a:t>
            </a:r>
            <a:endParaRPr lang="en-US" altLang="zh-CN"/>
          </a:p>
        </p:txBody>
      </p:sp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地址的分类</a:t>
            </a:r>
            <a:r>
              <a:rPr lang="en-US" altLang="zh-CN">
                <a:sym typeface="+mn-ea"/>
              </a:rPr>
              <a:t>3-1</a:t>
            </a:r>
            <a:endParaRPr lang="en-US" altLang="zh-CN"/>
          </a:p>
          <a:p>
            <a:pPr lvl="1"/>
            <a:r>
              <a:rPr lang="en-US" altLang="zh-CN"/>
              <a:t>IP</a:t>
            </a:r>
            <a:r>
              <a:rPr lang="zh-CN" altLang="en-US"/>
              <a:t>地址分为</a:t>
            </a:r>
            <a:r>
              <a:rPr lang="en-US" altLang="zh-CN"/>
              <a:t>A</a:t>
            </a:r>
            <a:r>
              <a:rPr lang="zh-CN" altLang="en-US"/>
              <a:t>、</a:t>
            </a:r>
            <a:r>
              <a:rPr lang="en-US" altLang="zh-CN"/>
              <a:t>B</a:t>
            </a:r>
            <a:r>
              <a:rPr lang="zh-CN" altLang="en-US"/>
              <a:t>、</a:t>
            </a:r>
            <a:r>
              <a:rPr lang="en-US" altLang="zh-CN"/>
              <a:t>C</a:t>
            </a:r>
            <a:r>
              <a:rPr lang="zh-CN" altLang="en-US"/>
              <a:t>、</a:t>
            </a:r>
            <a:r>
              <a:rPr lang="en-US" altLang="zh-CN"/>
              <a:t>D</a:t>
            </a:r>
            <a:r>
              <a:rPr lang="zh-CN" altLang="en-US"/>
              <a:t>、</a:t>
            </a:r>
            <a:r>
              <a:rPr lang="en-US" altLang="zh-CN"/>
              <a:t>E </a:t>
            </a:r>
            <a:r>
              <a:rPr lang="zh-CN" altLang="en-US"/>
              <a:t>类，每一类有不同的划分规则</a:t>
            </a:r>
          </a:p>
        </p:txBody>
      </p:sp>
      <p:grpSp>
        <p:nvGrpSpPr>
          <p:cNvPr id="2" name="Group 15"/>
          <p:cNvGrpSpPr/>
          <p:nvPr/>
        </p:nvGrpSpPr>
        <p:grpSpPr bwMode="auto">
          <a:xfrm>
            <a:off x="579438" y="2421255"/>
            <a:ext cx="1800225" cy="1506538"/>
            <a:chOff x="1043" y="1706"/>
            <a:chExt cx="1134" cy="949"/>
          </a:xfrm>
        </p:grpSpPr>
        <p:sp>
          <p:nvSpPr>
            <p:cNvPr id="13318" name="Text Box 12"/>
            <p:cNvSpPr txBox="1">
              <a:spLocks noChangeArrowheads="1"/>
            </p:cNvSpPr>
            <p:nvPr/>
          </p:nvSpPr>
          <p:spPr bwMode="auto">
            <a:xfrm>
              <a:off x="1043" y="1706"/>
              <a:ext cx="1065" cy="231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>
              <a:prstShdw prst="shdw17" dist="17961" dir="2700000">
                <a:srgbClr val="1F5C99">
                  <a:alpha val="50000"/>
                </a:srgbClr>
              </a:prstShdw>
            </a:effectLst>
          </p:spPr>
          <p:txBody>
            <a:bodyPr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FF33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1~126</a:t>
              </a:r>
            </a:p>
          </p:txBody>
        </p:sp>
        <p:sp>
          <p:nvSpPr>
            <p:cNvPr id="13319" name="Text Box 13"/>
            <p:cNvSpPr txBox="1">
              <a:spLocks noChangeArrowheads="1"/>
            </p:cNvSpPr>
            <p:nvPr/>
          </p:nvSpPr>
          <p:spPr bwMode="auto">
            <a:xfrm>
              <a:off x="1112" y="2065"/>
              <a:ext cx="1065" cy="231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>
              <a:prstShdw prst="shdw17" dist="17961" dir="2700000">
                <a:srgbClr val="1F5C99">
                  <a:alpha val="50000"/>
                </a:srgbClr>
              </a:prstShdw>
            </a:effectLst>
          </p:spPr>
          <p:txBody>
            <a:bodyPr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FF33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128~191</a:t>
              </a:r>
            </a:p>
          </p:txBody>
        </p:sp>
        <p:sp>
          <p:nvSpPr>
            <p:cNvPr id="13320" name="Text Box 14"/>
            <p:cNvSpPr txBox="1">
              <a:spLocks noChangeArrowheads="1"/>
            </p:cNvSpPr>
            <p:nvPr/>
          </p:nvSpPr>
          <p:spPr bwMode="auto">
            <a:xfrm>
              <a:off x="1111" y="2424"/>
              <a:ext cx="1065" cy="231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>
              <a:prstShdw prst="shdw17" dist="17961" dir="2700000">
                <a:srgbClr val="1F5C99">
                  <a:alpha val="50000"/>
                </a:srgbClr>
              </a:prstShdw>
            </a:effectLst>
          </p:spPr>
          <p:txBody>
            <a:bodyPr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FF33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192~223</a:t>
              </a:r>
            </a:p>
          </p:txBody>
        </p:sp>
      </p:grpSp>
      <p:sp>
        <p:nvSpPr>
          <p:cNvPr id="10" name="AutoShape 28"/>
          <p:cNvSpPr/>
          <p:nvPr/>
        </p:nvSpPr>
        <p:spPr>
          <a:xfrm>
            <a:off x="5993130" y="1868170"/>
            <a:ext cx="2966720" cy="2348865"/>
          </a:xfrm>
          <a:prstGeom prst="wedgeRectCallout">
            <a:avLst>
              <a:gd name="adj1" fmla="val -57662"/>
              <a:gd name="adj2" fmla="val -29237"/>
            </a:avLst>
          </a:prstGeom>
          <a:solidFill>
            <a:srgbClr val="FFE9A3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/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注意啦：</a:t>
            </a:r>
          </a:p>
          <a:p>
            <a:pPr lvl="0" algn="l"/>
            <a:r>
              <a: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127.0.0.1又称为本机回环地址，通常通过在本机上ping此地址来检查TCP/IP协议安装得正确与否。而且凡是以127开头的IP地址都代表本机（广播地址127.255.255.255除外）</a:t>
            </a:r>
          </a:p>
        </p:txBody>
      </p:sp>
      <p:sp>
        <p:nvSpPr>
          <p:cNvPr id="4" name="AutoShape 28"/>
          <p:cNvSpPr/>
          <p:nvPr/>
        </p:nvSpPr>
        <p:spPr>
          <a:xfrm>
            <a:off x="1069340" y="5033645"/>
            <a:ext cx="4552950" cy="1120140"/>
          </a:xfrm>
          <a:prstGeom prst="wedgeRectCallout">
            <a:avLst>
              <a:gd name="adj1" fmla="val -18898"/>
              <a:gd name="adj2" fmla="val -68140"/>
            </a:avLst>
          </a:prstGeom>
          <a:solidFill>
            <a:srgbClr val="FFE9A3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/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注意啦：</a:t>
            </a:r>
          </a:p>
          <a:p>
            <a:pPr lvl="0" algn="l"/>
            <a:r>
              <a: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D类地址是用于组播通信的地址</a:t>
            </a:r>
            <a:r>
              <a:rPr 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E类地址是用于科学研究的保留地址</a:t>
            </a:r>
          </a:p>
          <a:p>
            <a:pPr lvl="0" algn="l"/>
            <a:r>
              <a: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它们都不能在互联网上作为节点地址使用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7</a:t>
            </a:fld>
            <a:r>
              <a:rPr lang="en-US" altLang="zh-CN" dirty="0"/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0" grpId="1" animBg="1"/>
      <p:bldP spid="4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IP地址概述</a:t>
            </a:r>
            <a:endParaRPr lang="en-US" altLang="zh-CN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地址的分类</a:t>
            </a:r>
            <a:r>
              <a:rPr lang="en-US" altLang="zh-CN">
                <a:sym typeface="+mn-ea"/>
              </a:rPr>
              <a:t>3-2</a:t>
            </a:r>
          </a:p>
          <a:p>
            <a:pPr lvl="1"/>
            <a:r>
              <a:rPr lang="en-US" altLang="zh-CN"/>
              <a:t>A</a:t>
            </a:r>
            <a:r>
              <a:rPr lang="zh-CN" altLang="en-US"/>
              <a:t>、</a:t>
            </a:r>
            <a:r>
              <a:rPr lang="en-US" altLang="zh-CN"/>
              <a:t>B</a:t>
            </a:r>
            <a:r>
              <a:rPr lang="zh-CN" altLang="en-US"/>
              <a:t>、</a:t>
            </a:r>
            <a:r>
              <a:rPr lang="en-US" altLang="zh-CN"/>
              <a:t>C </a:t>
            </a:r>
            <a:r>
              <a:rPr lang="zh-CN" altLang="en-US"/>
              <a:t>类</a:t>
            </a:r>
            <a:r>
              <a:rPr lang="en-US" altLang="zh-CN"/>
              <a:t>IP</a:t>
            </a:r>
            <a:r>
              <a:rPr lang="zh-CN" altLang="en-US"/>
              <a:t>地址的组成</a:t>
            </a:r>
          </a:p>
          <a:p>
            <a:pPr lvl="2"/>
            <a:r>
              <a:rPr lang="zh-CN" altLang="en-US"/>
              <a:t>网络部分（</a:t>
            </a:r>
            <a:r>
              <a:rPr lang="en-US" altLang="zh-CN"/>
              <a:t>NETWORK</a:t>
            </a:r>
            <a:r>
              <a:rPr lang="zh-CN" altLang="en-US"/>
              <a:t>）</a:t>
            </a:r>
          </a:p>
          <a:p>
            <a:pPr lvl="2"/>
            <a:r>
              <a:rPr lang="zh-CN" altLang="en-US"/>
              <a:t>主机部分（</a:t>
            </a:r>
            <a:r>
              <a:rPr lang="en-US" altLang="zh-CN"/>
              <a:t>HOST</a:t>
            </a:r>
            <a:r>
              <a:rPr lang="zh-CN" altLang="en-US"/>
              <a:t>）</a:t>
            </a:r>
            <a:endParaRPr lang="en-US" altLang="zh-CN"/>
          </a:p>
        </p:txBody>
      </p:sp>
      <p:sp>
        <p:nvSpPr>
          <p:cNvPr id="14340" name="矩形 58"/>
          <p:cNvSpPr>
            <a:spLocks noChangeArrowheads="1"/>
          </p:cNvSpPr>
          <p:nvPr/>
        </p:nvSpPr>
        <p:spPr bwMode="auto">
          <a:xfrm>
            <a:off x="1213803" y="2562225"/>
            <a:ext cx="6715125" cy="2861310"/>
          </a:xfrm>
          <a:prstGeom prst="rect">
            <a:avLst/>
          </a:prstGeom>
          <a:solidFill>
            <a:srgbClr val="F9F8BE"/>
          </a:solidFill>
          <a:ln w="19050" cap="flat" cmpd="sng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endParaRPr lang="en-US" altLang="zh-CN" b="1" dirty="0">
              <a:solidFill>
                <a:srgbClr val="008CD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b="1" dirty="0">
              <a:solidFill>
                <a:srgbClr val="008CD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b="1" dirty="0">
              <a:solidFill>
                <a:srgbClr val="008CD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b="1" dirty="0">
              <a:solidFill>
                <a:srgbClr val="008CD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b="1" dirty="0">
              <a:solidFill>
                <a:srgbClr val="008CD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b="1" dirty="0">
              <a:solidFill>
                <a:srgbClr val="008CD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b="1" dirty="0">
              <a:solidFill>
                <a:srgbClr val="008CD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b="1" dirty="0">
              <a:solidFill>
                <a:srgbClr val="008CD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b="1" dirty="0">
              <a:solidFill>
                <a:srgbClr val="008CD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b="1" dirty="0">
              <a:solidFill>
                <a:srgbClr val="008CD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2" name="组合 55"/>
          <p:cNvGrpSpPr/>
          <p:nvPr/>
        </p:nvGrpSpPr>
        <p:grpSpPr bwMode="auto">
          <a:xfrm>
            <a:off x="1428115" y="2776538"/>
            <a:ext cx="6288088" cy="2357437"/>
            <a:chOff x="1357290" y="2714620"/>
            <a:chExt cx="6288132" cy="2357454"/>
          </a:xfrm>
        </p:grpSpPr>
        <p:sp>
          <p:nvSpPr>
            <p:cNvPr id="14342" name="矩形 5"/>
            <p:cNvSpPr>
              <a:spLocks noChangeArrowheads="1"/>
            </p:cNvSpPr>
            <p:nvPr/>
          </p:nvSpPr>
          <p:spPr bwMode="auto">
            <a:xfrm>
              <a:off x="1357290" y="3143248"/>
              <a:ext cx="1571636" cy="369332"/>
            </a:xfrm>
            <a:prstGeom prst="rect">
              <a:avLst/>
            </a:prstGeom>
            <a:gradFill rotWithShape="1">
              <a:gsLst>
                <a:gs pos="0">
                  <a:srgbClr val="92D050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95250" algn="ctr"/>
              <a:r>
                <a:rPr lang="en-US" altLang="zh-CN" b="1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NETWORK</a:t>
              </a:r>
              <a:endParaRPr lang="zh-CN" altLang="en-US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4343" name="矩形 6"/>
            <p:cNvSpPr>
              <a:spLocks noChangeArrowheads="1"/>
            </p:cNvSpPr>
            <p:nvPr/>
          </p:nvSpPr>
          <p:spPr bwMode="auto">
            <a:xfrm>
              <a:off x="2928926" y="3143248"/>
              <a:ext cx="1571636" cy="369332"/>
            </a:xfrm>
            <a:prstGeom prst="rect">
              <a:avLst/>
            </a:prstGeom>
            <a:gradFill rotWithShape="1">
              <a:gsLst>
                <a:gs pos="0">
                  <a:srgbClr val="FFC000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95250" algn="ctr"/>
              <a:r>
                <a:rPr lang="en-US" altLang="zh-CN" b="1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HOST</a:t>
              </a:r>
              <a:endParaRPr lang="zh-CN" altLang="en-US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4344" name="矩形 7"/>
            <p:cNvSpPr>
              <a:spLocks noChangeArrowheads="1"/>
            </p:cNvSpPr>
            <p:nvPr/>
          </p:nvSpPr>
          <p:spPr bwMode="auto">
            <a:xfrm>
              <a:off x="4500562" y="3143248"/>
              <a:ext cx="1571636" cy="369332"/>
            </a:xfrm>
            <a:prstGeom prst="rect">
              <a:avLst/>
            </a:prstGeom>
            <a:gradFill rotWithShape="1">
              <a:gsLst>
                <a:gs pos="0">
                  <a:srgbClr val="FFC000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95250" algn="ctr"/>
              <a:r>
                <a:rPr lang="en-US" altLang="zh-CN" b="1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HOST</a:t>
              </a:r>
              <a:endParaRPr lang="zh-CN" altLang="en-US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4345" name="矩形 8"/>
            <p:cNvSpPr>
              <a:spLocks noChangeArrowheads="1"/>
            </p:cNvSpPr>
            <p:nvPr/>
          </p:nvSpPr>
          <p:spPr bwMode="auto">
            <a:xfrm>
              <a:off x="6072198" y="3143248"/>
              <a:ext cx="1571636" cy="369332"/>
            </a:xfrm>
            <a:prstGeom prst="rect">
              <a:avLst/>
            </a:prstGeom>
            <a:gradFill rotWithShape="1">
              <a:gsLst>
                <a:gs pos="0">
                  <a:srgbClr val="FFC000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95250" algn="ctr"/>
              <a:r>
                <a:rPr lang="en-US" altLang="zh-CN" b="1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HOST</a:t>
              </a:r>
              <a:endParaRPr lang="zh-CN" altLang="en-US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4346" name="矩形 10"/>
            <p:cNvSpPr>
              <a:spLocks noChangeArrowheads="1"/>
            </p:cNvSpPr>
            <p:nvPr/>
          </p:nvSpPr>
          <p:spPr bwMode="auto">
            <a:xfrm>
              <a:off x="1357290" y="3916924"/>
              <a:ext cx="1571636" cy="369332"/>
            </a:xfrm>
            <a:prstGeom prst="rect">
              <a:avLst/>
            </a:prstGeom>
            <a:gradFill rotWithShape="1">
              <a:gsLst>
                <a:gs pos="0">
                  <a:srgbClr val="92D050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95250" algn="ctr"/>
              <a:r>
                <a:rPr lang="en-US" altLang="zh-CN" b="1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NETWORK</a:t>
              </a:r>
              <a:endParaRPr lang="zh-CN" altLang="en-US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4347" name="矩形 12"/>
            <p:cNvSpPr>
              <a:spLocks noChangeArrowheads="1"/>
            </p:cNvSpPr>
            <p:nvPr/>
          </p:nvSpPr>
          <p:spPr bwMode="auto">
            <a:xfrm>
              <a:off x="4500562" y="3916924"/>
              <a:ext cx="1571636" cy="369332"/>
            </a:xfrm>
            <a:prstGeom prst="rect">
              <a:avLst/>
            </a:prstGeom>
            <a:gradFill rotWithShape="1">
              <a:gsLst>
                <a:gs pos="0">
                  <a:srgbClr val="FFC000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95250" algn="ctr"/>
              <a:r>
                <a:rPr lang="en-US" altLang="zh-CN" b="1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HOST</a:t>
              </a:r>
              <a:endParaRPr lang="zh-CN" altLang="en-US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4348" name="矩形 13"/>
            <p:cNvSpPr>
              <a:spLocks noChangeArrowheads="1"/>
            </p:cNvSpPr>
            <p:nvPr/>
          </p:nvSpPr>
          <p:spPr bwMode="auto">
            <a:xfrm>
              <a:off x="6072198" y="3916924"/>
              <a:ext cx="1571636" cy="369332"/>
            </a:xfrm>
            <a:prstGeom prst="rect">
              <a:avLst/>
            </a:prstGeom>
            <a:gradFill rotWithShape="1">
              <a:gsLst>
                <a:gs pos="0">
                  <a:srgbClr val="FFC000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95250" algn="ctr"/>
              <a:r>
                <a:rPr lang="en-US" altLang="zh-CN" b="1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HOST</a:t>
              </a:r>
              <a:endParaRPr lang="zh-CN" altLang="en-US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4349" name="矩形 14"/>
            <p:cNvSpPr>
              <a:spLocks noChangeArrowheads="1"/>
            </p:cNvSpPr>
            <p:nvPr/>
          </p:nvSpPr>
          <p:spPr bwMode="auto">
            <a:xfrm>
              <a:off x="2928926" y="3916924"/>
              <a:ext cx="1571636" cy="369332"/>
            </a:xfrm>
            <a:prstGeom prst="rect">
              <a:avLst/>
            </a:prstGeom>
            <a:gradFill rotWithShape="1">
              <a:gsLst>
                <a:gs pos="0">
                  <a:srgbClr val="92D050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95250" algn="ctr"/>
              <a:r>
                <a:rPr lang="en-US" altLang="zh-CN" b="1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NETWORK</a:t>
              </a:r>
              <a:endParaRPr lang="zh-CN" altLang="en-US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4350" name="矩形 15"/>
            <p:cNvSpPr>
              <a:spLocks noChangeArrowheads="1"/>
            </p:cNvSpPr>
            <p:nvPr/>
          </p:nvSpPr>
          <p:spPr bwMode="auto">
            <a:xfrm>
              <a:off x="1357290" y="4702742"/>
              <a:ext cx="1571636" cy="369332"/>
            </a:xfrm>
            <a:prstGeom prst="rect">
              <a:avLst/>
            </a:prstGeom>
            <a:gradFill rotWithShape="1">
              <a:gsLst>
                <a:gs pos="0">
                  <a:srgbClr val="92D050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95250" algn="ctr"/>
              <a:r>
                <a:rPr lang="en-US" altLang="zh-CN" b="1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NETWORK</a:t>
              </a:r>
              <a:endParaRPr lang="zh-CN" altLang="en-US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4351" name="矩形 17"/>
            <p:cNvSpPr>
              <a:spLocks noChangeArrowheads="1"/>
            </p:cNvSpPr>
            <p:nvPr/>
          </p:nvSpPr>
          <p:spPr bwMode="auto">
            <a:xfrm>
              <a:off x="6072198" y="4702742"/>
              <a:ext cx="1571636" cy="369332"/>
            </a:xfrm>
            <a:prstGeom prst="rect">
              <a:avLst/>
            </a:prstGeom>
            <a:gradFill rotWithShape="1">
              <a:gsLst>
                <a:gs pos="0">
                  <a:srgbClr val="FFC000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95250" algn="ctr"/>
              <a:r>
                <a:rPr lang="en-US" altLang="zh-CN" b="1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HOST</a:t>
              </a:r>
              <a:endParaRPr lang="zh-CN" altLang="en-US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4352" name="矩形 18"/>
            <p:cNvSpPr>
              <a:spLocks noChangeArrowheads="1"/>
            </p:cNvSpPr>
            <p:nvPr/>
          </p:nvSpPr>
          <p:spPr bwMode="auto">
            <a:xfrm>
              <a:off x="2928926" y="4702742"/>
              <a:ext cx="1571636" cy="369332"/>
            </a:xfrm>
            <a:prstGeom prst="rect">
              <a:avLst/>
            </a:prstGeom>
            <a:gradFill rotWithShape="1">
              <a:gsLst>
                <a:gs pos="0">
                  <a:srgbClr val="92D050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95250" algn="ctr"/>
              <a:r>
                <a:rPr lang="en-US" altLang="zh-CN" b="1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NETWORK</a:t>
              </a:r>
              <a:endParaRPr lang="zh-CN" altLang="en-US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4353" name="矩形 19"/>
            <p:cNvSpPr>
              <a:spLocks noChangeArrowheads="1"/>
            </p:cNvSpPr>
            <p:nvPr/>
          </p:nvSpPr>
          <p:spPr bwMode="auto">
            <a:xfrm>
              <a:off x="4500562" y="4702742"/>
              <a:ext cx="1571636" cy="369332"/>
            </a:xfrm>
            <a:prstGeom prst="rect">
              <a:avLst/>
            </a:prstGeom>
            <a:gradFill rotWithShape="1">
              <a:gsLst>
                <a:gs pos="0">
                  <a:srgbClr val="92D050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008080"/>
              </a:solidFill>
              <a:round/>
            </a:ln>
          </p:spPr>
          <p:txBody>
            <a:bodyPr anchor="ctr">
              <a:spAutoFit/>
            </a:bodyPr>
            <a:lstStyle/>
            <a:p>
              <a:pPr marL="95250" algn="ctr"/>
              <a:r>
                <a:rPr lang="en-US" altLang="zh-CN" b="1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NETWORK</a:t>
              </a:r>
              <a:endParaRPr lang="zh-CN" altLang="en-US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4354" name="直接连接符 21"/>
            <p:cNvCxnSpPr>
              <a:cxnSpLocks noChangeShapeType="1"/>
            </p:cNvCxnSpPr>
            <p:nvPr/>
          </p:nvCxnSpPr>
          <p:spPr bwMode="auto">
            <a:xfrm rot="5400000">
              <a:off x="5857884" y="4500570"/>
              <a:ext cx="428628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</a:ln>
          </p:spPr>
        </p:cxnSp>
        <p:cxnSp>
          <p:nvCxnSpPr>
            <p:cNvPr id="14355" name="直接连接符 23"/>
            <p:cNvCxnSpPr>
              <a:cxnSpLocks noChangeShapeType="1"/>
            </p:cNvCxnSpPr>
            <p:nvPr/>
          </p:nvCxnSpPr>
          <p:spPr bwMode="auto">
            <a:xfrm rot="5400000">
              <a:off x="7430314" y="4499776"/>
              <a:ext cx="428628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</a:ln>
          </p:spPr>
        </p:cxnSp>
        <p:cxnSp>
          <p:nvCxnSpPr>
            <p:cNvPr id="14356" name="直接连接符 24"/>
            <p:cNvCxnSpPr>
              <a:cxnSpLocks noChangeShapeType="1"/>
            </p:cNvCxnSpPr>
            <p:nvPr/>
          </p:nvCxnSpPr>
          <p:spPr bwMode="auto">
            <a:xfrm rot="5400000">
              <a:off x="7430314" y="3713958"/>
              <a:ext cx="428628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</a:ln>
          </p:spPr>
        </p:cxnSp>
        <p:cxnSp>
          <p:nvCxnSpPr>
            <p:cNvPr id="14357" name="直接连接符 25"/>
            <p:cNvCxnSpPr>
              <a:cxnSpLocks noChangeShapeType="1"/>
            </p:cNvCxnSpPr>
            <p:nvPr/>
          </p:nvCxnSpPr>
          <p:spPr bwMode="auto">
            <a:xfrm rot="5400000">
              <a:off x="7430314" y="2928140"/>
              <a:ext cx="428628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</a:ln>
          </p:spPr>
        </p:cxnSp>
        <p:cxnSp>
          <p:nvCxnSpPr>
            <p:cNvPr id="14358" name="直接连接符 26"/>
            <p:cNvCxnSpPr>
              <a:cxnSpLocks noChangeShapeType="1"/>
            </p:cNvCxnSpPr>
            <p:nvPr/>
          </p:nvCxnSpPr>
          <p:spPr bwMode="auto">
            <a:xfrm rot="5400000">
              <a:off x="2715406" y="2928140"/>
              <a:ext cx="428628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</a:ln>
          </p:spPr>
        </p:cxnSp>
        <p:cxnSp>
          <p:nvCxnSpPr>
            <p:cNvPr id="14359" name="直接连接符 27"/>
            <p:cNvCxnSpPr>
              <a:cxnSpLocks noChangeShapeType="1"/>
            </p:cNvCxnSpPr>
            <p:nvPr/>
          </p:nvCxnSpPr>
          <p:spPr bwMode="auto">
            <a:xfrm rot="5400000">
              <a:off x="4287042" y="3713958"/>
              <a:ext cx="428628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</a:ln>
          </p:spPr>
        </p:cxnSp>
        <p:cxnSp>
          <p:nvCxnSpPr>
            <p:cNvPr id="14360" name="直接箭头连接符 30"/>
            <p:cNvCxnSpPr>
              <a:cxnSpLocks noChangeShapeType="1"/>
            </p:cNvCxnSpPr>
            <p:nvPr/>
          </p:nvCxnSpPr>
          <p:spPr bwMode="auto">
            <a:xfrm>
              <a:off x="6643702" y="3714752"/>
              <a:ext cx="857256" cy="1588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tailEnd type="arrow" w="med" len="med"/>
            </a:ln>
          </p:spPr>
        </p:cxnSp>
        <p:cxnSp>
          <p:nvCxnSpPr>
            <p:cNvPr id="14361" name="直接箭头连接符 31"/>
            <p:cNvCxnSpPr>
              <a:cxnSpLocks noChangeShapeType="1"/>
            </p:cNvCxnSpPr>
            <p:nvPr/>
          </p:nvCxnSpPr>
          <p:spPr bwMode="auto">
            <a:xfrm>
              <a:off x="7143768" y="4500570"/>
              <a:ext cx="357190" cy="1588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tailEnd type="arrow" w="med" len="med"/>
            </a:ln>
          </p:spPr>
        </p:cxnSp>
        <p:cxnSp>
          <p:nvCxnSpPr>
            <p:cNvPr id="14362" name="直接箭头连接符 35"/>
            <p:cNvCxnSpPr>
              <a:cxnSpLocks noChangeShapeType="1"/>
            </p:cNvCxnSpPr>
            <p:nvPr/>
          </p:nvCxnSpPr>
          <p:spPr bwMode="auto">
            <a:xfrm rot="10800000">
              <a:off x="3143240" y="2927345"/>
              <a:ext cx="1571636" cy="1588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tailEnd type="arrow" w="med" len="med"/>
            </a:ln>
          </p:spPr>
        </p:cxnSp>
        <p:sp>
          <p:nvSpPr>
            <p:cNvPr id="14363" name="TextBox 41"/>
            <p:cNvSpPr txBox="1">
              <a:spLocks noChangeArrowheads="1"/>
            </p:cNvSpPr>
            <p:nvPr/>
          </p:nvSpPr>
          <p:spPr bwMode="auto">
            <a:xfrm>
              <a:off x="1357290" y="2714620"/>
              <a:ext cx="1357322" cy="3693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Class  A</a:t>
              </a:r>
              <a:endParaRPr lang="zh-CN" altLang="en-US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4364" name="直接箭头连接符 45"/>
            <p:cNvCxnSpPr>
              <a:cxnSpLocks noChangeShapeType="1"/>
            </p:cNvCxnSpPr>
            <p:nvPr/>
          </p:nvCxnSpPr>
          <p:spPr bwMode="auto">
            <a:xfrm>
              <a:off x="5929322" y="2928934"/>
              <a:ext cx="1571636" cy="1588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tailEnd type="arrow" w="med" len="med"/>
            </a:ln>
          </p:spPr>
        </p:cxnSp>
        <p:sp>
          <p:nvSpPr>
            <p:cNvPr id="14365" name="TextBox 47"/>
            <p:cNvSpPr txBox="1">
              <a:spLocks noChangeArrowheads="1"/>
            </p:cNvSpPr>
            <p:nvPr/>
          </p:nvSpPr>
          <p:spPr bwMode="auto">
            <a:xfrm>
              <a:off x="5643570" y="3559734"/>
              <a:ext cx="928694" cy="3693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FF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16bits</a:t>
              </a:r>
              <a:endPara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4366" name="直接箭头连接符 49"/>
            <p:cNvCxnSpPr>
              <a:cxnSpLocks noChangeShapeType="1"/>
            </p:cNvCxnSpPr>
            <p:nvPr/>
          </p:nvCxnSpPr>
          <p:spPr bwMode="auto">
            <a:xfrm rot="10800000">
              <a:off x="4572000" y="3714752"/>
              <a:ext cx="1000132" cy="1588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tailEnd type="arrow" w="med" len="med"/>
            </a:ln>
          </p:spPr>
        </p:cxnSp>
        <p:sp>
          <p:nvSpPr>
            <p:cNvPr id="14367" name="TextBox 52"/>
            <p:cNvSpPr txBox="1">
              <a:spLocks noChangeArrowheads="1"/>
            </p:cNvSpPr>
            <p:nvPr/>
          </p:nvSpPr>
          <p:spPr bwMode="auto">
            <a:xfrm>
              <a:off x="6429388" y="4345552"/>
              <a:ext cx="928694" cy="3693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FF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8bits</a:t>
              </a:r>
              <a:endPara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4368" name="直接箭头连接符 53"/>
            <p:cNvCxnSpPr>
              <a:cxnSpLocks noChangeShapeType="1"/>
            </p:cNvCxnSpPr>
            <p:nvPr/>
          </p:nvCxnSpPr>
          <p:spPr bwMode="auto">
            <a:xfrm rot="10800000">
              <a:off x="6072199" y="4500570"/>
              <a:ext cx="357190" cy="1588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tailEnd type="arrow" w="med" len="med"/>
            </a:ln>
          </p:spPr>
        </p:cxnSp>
        <p:sp>
          <p:nvSpPr>
            <p:cNvPr id="14369" name="TextBox 56"/>
            <p:cNvSpPr txBox="1">
              <a:spLocks noChangeArrowheads="1"/>
            </p:cNvSpPr>
            <p:nvPr/>
          </p:nvSpPr>
          <p:spPr bwMode="auto">
            <a:xfrm>
              <a:off x="1357290" y="3500438"/>
              <a:ext cx="1357322" cy="3693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Class  B</a:t>
              </a:r>
              <a:endParaRPr lang="zh-CN" altLang="en-US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4370" name="TextBox 57"/>
            <p:cNvSpPr txBox="1">
              <a:spLocks noChangeArrowheads="1"/>
            </p:cNvSpPr>
            <p:nvPr/>
          </p:nvSpPr>
          <p:spPr bwMode="auto">
            <a:xfrm>
              <a:off x="1357290" y="4286256"/>
              <a:ext cx="1357322" cy="3693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Class  C</a:t>
              </a:r>
              <a:endParaRPr lang="zh-CN" altLang="en-US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4371" name="TextBox 59"/>
            <p:cNvSpPr txBox="1">
              <a:spLocks noChangeArrowheads="1"/>
            </p:cNvSpPr>
            <p:nvPr/>
          </p:nvSpPr>
          <p:spPr bwMode="auto">
            <a:xfrm>
              <a:off x="4857752" y="2714620"/>
              <a:ext cx="928694" cy="3693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FF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24bits</a:t>
              </a:r>
              <a:endPara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8</a:t>
            </a:fld>
            <a:r>
              <a:rPr lang="en-US" altLang="zh-CN" dirty="0"/>
              <a:t>/28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IP地址概述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IP</a:t>
            </a:r>
            <a:r>
              <a:rPr lang="zh-CN" altLang="en-US"/>
              <a:t>地址的分类</a:t>
            </a:r>
            <a:r>
              <a:rPr lang="en-US" altLang="zh-CN"/>
              <a:t>3-3</a:t>
            </a:r>
          </a:p>
          <a:p>
            <a:pPr lvl="1"/>
            <a:r>
              <a:rPr lang="zh-CN" altLang="en-US"/>
              <a:t>私有地址</a:t>
            </a:r>
          </a:p>
          <a:p>
            <a:pPr lvl="2"/>
            <a:r>
              <a:rPr lang="zh-CN" altLang="en-US"/>
              <a:t>满足企业用户在内部网络中使用的需求 </a:t>
            </a:r>
          </a:p>
          <a:p>
            <a:pPr lvl="2"/>
            <a:r>
              <a:rPr lang="zh-CN" altLang="en-US"/>
              <a:t>私有地址不能在</a:t>
            </a:r>
            <a:r>
              <a:rPr lang="en-US" altLang="zh-CN"/>
              <a:t>Internet</a:t>
            </a:r>
            <a:r>
              <a:rPr lang="zh-CN" altLang="en-US"/>
              <a:t>上使用 </a:t>
            </a:r>
          </a:p>
          <a:p>
            <a:pPr lvl="2"/>
            <a:r>
              <a:rPr lang="zh-CN" altLang="en-US"/>
              <a:t>私有地址包括</a:t>
            </a:r>
            <a:r>
              <a:rPr lang="en-US" altLang="zh-CN"/>
              <a:t>3</a:t>
            </a:r>
            <a:r>
              <a:rPr lang="zh-CN" altLang="en-US"/>
              <a:t>组 </a:t>
            </a:r>
          </a:p>
          <a:p>
            <a:pPr lvl="3"/>
            <a:r>
              <a:rPr lang="en-US" altLang="zh-CN"/>
              <a:t>A</a:t>
            </a:r>
            <a:r>
              <a:rPr lang="zh-CN" altLang="en-US"/>
              <a:t>类：</a:t>
            </a:r>
            <a:r>
              <a:rPr lang="en-US" altLang="zh-CN"/>
              <a:t>10.0.0.0~10.255.255.255</a:t>
            </a:r>
          </a:p>
          <a:p>
            <a:pPr lvl="3"/>
            <a:r>
              <a:rPr lang="en-US" altLang="zh-CN"/>
              <a:t>B</a:t>
            </a:r>
            <a:r>
              <a:rPr lang="zh-CN" altLang="en-US"/>
              <a:t>类：</a:t>
            </a:r>
            <a:r>
              <a:rPr lang="en-US" altLang="zh-CN"/>
              <a:t>172.16.0.0~172.31.255.255 </a:t>
            </a:r>
          </a:p>
          <a:p>
            <a:pPr lvl="3"/>
            <a:r>
              <a:rPr lang="en-US" altLang="zh-CN"/>
              <a:t>C</a:t>
            </a:r>
            <a:r>
              <a:rPr lang="zh-CN" altLang="en-US"/>
              <a:t>类：</a:t>
            </a:r>
            <a:r>
              <a:rPr lang="en-US" altLang="zh-CN"/>
              <a:t>192.168.0.0~192.168.255.255 </a:t>
            </a:r>
          </a:p>
          <a:p>
            <a:pPr lvl="1"/>
            <a:endParaRPr lang="en-US" altLang="zh-CN"/>
          </a:p>
          <a:p>
            <a:pPr eaLnBrk="1" hangingPunct="1">
              <a:buClr>
                <a:srgbClr val="9AC9F0"/>
              </a:buClr>
              <a:buSzPct val="85000"/>
              <a:buFont typeface="Wingdings" panose="05000000000000000000" pitchFamily="2" charset="2"/>
              <a:buNone/>
            </a:pP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9</a:t>
            </a:fld>
            <a:r>
              <a:rPr lang="en-US" altLang="zh-CN" dirty="0"/>
              <a:t>/28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IP地址概述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IPv4与IPv6</a:t>
            </a:r>
          </a:p>
          <a:p>
            <a:pPr lvl="1"/>
            <a:r>
              <a:rPr lang="zh-CN" altLang="en-US"/>
              <a:t>IPv4地址</a:t>
            </a:r>
          </a:p>
          <a:p>
            <a:pPr lvl="2"/>
            <a:r>
              <a:rPr lang="zh-CN" altLang="en-US"/>
              <a:t>长度为32位，可用IP地址数量约2</a:t>
            </a:r>
            <a:r>
              <a:rPr lang="zh-CN" altLang="en-US" baseline="30000">
                <a:solidFill>
                  <a:schemeClr val="tx1">
                    <a:lumMod val="85000"/>
                    <a:lumOff val="15000"/>
                  </a:schemeClr>
                </a:solidFill>
                <a:uFillTx/>
              </a:rPr>
              <a:t>32</a:t>
            </a:r>
            <a:r>
              <a:rPr lang="zh-CN" altLang="en-US"/>
              <a:t>个（即43亿个）</a:t>
            </a:r>
          </a:p>
          <a:p>
            <a:pPr lvl="2"/>
            <a:r>
              <a:rPr lang="zh-CN" altLang="en-US"/>
              <a:t>2011年2月，全球公网 IPv4 地址已分配完毕</a:t>
            </a:r>
          </a:p>
          <a:p>
            <a:pPr lvl="2"/>
            <a:r>
              <a:rPr lang="zh-CN" altLang="en-US"/>
              <a:t>除地址匮乏外，IPv4还存在安全支持和服务质量保障等问题</a:t>
            </a:r>
          </a:p>
          <a:p>
            <a:pPr lvl="1"/>
            <a:endParaRPr lang="zh-CN" altLang="en-US"/>
          </a:p>
          <a:p>
            <a:pPr lvl="1"/>
            <a:r>
              <a:rPr lang="zh-CN" altLang="en-US"/>
              <a:t>IPv6地址</a:t>
            </a:r>
          </a:p>
          <a:p>
            <a:pPr lvl="2"/>
            <a:r>
              <a:rPr lang="zh-CN" altLang="en-US"/>
              <a:t>长度为128位，是IPv4地址长度的4倍</a:t>
            </a:r>
          </a:p>
          <a:p>
            <a:pPr lvl="2"/>
            <a:r>
              <a:rPr lang="zh-CN" altLang="en-US">
                <a:sym typeface="+mn-ea"/>
              </a:rPr>
              <a:t>IPv6采用</a:t>
            </a:r>
            <a:r>
              <a:rPr lang="zh-CN" altLang="en-US"/>
              <a:t>冒分十六进制的表示格式（X:X:X:X:X:X:X:X）</a:t>
            </a:r>
          </a:p>
          <a:p>
            <a:pPr lvl="3"/>
            <a:r>
              <a:rPr lang="zh-CN" altLang="en-US"/>
              <a:t>长度为128位的IPv6地址分为8组</a:t>
            </a:r>
          </a:p>
          <a:p>
            <a:pPr lvl="3"/>
            <a:r>
              <a:rPr lang="zh-CN" altLang="en-US"/>
              <a:t>每组由4个十六进制数组成</a:t>
            </a:r>
          </a:p>
          <a:p>
            <a:pPr lvl="3"/>
            <a:r>
              <a:rPr lang="zh-CN" altLang="en-US"/>
              <a:t>每组之间采用“:”进行分割</a:t>
            </a:r>
          </a:p>
          <a:p>
            <a:pPr lvl="3"/>
            <a:endParaRPr lang="zh-CN" altLang="en-US"/>
          </a:p>
        </p:txBody>
      </p:sp>
      <p:sp>
        <p:nvSpPr>
          <p:cNvPr id="11" name="AutoShape 16"/>
          <p:cNvSpPr/>
          <p:nvPr>
            <p:custDataLst>
              <p:tags r:id="rId1"/>
            </p:custDataLst>
          </p:nvPr>
        </p:nvSpPr>
        <p:spPr>
          <a:xfrm>
            <a:off x="899795" y="5184140"/>
            <a:ext cx="7092315" cy="510617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19050" cap="flat" cmpd="sng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lvl="2" algn="l" fontAlgn="auto">
              <a:spcBef>
                <a:spcPts val="400"/>
              </a:spcBef>
            </a:pPr>
            <a:r>
              <a:rPr altLang="zh-CN" sz="2400" b="1" dirty="0">
                <a:solidFill>
                  <a:srgbClr val="0077B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solidFill>
                  <a:srgbClr val="001E7F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ABCD:EF01:0005:0089:0000:0000:2345:6789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7653020" y="5046980"/>
            <a:ext cx="688975" cy="648335"/>
            <a:chOff x="3011139" y="5284495"/>
            <a:chExt cx="688814" cy="648325"/>
          </a:xfrm>
        </p:grpSpPr>
        <p:pic>
          <p:nvPicPr>
            <p:cNvPr id="6" name="Picture 3" descr="C:\Users\lei.sun.PRD\Desktop\示例.png"/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244" y="5284495"/>
              <a:ext cx="520604" cy="3767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" name="组合 6"/>
            <p:cNvGrpSpPr/>
            <p:nvPr/>
          </p:nvGrpSpPr>
          <p:grpSpPr>
            <a:xfrm>
              <a:off x="3011139" y="5593560"/>
              <a:ext cx="688814" cy="339260"/>
              <a:chOff x="3011139" y="5593560"/>
              <a:chExt cx="688814" cy="339260"/>
            </a:xfrm>
          </p:grpSpPr>
          <p:sp>
            <p:nvSpPr>
              <p:cNvPr id="8" name="矩形 7"/>
              <p:cNvSpPr/>
              <p:nvPr>
                <p:custDataLst>
                  <p:tags r:id="rId3"/>
                </p:custDataLst>
              </p:nvPr>
            </p:nvSpPr>
            <p:spPr>
              <a:xfrm>
                <a:off x="3011139" y="5593562"/>
                <a:ext cx="688814" cy="339258"/>
              </a:xfrm>
              <a:prstGeom prst="rect">
                <a:avLst/>
              </a:prstGeom>
              <a:solidFill>
                <a:srgbClr val="001E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文本框 15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3045235" y="5593560"/>
                <a:ext cx="607939" cy="33855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示例</a:t>
                </a:r>
              </a:p>
            </p:txBody>
          </p:sp>
        </p:grpSp>
      </p:grp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10</a:t>
            </a:fld>
            <a:r>
              <a:rPr lang="en-US" altLang="zh-CN" dirty="0"/>
              <a:t>/28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IP地址概述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不同主机之间通信的情况</a:t>
            </a:r>
          </a:p>
          <a:p>
            <a:pPr lvl="1"/>
            <a:r>
              <a:rPr lang="zh-CN" altLang="en-US"/>
              <a:t>同一个网段中两台主机之间相互通信，主机将数据直接发送给另一台主机</a:t>
            </a:r>
          </a:p>
          <a:p>
            <a:pPr lvl="1"/>
            <a:r>
              <a:rPr lang="zh-CN" altLang="en-US"/>
              <a:t>不同网段中两台主机之间相互通信，主机将数据发送给网关，由网关再进行转发</a:t>
            </a:r>
          </a:p>
          <a:p>
            <a:pPr lvl="0"/>
            <a:endParaRPr lang="zh-CN" altLang="en-US"/>
          </a:p>
          <a:p>
            <a:pPr lvl="0"/>
            <a:r>
              <a:rPr lang="zh-CN" altLang="en-US"/>
              <a:t>如何判断</a:t>
            </a:r>
            <a:r>
              <a:rPr lang="zh-CN" altLang="en-US">
                <a:sym typeface="+mn-ea"/>
              </a:rPr>
              <a:t>主机之间通信的情况？</a:t>
            </a:r>
            <a:endParaRPr lang="zh-CN" altLang="en-US"/>
          </a:p>
          <a:p>
            <a:pPr lvl="1"/>
            <a:r>
              <a:rPr lang="zh-CN" altLang="en-US"/>
              <a:t>如果源主机的网络地址</a:t>
            </a:r>
            <a:r>
              <a:rPr lang="en-US" altLang="zh-CN"/>
              <a:t> </a:t>
            </a:r>
            <a:r>
              <a:rPr lang="zh-CN" altLang="en-US" b="1">
                <a:solidFill>
                  <a:srgbClr val="FF0000"/>
                </a:solidFill>
              </a:rPr>
              <a:t>=</a:t>
            </a:r>
            <a:r>
              <a:rPr lang="en-US" altLang="zh-CN" b="1"/>
              <a:t> </a:t>
            </a:r>
            <a:r>
              <a:rPr lang="zh-CN" altLang="en-US"/>
              <a:t>目标主机的网络地址，</a:t>
            </a:r>
            <a:r>
              <a:rPr lang="zh-CN" altLang="en-US">
                <a:sym typeface="+mn-ea"/>
              </a:rPr>
              <a:t>则</a:t>
            </a:r>
            <a:r>
              <a:rPr lang="zh-CN" altLang="en-US"/>
              <a:t>为</a:t>
            </a:r>
            <a:r>
              <a:rPr lang="zh-CN" altLang="en-US">
                <a:solidFill>
                  <a:srgbClr val="FF0000"/>
                </a:solidFill>
              </a:rPr>
              <a:t>相同网段</a:t>
            </a:r>
            <a:r>
              <a:rPr lang="zh-CN" altLang="en-US"/>
              <a:t>主机之间的通信</a:t>
            </a:r>
          </a:p>
          <a:p>
            <a:pPr lvl="1"/>
            <a:r>
              <a:rPr lang="zh-CN" altLang="en-US"/>
              <a:t>如果源主机的网络地址</a:t>
            </a:r>
            <a:r>
              <a:rPr lang="en-US" altLang="zh-CN"/>
              <a:t> </a:t>
            </a:r>
            <a:r>
              <a:rPr lang="zh-CN" altLang="en-US" b="1">
                <a:solidFill>
                  <a:srgbClr val="FF0000"/>
                </a:solidFill>
              </a:rPr>
              <a:t>≠</a:t>
            </a:r>
            <a:r>
              <a:rPr lang="en-US" altLang="zh-CN" b="1"/>
              <a:t> </a:t>
            </a:r>
            <a:r>
              <a:rPr lang="zh-CN" altLang="en-US"/>
              <a:t>目标主机的网络地址，则为</a:t>
            </a:r>
            <a:r>
              <a:rPr lang="zh-CN" altLang="en-US">
                <a:solidFill>
                  <a:srgbClr val="FF0000"/>
                </a:solidFill>
              </a:rPr>
              <a:t>不同网段</a:t>
            </a:r>
            <a:r>
              <a:rPr lang="zh-CN" altLang="en-US"/>
              <a:t>主机之间的通信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11</a:t>
            </a:fld>
            <a:r>
              <a:rPr lang="en-US" altLang="zh-CN" dirty="0"/>
              <a:t>/28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IP地址概述</a:t>
            </a:r>
            <a:endParaRPr lang="en-US" altLang="zh-CN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子网掩码</a:t>
            </a:r>
            <a:r>
              <a:rPr lang="en-US" altLang="zh-CN">
                <a:sym typeface="+mn-ea"/>
              </a:rPr>
              <a:t>3-1</a:t>
            </a:r>
          </a:p>
          <a:p>
            <a:pPr lvl="1"/>
            <a:r>
              <a:rPr lang="zh-CN" altLang="en-US"/>
              <a:t>用来确定</a:t>
            </a:r>
            <a:r>
              <a:rPr lang="en-US" altLang="zh-CN"/>
              <a:t>IP</a:t>
            </a:r>
            <a:r>
              <a:rPr lang="zh-CN" altLang="en-US"/>
              <a:t>的网络地址</a:t>
            </a:r>
          </a:p>
          <a:p>
            <a:pPr lvl="1"/>
            <a:r>
              <a:rPr lang="en-US" altLang="zh-CN"/>
              <a:t>由32</a:t>
            </a:r>
            <a:r>
              <a:rPr lang="zh-CN" altLang="en-US"/>
              <a:t>个二进制位组成</a:t>
            </a:r>
          </a:p>
          <a:p>
            <a:pPr lvl="2"/>
            <a:r>
              <a:rPr lang="zh-CN" altLang="en-US"/>
              <a:t>对应</a:t>
            </a:r>
            <a:r>
              <a:rPr lang="en-US" altLang="zh-CN"/>
              <a:t>IP</a:t>
            </a:r>
            <a:r>
              <a:rPr lang="zh-CN" altLang="en-US"/>
              <a:t>地址的网络部分用</a:t>
            </a:r>
            <a:r>
              <a:rPr lang="en-US" altLang="zh-CN"/>
              <a:t>1</a:t>
            </a:r>
            <a:r>
              <a:rPr lang="zh-CN" altLang="en-US"/>
              <a:t>表示 </a:t>
            </a:r>
          </a:p>
          <a:p>
            <a:pPr lvl="2"/>
            <a:r>
              <a:rPr lang="zh-CN" altLang="en-US"/>
              <a:t>对应</a:t>
            </a:r>
            <a:r>
              <a:rPr lang="en-US" altLang="zh-CN"/>
              <a:t>IP</a:t>
            </a:r>
            <a:r>
              <a:rPr lang="zh-CN" altLang="en-US"/>
              <a:t>地址的主机部分用</a:t>
            </a:r>
            <a:r>
              <a:rPr lang="en-US" altLang="zh-CN"/>
              <a:t>0</a:t>
            </a:r>
            <a:r>
              <a:rPr lang="zh-CN" altLang="en-US"/>
              <a:t>表示 </a:t>
            </a:r>
          </a:p>
          <a:p>
            <a:pPr lvl="1"/>
            <a:r>
              <a:rPr lang="en-US" altLang="zh-CN"/>
              <a:t>IP</a:t>
            </a:r>
            <a:r>
              <a:rPr lang="zh-CN" altLang="en-US"/>
              <a:t>地址和子网掩码作逻辑“与”运算得到网络地址</a:t>
            </a:r>
          </a:p>
          <a:p>
            <a:pPr lvl="2"/>
            <a:r>
              <a:rPr lang="en-US" altLang="zh-CN"/>
              <a:t>0</a:t>
            </a:r>
            <a:r>
              <a:rPr lang="zh-CN" altLang="en-US"/>
              <a:t>和任何数相与都等于</a:t>
            </a:r>
            <a:r>
              <a:rPr lang="en-US" altLang="zh-CN"/>
              <a:t>0</a:t>
            </a:r>
          </a:p>
          <a:p>
            <a:pPr lvl="2"/>
            <a:r>
              <a:rPr lang="en-US" altLang="zh-CN"/>
              <a:t>1</a:t>
            </a:r>
            <a:r>
              <a:rPr lang="zh-CN" altLang="en-US"/>
              <a:t>和任何数相与都等于任何数本身 </a:t>
            </a:r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lvl="1" eaLnBrk="1" hangingPunct="1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12</a:t>
            </a:fld>
            <a:r>
              <a:rPr lang="en-US" altLang="zh-CN" dirty="0"/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子网掩码</a:t>
            </a:r>
            <a:r>
              <a:rPr lang="en-US" altLang="zh-CN">
                <a:sym typeface="+mn-ea"/>
              </a:rPr>
              <a:t>3-2</a:t>
            </a:r>
            <a:endParaRPr lang="en-US" altLang="zh-CN"/>
          </a:p>
          <a:p>
            <a:pPr lvl="1"/>
            <a:r>
              <a:rPr lang="en-US" altLang="zh-CN"/>
              <a:t>A</a:t>
            </a:r>
            <a:r>
              <a:rPr lang="zh-CN" altLang="en-US"/>
              <a:t>、</a:t>
            </a:r>
            <a:r>
              <a:rPr lang="en-US" altLang="zh-CN"/>
              <a:t>B</a:t>
            </a:r>
            <a:r>
              <a:rPr lang="zh-CN" altLang="en-US"/>
              <a:t>、</a:t>
            </a:r>
            <a:r>
              <a:rPr lang="en-US" altLang="zh-CN"/>
              <a:t>C</a:t>
            </a:r>
            <a:r>
              <a:rPr lang="zh-CN" altLang="en-US"/>
              <a:t> 类地址的默认子网掩码</a:t>
            </a:r>
          </a:p>
          <a:p>
            <a:pPr lvl="2"/>
            <a:r>
              <a:rPr lang="en-US" altLang="zh-CN"/>
              <a:t>A</a:t>
            </a:r>
            <a:r>
              <a:rPr lang="zh-CN" altLang="en-US"/>
              <a:t>类：</a:t>
            </a:r>
            <a:r>
              <a:rPr lang="en-US" altLang="zh-CN"/>
              <a:t>255.0.0.0</a:t>
            </a:r>
          </a:p>
          <a:p>
            <a:pPr lvl="2"/>
            <a:r>
              <a:rPr lang="en-US" altLang="zh-CN"/>
              <a:t>B</a:t>
            </a:r>
            <a:r>
              <a:rPr lang="zh-CN" altLang="en-US"/>
              <a:t>类：</a:t>
            </a:r>
            <a:r>
              <a:rPr lang="en-US" altLang="zh-CN"/>
              <a:t>255.255.0.0</a:t>
            </a:r>
          </a:p>
          <a:p>
            <a:pPr lvl="2"/>
            <a:r>
              <a:rPr lang="en-US" altLang="zh-CN"/>
              <a:t>C</a:t>
            </a:r>
            <a:r>
              <a:rPr lang="zh-CN" altLang="en-US"/>
              <a:t>类：</a:t>
            </a:r>
            <a:r>
              <a:rPr lang="en-US" altLang="zh-CN"/>
              <a:t>255.255.255.0</a:t>
            </a:r>
          </a:p>
          <a:p>
            <a:pPr lvl="1" eaLnBrk="1" hangingPunct="1">
              <a:spcBef>
                <a:spcPts val="675"/>
              </a:spcBef>
            </a:pPr>
            <a:r>
              <a:rPr lang="en-US" altLang="zh-CN"/>
              <a:t>IP地址的网络ID</a:t>
            </a:r>
          </a:p>
          <a:p>
            <a:pPr lvl="2" eaLnBrk="1" hangingPunct="1">
              <a:spcBef>
                <a:spcPts val="675"/>
              </a:spcBef>
            </a:pPr>
            <a:r>
              <a:rPr lang="en-US" altLang="zh-CN"/>
              <a:t>IP地址192.168.1.189，子网掩码255.255.255.0，将IP地址和子网掩码进行“与”运算就可以计算出IP地址的网络ID</a:t>
            </a:r>
          </a:p>
        </p:txBody>
      </p:sp>
      <p:sp>
        <p:nvSpPr>
          <p:cNvPr id="1741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IP地址概述</a:t>
            </a:r>
            <a:endParaRPr lang="en-US" altLang="zh-CN"/>
          </a:p>
        </p:txBody>
      </p:sp>
      <p:pic>
        <p:nvPicPr>
          <p:cNvPr id="17412" name="Picture 4" descr="i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3465" y="4046220"/>
            <a:ext cx="6753225" cy="1700530"/>
          </a:xfrm>
          <a:prstGeom prst="rect">
            <a:avLst/>
          </a:prstGeom>
          <a:noFill/>
          <a:ln w="9525">
            <a:solidFill>
              <a:srgbClr val="FFC000"/>
            </a:solidFill>
            <a:miter lim="800000"/>
            <a:headEnd/>
            <a:tailEnd/>
          </a:ln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13</a:t>
            </a:fld>
            <a:r>
              <a:rPr lang="en-US" altLang="zh-CN" dirty="0"/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子网掩码</a:t>
            </a:r>
            <a:r>
              <a:rPr lang="en-US" altLang="zh-CN">
                <a:sym typeface="+mn-ea"/>
              </a:rPr>
              <a:t>3-3</a:t>
            </a:r>
          </a:p>
          <a:p>
            <a:pPr lvl="1"/>
            <a:r>
              <a:rPr lang="zh-CN"/>
              <a:t>用</a:t>
            </a:r>
            <a:r>
              <a:t>点分十进制的形式表示掩码书写比较麻烦</a:t>
            </a:r>
          </a:p>
          <a:p>
            <a:pPr lvl="1" eaLnBrk="1" hangingPunct="1">
              <a:spcBef>
                <a:spcPts val="675"/>
              </a:spcBef>
            </a:pPr>
            <a:r>
              <a:rPr lang="en-US" altLang="zh-CN"/>
              <a:t>位计数形式表示掩码</a:t>
            </a:r>
          </a:p>
          <a:p>
            <a:pPr lvl="2" eaLnBrk="1" hangingPunct="1">
              <a:spcBef>
                <a:spcPts val="675"/>
              </a:spcBef>
            </a:pPr>
            <a:r>
              <a:rPr lang="en-US" altLang="zh-CN"/>
              <a:t>IP地址192.168.1.100</a:t>
            </a:r>
          </a:p>
          <a:p>
            <a:pPr lvl="2" eaLnBrk="1" hangingPunct="1">
              <a:spcBef>
                <a:spcPts val="675"/>
              </a:spcBef>
            </a:pPr>
            <a:r>
              <a:rPr lang="en-US" altLang="zh-CN"/>
              <a:t>掩码255.255.255.0</a:t>
            </a:r>
          </a:p>
        </p:txBody>
      </p:sp>
      <p:sp>
        <p:nvSpPr>
          <p:cNvPr id="1741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IP地址概述</a:t>
            </a:r>
            <a:endParaRPr lang="en-US" altLang="zh-CN"/>
          </a:p>
        </p:txBody>
      </p:sp>
      <p:sp>
        <p:nvSpPr>
          <p:cNvPr id="5" name="AutoShape 16"/>
          <p:cNvSpPr/>
          <p:nvPr/>
        </p:nvSpPr>
        <p:spPr>
          <a:xfrm>
            <a:off x="1183005" y="3086735"/>
            <a:ext cx="3992880" cy="510181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19050" cap="flat" cmpd="sng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marL="0" lvl="2" algn="l" fontAlgn="auto">
              <a:spcBef>
                <a:spcPts val="400"/>
              </a:spcBef>
            </a:pPr>
            <a:r>
              <a:rPr lang="en-US" sz="2400" b="1" dirty="0">
                <a:solidFill>
                  <a:srgbClr val="001E7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192.168.1.100/24</a:t>
            </a:r>
          </a:p>
        </p:txBody>
      </p:sp>
      <p:grpSp>
        <p:nvGrpSpPr>
          <p:cNvPr id="61" name="组合 60"/>
          <p:cNvGrpSpPr/>
          <p:nvPr/>
        </p:nvGrpSpPr>
        <p:grpSpPr>
          <a:xfrm>
            <a:off x="4921763" y="2948471"/>
            <a:ext cx="688814" cy="648325"/>
            <a:chOff x="3011139" y="5284495"/>
            <a:chExt cx="688814" cy="648325"/>
          </a:xfrm>
        </p:grpSpPr>
        <p:pic>
          <p:nvPicPr>
            <p:cNvPr id="2051" name="Picture 3" descr="C:\Users\lei.sun.PRD\Desktop\示例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244" y="5284495"/>
              <a:ext cx="520604" cy="3767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0" name="组合 59"/>
            <p:cNvGrpSpPr/>
            <p:nvPr/>
          </p:nvGrpSpPr>
          <p:grpSpPr>
            <a:xfrm>
              <a:off x="3011139" y="5593560"/>
              <a:ext cx="688814" cy="339260"/>
              <a:chOff x="3011139" y="5593560"/>
              <a:chExt cx="688814" cy="339260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3011139" y="5593562"/>
                <a:ext cx="688814" cy="339258"/>
              </a:xfrm>
              <a:prstGeom prst="rect">
                <a:avLst/>
              </a:prstGeom>
              <a:solidFill>
                <a:srgbClr val="001E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文本框 15"/>
              <p:cNvSpPr txBox="1"/>
              <p:nvPr/>
            </p:nvSpPr>
            <p:spPr>
              <a:xfrm>
                <a:off x="3045235" y="5593560"/>
                <a:ext cx="607939" cy="33855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示例</a:t>
                </a:r>
              </a:p>
            </p:txBody>
          </p:sp>
        </p:grpSp>
      </p:grpSp>
      <p:sp>
        <p:nvSpPr>
          <p:cNvPr id="10" name="AutoShape 28"/>
          <p:cNvSpPr/>
          <p:nvPr/>
        </p:nvSpPr>
        <p:spPr>
          <a:xfrm>
            <a:off x="1224280" y="4147185"/>
            <a:ext cx="5076825" cy="1007745"/>
          </a:xfrm>
          <a:prstGeom prst="wedgeRectCallout">
            <a:avLst>
              <a:gd name="adj1" fmla="val -23408"/>
              <a:gd name="adj2" fmla="val -73755"/>
            </a:avLst>
          </a:prstGeom>
          <a:solidFill>
            <a:srgbClr val="FFE9A3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/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注意啦：</a:t>
            </a:r>
          </a:p>
          <a:p>
            <a:pPr lvl="0" algn="l"/>
            <a:r>
              <a: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位计数形式是在地址后加“/”，“/”后面是网络部分的位数，即二进制掩码中“1”的个数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14</a:t>
            </a:fld>
            <a:r>
              <a:rPr lang="en-US" altLang="zh-CN" dirty="0"/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IP</a:t>
            </a:r>
            <a:r>
              <a:rPr lang="zh-CN" altLang="en-US"/>
              <a:t>地址的格式是什么，每段的取值范围是多少？</a:t>
            </a:r>
            <a:endParaRPr lang="en-US" altLang="zh-CN"/>
          </a:p>
          <a:p>
            <a:r>
              <a:rPr lang="zh-CN" altLang="en-US"/>
              <a:t>简述</a:t>
            </a:r>
            <a:r>
              <a:rPr lang="en-US" altLang="zh-CN"/>
              <a:t>A</a:t>
            </a:r>
            <a:r>
              <a:rPr lang="zh-CN" altLang="en-US"/>
              <a:t>、</a:t>
            </a:r>
            <a:r>
              <a:rPr lang="en-US" altLang="zh-CN"/>
              <a:t>B</a:t>
            </a:r>
            <a:r>
              <a:rPr lang="zh-CN" altLang="en-US"/>
              <a:t>、</a:t>
            </a:r>
            <a:r>
              <a:rPr lang="en-US" altLang="zh-CN"/>
              <a:t>C</a:t>
            </a:r>
            <a:r>
              <a:rPr lang="zh-CN" altLang="en-US"/>
              <a:t>三类</a:t>
            </a:r>
            <a:r>
              <a:rPr lang="en-US" altLang="zh-CN"/>
              <a:t>IP</a:t>
            </a:r>
            <a:r>
              <a:rPr lang="zh-CN" altLang="en-US"/>
              <a:t>地址的特点以及起始范围</a:t>
            </a:r>
            <a:endParaRPr lang="en-US" altLang="zh-CN"/>
          </a:p>
          <a:p>
            <a:r>
              <a:rPr lang="zh-CN" altLang="en-US"/>
              <a:t>子网掩码的作用是什么？</a:t>
            </a:r>
          </a:p>
          <a:p>
            <a:r>
              <a:rPr lang="zh-CN" altLang="en-US"/>
              <a:t>子网掩码的格式是什么？</a:t>
            </a:r>
            <a:endParaRPr lang="en-US" altLang="zh-CN"/>
          </a:p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3203869" y="5733638"/>
            <a:ext cx="2717165" cy="573757"/>
            <a:chOff x="2635654" y="5025223"/>
            <a:chExt cx="2717165" cy="573757"/>
          </a:xfrm>
        </p:grpSpPr>
        <p:sp>
          <p:nvSpPr>
            <p:cNvPr id="5" name="圆角矩形 4"/>
            <p:cNvSpPr/>
            <p:nvPr>
              <p:custDataLst>
                <p:tags r:id="rId1"/>
              </p:custDataLst>
            </p:nvPr>
          </p:nvSpPr>
          <p:spPr>
            <a:xfrm>
              <a:off x="2796944" y="5131903"/>
              <a:ext cx="2555875" cy="360045"/>
            </a:xfrm>
            <a:prstGeom prst="roundRect">
              <a:avLst/>
            </a:prstGeom>
            <a:solidFill>
              <a:srgbClr val="001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>
              <p:custDataLst>
                <p:tags r:id="rId2"/>
              </p:custDataLst>
            </p:nvPr>
          </p:nvSpPr>
          <p:spPr>
            <a:xfrm>
              <a:off x="2635654" y="5025223"/>
              <a:ext cx="573757" cy="573757"/>
            </a:xfrm>
            <a:prstGeom prst="ellipse">
              <a:avLst/>
            </a:prstGeom>
            <a:solidFill>
              <a:srgbClr val="001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5"/>
            <p:cNvSpPr txBox="1"/>
            <p:nvPr>
              <p:custDataLst>
                <p:tags r:id="rId3"/>
              </p:custDataLst>
            </p:nvPr>
          </p:nvSpPr>
          <p:spPr>
            <a:xfrm>
              <a:off x="3272559" y="5142698"/>
              <a:ext cx="2079625" cy="33718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教员解决共性问题</a:t>
              </a:r>
            </a:p>
          </p:txBody>
        </p:sp>
        <p:pic>
          <p:nvPicPr>
            <p:cNvPr id="14" name="图片 13" descr="1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2770196" y="5125836"/>
              <a:ext cx="348886" cy="372531"/>
            </a:xfrm>
            <a:prstGeom prst="rect">
              <a:avLst/>
            </a:prstGeom>
          </p:spPr>
        </p:pic>
      </p:grpSp>
      <p:pic>
        <p:nvPicPr>
          <p:cNvPr id="17" name="图片 16" descr="摄图网_402090509_迷宫中解决问题等距（企业商用）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3700" y="2780030"/>
            <a:ext cx="3438525" cy="343852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15</a:t>
            </a:fld>
            <a:r>
              <a:rPr lang="en-US" altLang="zh-CN" dirty="0"/>
              <a:t>/28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计算机配置</a:t>
            </a:r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地址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配置主机的</a:t>
            </a:r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地址</a:t>
            </a:r>
          </a:p>
          <a:p>
            <a:pPr lvl="1"/>
            <a:r>
              <a:rPr lang="en-US" altLang="zh-CN"/>
              <a:t>Windows</a:t>
            </a:r>
            <a:r>
              <a:rPr lang="zh-CN" altLang="en-US"/>
              <a:t>下配置</a:t>
            </a:r>
            <a:r>
              <a:rPr lang="en-US" altLang="zh-CN"/>
              <a:t>IP</a:t>
            </a:r>
            <a:r>
              <a:rPr lang="zh-CN" altLang="en-US"/>
              <a:t>地址</a:t>
            </a:r>
          </a:p>
        </p:txBody>
      </p:sp>
      <p:grpSp>
        <p:nvGrpSpPr>
          <p:cNvPr id="24" name="组合 23"/>
          <p:cNvGrpSpPr/>
          <p:nvPr/>
        </p:nvGrpSpPr>
        <p:grpSpPr>
          <a:xfrm>
            <a:off x="2772233" y="5517469"/>
            <a:ext cx="3352404" cy="573757"/>
            <a:chOff x="2635654" y="5025223"/>
            <a:chExt cx="3352404" cy="573757"/>
          </a:xfrm>
        </p:grpSpPr>
        <p:sp>
          <p:nvSpPr>
            <p:cNvPr id="25" name="圆角矩形 24"/>
            <p:cNvSpPr/>
            <p:nvPr>
              <p:custDataLst>
                <p:tags r:id="rId1"/>
              </p:custDataLst>
            </p:nvPr>
          </p:nvSpPr>
          <p:spPr>
            <a:xfrm>
              <a:off x="2796809" y="5132081"/>
              <a:ext cx="3191249" cy="360040"/>
            </a:xfrm>
            <a:prstGeom prst="roundRect">
              <a:avLst/>
            </a:prstGeom>
            <a:solidFill>
              <a:srgbClr val="001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>
              <p:custDataLst>
                <p:tags r:id="rId2"/>
              </p:custDataLst>
            </p:nvPr>
          </p:nvSpPr>
          <p:spPr>
            <a:xfrm>
              <a:off x="2635654" y="5025223"/>
              <a:ext cx="573757" cy="573757"/>
            </a:xfrm>
            <a:prstGeom prst="ellipse">
              <a:avLst/>
            </a:prstGeom>
            <a:solidFill>
              <a:srgbClr val="001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15"/>
            <p:cNvSpPr txBox="1"/>
            <p:nvPr>
              <p:custDataLst>
                <p:tags r:id="rId3"/>
              </p:custDataLst>
            </p:nvPr>
          </p:nvSpPr>
          <p:spPr>
            <a:xfrm>
              <a:off x="3272384" y="5142824"/>
              <a:ext cx="2712839" cy="33855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教员演示并小结操作方法</a:t>
              </a:r>
            </a:p>
          </p:txBody>
        </p:sp>
        <p:pic>
          <p:nvPicPr>
            <p:cNvPr id="28" name="图片 27" descr="1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2770196" y="5125836"/>
              <a:ext cx="348886" cy="372531"/>
            </a:xfrm>
            <a:prstGeom prst="rect">
              <a:avLst/>
            </a:prstGeom>
          </p:spPr>
        </p:pic>
      </p:grpSp>
      <p:pic>
        <p:nvPicPr>
          <p:cNvPr id="3" name="图片 33" descr="6.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4345" y="908685"/>
            <a:ext cx="3943350" cy="45180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0" name="AutoShape 28"/>
          <p:cNvSpPr/>
          <p:nvPr/>
        </p:nvSpPr>
        <p:spPr>
          <a:xfrm>
            <a:off x="594360" y="2254250"/>
            <a:ext cx="2966720" cy="1710690"/>
          </a:xfrm>
          <a:prstGeom prst="wedgeRectCallout">
            <a:avLst>
              <a:gd name="adj1" fmla="val 21596"/>
              <a:gd name="adj2" fmla="val -67139"/>
            </a:avLst>
          </a:prstGeom>
          <a:solidFill>
            <a:srgbClr val="FFE9A3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/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注意啦：</a:t>
            </a:r>
          </a:p>
          <a:p>
            <a:pPr lvl="0" algn="l"/>
            <a:r>
              <a: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实现一台计算机上创建多个Web站点或FTP站点的方法之一</a:t>
            </a:r>
            <a:r>
              <a:rPr 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就是在一个网卡上设置多个IP地址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16</a:t>
            </a:fld>
            <a:r>
              <a:rPr lang="en-US" altLang="zh-CN" dirty="0"/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计算机配置</a:t>
            </a:r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地址</a:t>
            </a:r>
            <a:endParaRPr lang="zh-CN" altLang="en-US"/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980440"/>
            <a:ext cx="8496944" cy="5381337"/>
          </a:xfrm>
        </p:spPr>
        <p:txBody>
          <a:bodyPr/>
          <a:lstStyle/>
          <a:p>
            <a:r>
              <a:rPr lang="zh-CN" altLang="en-US">
                <a:sym typeface="+mn-ea"/>
              </a:rPr>
              <a:t>网络测试工具</a:t>
            </a:r>
            <a:endParaRPr lang="en-US" altLang="zh-CN"/>
          </a:p>
          <a:p>
            <a:pPr lvl="1"/>
            <a:r>
              <a:rPr lang="en-US" altLang="zh-CN"/>
              <a:t>ipconfig</a:t>
            </a:r>
          </a:p>
          <a:p>
            <a:pPr lvl="2"/>
            <a:r>
              <a:rPr lang="zh-CN" altLang="en-US"/>
              <a:t>查看计算机</a:t>
            </a:r>
            <a:r>
              <a:rPr lang="en-US" altLang="zh-CN"/>
              <a:t>IP</a:t>
            </a:r>
            <a:r>
              <a:rPr lang="zh-CN" altLang="en-US"/>
              <a:t>地址</a:t>
            </a:r>
            <a:endParaRPr lang="en-US" altLang="zh-CN"/>
          </a:p>
          <a:p>
            <a:pPr lvl="1"/>
            <a:r>
              <a:rPr lang="en-US" altLang="zh-CN"/>
              <a:t>ping</a:t>
            </a:r>
          </a:p>
          <a:p>
            <a:pPr lvl="2"/>
            <a:r>
              <a:rPr lang="zh-CN" altLang="en-US"/>
              <a:t>测试连通性</a:t>
            </a:r>
          </a:p>
          <a:p>
            <a:pPr lvl="3"/>
            <a:r>
              <a:rPr lang="en-US" altLang="zh-CN"/>
              <a:t>网络连通</a:t>
            </a:r>
            <a:endParaRPr lang="zh-CN" altLang="en-US" sz="1600"/>
          </a:p>
          <a:p>
            <a:pPr lvl="3"/>
            <a:r>
              <a:rPr lang="zh-CN" altLang="en-US" sz="1600"/>
              <a:t>网络不连通</a:t>
            </a:r>
          </a:p>
          <a:p>
            <a:pPr lvl="3"/>
            <a:r>
              <a:rPr lang="zh-CN" altLang="en-US" sz="1600"/>
              <a:t>Ctrl+C组合键</a:t>
            </a:r>
            <a:endParaRPr lang="en-US" altLang="zh-CN"/>
          </a:p>
        </p:txBody>
      </p:sp>
      <p:sp>
        <p:nvSpPr>
          <p:cNvPr id="7" name="内容占位符 1"/>
          <p:cNvSpPr txBox="1"/>
          <p:nvPr/>
        </p:nvSpPr>
        <p:spPr>
          <a:xfrm>
            <a:off x="3132455" y="909320"/>
            <a:ext cx="6057265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71450" marR="0" lvl="0" indent="-323850" algn="l" defTabSz="685800" rtl="0" eaLnBrk="1" fontAlgn="auto" latinLnBrk="0" hangingPunct="1">
              <a:lnSpc>
                <a:spcPct val="110000"/>
              </a:lnSpc>
              <a:spcBef>
                <a:spcPts val="675"/>
              </a:spcBef>
              <a:spcAft>
                <a:spcPts val="0"/>
              </a:spcAft>
              <a:buClr>
                <a:srgbClr val="13436A"/>
              </a:buClr>
              <a:buSzPct val="80000"/>
              <a:buFont typeface="Arial" panose="020B0604020202020204" pitchFamily="34" charset="0"/>
              <a:buBlip>
                <a:blip r:embed="rId7"/>
              </a:buBlip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13436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3347720" y="980440"/>
            <a:ext cx="5629910" cy="5381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34DC"/>
              </a:buClr>
              <a:buFont typeface="Wingdings" panose="05000000000000000000" pitchFamily="2" charset="2"/>
              <a:buChar char="n"/>
              <a:defRPr sz="2200" b="1" kern="1200">
                <a:solidFill>
                  <a:srgbClr val="0016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39750" indent="-215900" algn="l" defTabSz="914400" rtl="0" eaLnBrk="1" latinLnBrk="0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n"/>
              <a:defRPr sz="2000" kern="120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720090" indent="-228600" algn="l" defTabSz="914400" rtl="0" eaLnBrk="1" latinLnBrk="0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  <a:defRPr sz="18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899795" indent="-179705" algn="l" defTabSz="914400" rtl="0" eaLnBrk="1" latinLnBrk="0" hangingPunct="1">
              <a:spcBef>
                <a:spcPct val="20000"/>
              </a:spcBef>
              <a:buClr>
                <a:srgbClr val="0034DC"/>
              </a:buClr>
              <a:buSzPct val="15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en-US"/>
              <a:t>使用</a:t>
            </a:r>
            <a:r>
              <a:rPr lang="en-US" altLang="zh-CN"/>
              <a:t>ping</a:t>
            </a:r>
            <a:r>
              <a:rPr lang="zh-CN" altLang="en-US"/>
              <a:t>命令诊断网络连接</a:t>
            </a:r>
            <a:endParaRPr lang="en-US" altLang="zh-CN"/>
          </a:p>
          <a:p>
            <a:pPr lvl="1"/>
            <a:r>
              <a:rPr lang="en-US" altLang="zh-CN"/>
              <a:t>ping 127.0.0.1</a:t>
            </a:r>
          </a:p>
          <a:p>
            <a:pPr lvl="2"/>
            <a:r>
              <a:rPr lang="zh-CN" altLang="en-US"/>
              <a:t>验证本地计算机上是否正确配置了</a:t>
            </a:r>
            <a:r>
              <a:rPr lang="en-US" altLang="zh-CN"/>
              <a:t>TCP/IP</a:t>
            </a:r>
            <a:endParaRPr lang="zh-CN" altLang="en-US"/>
          </a:p>
          <a:p>
            <a:pPr lvl="1"/>
            <a:r>
              <a:rPr lang="en-US" altLang="zh-CN"/>
              <a:t>ping </a:t>
            </a:r>
            <a:r>
              <a:rPr lang="zh-CN" altLang="en-US"/>
              <a:t>本地计算机的</a:t>
            </a:r>
            <a:r>
              <a:rPr lang="en-US" altLang="zh-CN"/>
              <a:t>IP</a:t>
            </a:r>
            <a:r>
              <a:rPr lang="zh-CN" altLang="en-US"/>
              <a:t>地址</a:t>
            </a:r>
            <a:endParaRPr lang="en-US" altLang="zh-CN"/>
          </a:p>
          <a:p>
            <a:pPr lvl="2"/>
            <a:r>
              <a:rPr lang="zh-CN" altLang="en-US"/>
              <a:t>验证其是否已正确地添加到网络中</a:t>
            </a:r>
          </a:p>
          <a:p>
            <a:pPr lvl="1"/>
            <a:r>
              <a:rPr lang="en-US" altLang="zh-CN"/>
              <a:t>ping </a:t>
            </a:r>
            <a:r>
              <a:rPr lang="zh-CN" altLang="en-US"/>
              <a:t>默认网关的</a:t>
            </a:r>
            <a:r>
              <a:rPr lang="en-US" altLang="zh-CN"/>
              <a:t>IP</a:t>
            </a:r>
            <a:r>
              <a:rPr lang="zh-CN" altLang="en-US"/>
              <a:t>地址</a:t>
            </a:r>
            <a:endParaRPr lang="en-US" altLang="zh-CN"/>
          </a:p>
          <a:p>
            <a:pPr lvl="2"/>
            <a:r>
              <a:rPr lang="zh-CN" altLang="en-US"/>
              <a:t>验证默认网关是否正常工作</a:t>
            </a:r>
            <a:endParaRPr lang="en-US" altLang="zh-CN"/>
          </a:p>
          <a:p>
            <a:pPr lvl="2"/>
            <a:r>
              <a:rPr lang="zh-CN" altLang="en-US">
                <a:sym typeface="+mn-ea"/>
              </a:rPr>
              <a:t>验证</a:t>
            </a:r>
            <a:r>
              <a:rPr lang="zh-CN" altLang="en-US"/>
              <a:t>是否可以与本地网络上的主机进行通信</a:t>
            </a:r>
          </a:p>
          <a:p>
            <a:pPr lvl="1"/>
            <a:r>
              <a:rPr lang="en-US" altLang="zh-CN"/>
              <a:t>ping </a:t>
            </a:r>
            <a:r>
              <a:rPr lang="zh-CN" altLang="en-US"/>
              <a:t>远程主机的</a:t>
            </a:r>
            <a:r>
              <a:rPr lang="en-US" altLang="zh-CN"/>
              <a:t>IP</a:t>
            </a:r>
            <a:r>
              <a:rPr lang="zh-CN" altLang="en-US"/>
              <a:t>地址</a:t>
            </a:r>
            <a:endParaRPr lang="en-US" altLang="zh-CN"/>
          </a:p>
          <a:p>
            <a:pPr lvl="2"/>
            <a:r>
              <a:rPr lang="zh-CN" altLang="en-US"/>
              <a:t>验证是否可以通过路由器进行通信</a:t>
            </a:r>
          </a:p>
          <a:p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2772233" y="5517469"/>
            <a:ext cx="3352404" cy="573757"/>
            <a:chOff x="2635654" y="5025223"/>
            <a:chExt cx="3352404" cy="573757"/>
          </a:xfrm>
        </p:grpSpPr>
        <p:sp>
          <p:nvSpPr>
            <p:cNvPr id="25" name="圆角矩形 24"/>
            <p:cNvSpPr/>
            <p:nvPr>
              <p:custDataLst>
                <p:tags r:id="rId1"/>
              </p:custDataLst>
            </p:nvPr>
          </p:nvSpPr>
          <p:spPr>
            <a:xfrm>
              <a:off x="2796809" y="5132081"/>
              <a:ext cx="3191249" cy="360040"/>
            </a:xfrm>
            <a:prstGeom prst="roundRect">
              <a:avLst/>
            </a:prstGeom>
            <a:solidFill>
              <a:srgbClr val="001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>
              <p:custDataLst>
                <p:tags r:id="rId2"/>
              </p:custDataLst>
            </p:nvPr>
          </p:nvSpPr>
          <p:spPr>
            <a:xfrm>
              <a:off x="2635654" y="5025223"/>
              <a:ext cx="573757" cy="573757"/>
            </a:xfrm>
            <a:prstGeom prst="ellipse">
              <a:avLst/>
            </a:prstGeom>
            <a:solidFill>
              <a:srgbClr val="001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15"/>
            <p:cNvSpPr txBox="1"/>
            <p:nvPr>
              <p:custDataLst>
                <p:tags r:id="rId3"/>
              </p:custDataLst>
            </p:nvPr>
          </p:nvSpPr>
          <p:spPr>
            <a:xfrm>
              <a:off x="3272384" y="5142824"/>
              <a:ext cx="2712839" cy="33855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教员演示并小结操作方法</a:t>
              </a:r>
            </a:p>
          </p:txBody>
        </p:sp>
        <p:pic>
          <p:nvPicPr>
            <p:cNvPr id="28" name="图片 27" descr="1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2770196" y="5125836"/>
              <a:ext cx="348886" cy="372531"/>
            </a:xfrm>
            <a:prstGeom prst="rect">
              <a:avLst/>
            </a:prstGeom>
          </p:spPr>
        </p:pic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17</a:t>
            </a:fld>
            <a:r>
              <a:rPr lang="en-US" altLang="zh-CN" dirty="0"/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路由器配置</a:t>
            </a:r>
            <a:r>
              <a:rPr lang="en-US" altLang="zh-CN"/>
              <a:t>IP</a:t>
            </a:r>
            <a:r>
              <a:rPr lang="zh-CN" altLang="en-US"/>
              <a:t>地址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将IP地址分配给路由器的接口</a:t>
            </a:r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lvl="1"/>
            <a:r>
              <a:rPr lang="zh-CN" altLang="en-US"/>
              <a:t>ip address：表示配置IP地址的命令关键字</a:t>
            </a:r>
          </a:p>
          <a:p>
            <a:pPr lvl="1"/>
            <a:r>
              <a:rPr lang="zh-CN" altLang="en-US"/>
              <a:t>ip</a:t>
            </a:r>
            <a:r>
              <a:rPr lang="en-US" altLang="zh-CN"/>
              <a:t>-</a:t>
            </a:r>
            <a:r>
              <a:rPr lang="zh-CN" altLang="en-US"/>
              <a:t>address：表示分配给路由器接口的IP地址</a:t>
            </a:r>
          </a:p>
          <a:p>
            <a:pPr lvl="1"/>
            <a:r>
              <a:rPr lang="zh-CN" altLang="en-US"/>
              <a:t>mask：表示分配IP地址的子网掩码</a:t>
            </a:r>
          </a:p>
          <a:p>
            <a:pPr lvl="1"/>
            <a:r>
              <a:rPr lang="zh-CN" altLang="en-US"/>
              <a:t>mask-length：表示分配IP地址的子网掩码长度</a:t>
            </a:r>
          </a:p>
          <a:p>
            <a:endParaRPr lang="zh-CN" altLang="en-US"/>
          </a:p>
          <a:p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683895" y="1557655"/>
            <a:ext cx="8214995" cy="741680"/>
            <a:chOff x="1077" y="2679"/>
            <a:chExt cx="12937" cy="1168"/>
          </a:xfrm>
        </p:grpSpPr>
        <p:sp>
          <p:nvSpPr>
            <p:cNvPr id="11" name="AutoShape 16"/>
            <p:cNvSpPr/>
            <p:nvPr>
              <p:custDataLst>
                <p:tags r:id="rId1"/>
              </p:custDataLst>
            </p:nvPr>
          </p:nvSpPr>
          <p:spPr>
            <a:xfrm>
              <a:off x="1077" y="2679"/>
              <a:ext cx="12508" cy="1108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19050" cap="flat" cmpd="sng">
              <a:solidFill>
                <a:schemeClr val="bg1">
                  <a:lumMod val="75000"/>
                </a:schemeClr>
              </a:solidFill>
              <a:prstDash val="solid"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/>
            <a:p>
              <a:pPr marL="0" lvl="2" algn="l" fontAlgn="auto">
                <a:spcBef>
                  <a:spcPts val="400"/>
                </a:spcBef>
              </a:pPr>
              <a:r>
                <a:rPr altLang="zh-CN" sz="1600" b="1" dirty="0">
                  <a:solidFill>
                    <a:srgbClr val="001E7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[Huawei]interface GigabitEthernet 0/0/0</a:t>
              </a:r>
              <a:r>
                <a:rPr lang="en-US" sz="1600" b="1" dirty="0">
                  <a:solidFill>
                    <a:srgbClr val="001E7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   </a:t>
              </a:r>
              <a:r>
                <a:rPr altLang="zh-CN" sz="1600" b="1" dirty="0">
                  <a:solidFill>
                    <a:srgbClr val="001E7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//进入目标接口</a:t>
              </a:r>
            </a:p>
            <a:p>
              <a:pPr marL="0" lvl="2" algn="l" fontAlgn="auto">
                <a:spcBef>
                  <a:spcPts val="400"/>
                </a:spcBef>
              </a:pPr>
              <a:r>
                <a:rPr altLang="zh-CN" sz="1600" b="1" dirty="0">
                  <a:solidFill>
                    <a:srgbClr val="001E7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[Huawei-GigabitEthernet0/0/0]ip address</a:t>
              </a:r>
              <a:r>
                <a:rPr altLang="zh-CN" sz="1600" dirty="0">
                  <a:solidFill>
                    <a:srgbClr val="001E7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 </a:t>
              </a:r>
              <a:r>
                <a:rPr altLang="zh-CN" sz="1600" i="1" dirty="0">
                  <a:solidFill>
                    <a:srgbClr val="001E7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ip-address</a:t>
              </a:r>
              <a:r>
                <a:rPr altLang="zh-CN" sz="1600" b="1" dirty="0">
                  <a:solidFill>
                    <a:srgbClr val="001E7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 { </a:t>
              </a:r>
              <a:r>
                <a:rPr altLang="zh-CN" sz="1600" i="1" dirty="0">
                  <a:solidFill>
                    <a:srgbClr val="001E7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mask</a:t>
              </a:r>
              <a:r>
                <a:rPr altLang="zh-CN" sz="1600" b="1" dirty="0">
                  <a:solidFill>
                    <a:srgbClr val="001E7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 | </a:t>
              </a:r>
              <a:r>
                <a:rPr altLang="zh-CN" sz="1600" i="1" dirty="0">
                  <a:solidFill>
                    <a:srgbClr val="001E7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mask-length</a:t>
              </a:r>
              <a:r>
                <a:rPr altLang="zh-CN" sz="1600" b="1" dirty="0">
                  <a:solidFill>
                    <a:srgbClr val="001E7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 }</a:t>
              </a:r>
            </a:p>
          </p:txBody>
        </p:sp>
        <p:grpSp>
          <p:nvGrpSpPr>
            <p:cNvPr id="61" name="组合 60"/>
            <p:cNvGrpSpPr/>
            <p:nvPr/>
          </p:nvGrpSpPr>
          <p:grpSpPr>
            <a:xfrm>
              <a:off x="12929" y="2826"/>
              <a:ext cx="1085" cy="1021"/>
              <a:chOff x="3011139" y="5284495"/>
              <a:chExt cx="688814" cy="648325"/>
            </a:xfrm>
          </p:grpSpPr>
          <p:pic>
            <p:nvPicPr>
              <p:cNvPr id="2051" name="Picture 3" descr="C:\Users\lei.sun.PRD\Desktop\示例.png"/>
              <p:cNvPicPr>
                <a:picLocks noChangeAspect="1" noChangeArrowheads="1"/>
              </p:cNvPicPr>
              <p:nvPr>
                <p:custDataLst>
                  <p:tags r:id="rId2"/>
                </p:custDataLst>
              </p:nvPr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95244" y="5284495"/>
                <a:ext cx="520604" cy="3767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60" name="组合 59"/>
              <p:cNvGrpSpPr/>
              <p:nvPr/>
            </p:nvGrpSpPr>
            <p:grpSpPr>
              <a:xfrm>
                <a:off x="3011139" y="5593560"/>
                <a:ext cx="688814" cy="339260"/>
                <a:chOff x="3011139" y="5593560"/>
                <a:chExt cx="688814" cy="339260"/>
              </a:xfrm>
            </p:grpSpPr>
            <p:sp>
              <p:nvSpPr>
                <p:cNvPr id="64" name="矩形 63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3011139" y="5593562"/>
                  <a:ext cx="688814" cy="339258"/>
                </a:xfrm>
                <a:prstGeom prst="rect">
                  <a:avLst/>
                </a:prstGeom>
                <a:solidFill>
                  <a:srgbClr val="001E7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5" name="文本框 15"/>
                <p:cNvSpPr txBox="1"/>
                <p:nvPr>
                  <p:custDataLst>
                    <p:tags r:id="rId4"/>
                  </p:custDataLst>
                </p:nvPr>
              </p:nvSpPr>
              <p:spPr>
                <a:xfrm>
                  <a:off x="3045235" y="5593560"/>
                  <a:ext cx="607939" cy="338554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zh-CN" altLang="en-US" sz="16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示例</a:t>
                  </a:r>
                </a:p>
              </p:txBody>
            </p:sp>
          </p:grpSp>
        </p:grp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18</a:t>
            </a:fld>
            <a:r>
              <a:rPr lang="en-US" altLang="zh-CN" dirty="0"/>
              <a:t>/28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路由器配置</a:t>
            </a:r>
            <a:r>
              <a:rPr lang="en-US" altLang="zh-CN"/>
              <a:t>IP</a:t>
            </a:r>
            <a:r>
              <a:rPr lang="zh-CN" altLang="en-US"/>
              <a:t>地址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215" y="980440"/>
            <a:ext cx="8710295" cy="5381625"/>
          </a:xfrm>
        </p:spPr>
        <p:txBody>
          <a:bodyPr/>
          <a:lstStyle/>
          <a:p>
            <a:r>
              <a:rPr lang="zh-CN" altLang="en-US"/>
              <a:t>配置实例</a:t>
            </a:r>
          </a:p>
          <a:p>
            <a:pPr lvl="1"/>
            <a:r>
              <a:rPr sz="2000"/>
              <a:t>路由器R1的GE0/0/0接口与路由器R2的GE0/0/1接口连接在一起，通过一台PC连接设备的Console</a:t>
            </a:r>
            <a:r>
              <a:rPr lang="zh-CN" sz="2000"/>
              <a:t>接</a:t>
            </a:r>
            <a:r>
              <a:rPr sz="2000"/>
              <a:t>口，为设备配置IP地址</a:t>
            </a:r>
            <a:r>
              <a:rPr lang="en-US" sz="2000"/>
              <a:t> </a:t>
            </a:r>
            <a:r>
              <a:rPr sz="2000"/>
              <a:t>192.168.1.0/24，实现设备之间的互通</a:t>
            </a:r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20" descr="6.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935" y="2637790"/>
            <a:ext cx="4529455" cy="226758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" name="组合 8"/>
          <p:cNvGrpSpPr/>
          <p:nvPr/>
        </p:nvGrpSpPr>
        <p:grpSpPr>
          <a:xfrm>
            <a:off x="2759685" y="5831932"/>
            <a:ext cx="3352404" cy="573757"/>
            <a:chOff x="2635654" y="5025223"/>
            <a:chExt cx="3352404" cy="573757"/>
          </a:xfrm>
        </p:grpSpPr>
        <p:sp>
          <p:nvSpPr>
            <p:cNvPr id="5" name="圆角矩形 4"/>
            <p:cNvSpPr/>
            <p:nvPr/>
          </p:nvSpPr>
          <p:spPr>
            <a:xfrm>
              <a:off x="2796809" y="5132081"/>
              <a:ext cx="3191249" cy="360040"/>
            </a:xfrm>
            <a:prstGeom prst="roundRect">
              <a:avLst/>
            </a:prstGeom>
            <a:solidFill>
              <a:srgbClr val="001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2635654" y="5025223"/>
              <a:ext cx="573757" cy="573757"/>
            </a:xfrm>
            <a:prstGeom prst="ellipse">
              <a:avLst/>
            </a:prstGeom>
            <a:solidFill>
              <a:srgbClr val="001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15"/>
            <p:cNvSpPr txBox="1"/>
            <p:nvPr/>
          </p:nvSpPr>
          <p:spPr>
            <a:xfrm>
              <a:off x="3312878" y="5142824"/>
              <a:ext cx="2483258" cy="33855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教员演示并进行命令总结</a:t>
              </a:r>
            </a:p>
          </p:txBody>
        </p:sp>
        <p:pic>
          <p:nvPicPr>
            <p:cNvPr id="23" name="图片 22" descr="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70196" y="5125836"/>
              <a:ext cx="348886" cy="372531"/>
            </a:xfrm>
            <a:prstGeom prst="rect">
              <a:avLst/>
            </a:prstGeom>
          </p:spPr>
        </p:pic>
      </p:grpSp>
      <p:sp>
        <p:nvSpPr>
          <p:cNvPr id="10" name="AutoShape 28"/>
          <p:cNvSpPr/>
          <p:nvPr/>
        </p:nvSpPr>
        <p:spPr>
          <a:xfrm>
            <a:off x="5897245" y="3869690"/>
            <a:ext cx="2966720" cy="1250950"/>
          </a:xfrm>
          <a:prstGeom prst="wedgeRectCallout">
            <a:avLst>
              <a:gd name="adj1" fmla="val -47559"/>
              <a:gd name="adj2" fmla="val -75685"/>
            </a:avLst>
          </a:prstGeom>
          <a:solidFill>
            <a:srgbClr val="FFE9A3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/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请思考：</a:t>
            </a:r>
          </a:p>
          <a:p>
            <a:pPr lvl="0" algn="l"/>
            <a:r>
              <a: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使用ip address命令为网络设备配置IP地址时，需要指定哪些参数与选项？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19</a:t>
            </a:fld>
            <a:r>
              <a:rPr lang="en-US" altLang="zh-CN" dirty="0"/>
              <a:t>/28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路由器配置</a:t>
            </a:r>
            <a:r>
              <a:rPr lang="en-US" altLang="zh-CN"/>
              <a:t>IP</a:t>
            </a:r>
            <a:r>
              <a:rPr lang="zh-CN" altLang="en-US"/>
              <a:t>地址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IP</a:t>
            </a:r>
            <a:r>
              <a:rPr lang="zh-CN" altLang="en-US"/>
              <a:t>地址配置注意事项</a:t>
            </a:r>
          </a:p>
          <a:p>
            <a:pPr lvl="1"/>
            <a:r>
              <a:rPr lang="zh-CN" altLang="en-US"/>
              <a:t>一个物理接口默认只能有一个IP地址，若某接口已有IP地址，当为该接口配置IP地址时，则删除原有IP地址，将新配置的IP地址更新到该接口</a:t>
            </a:r>
          </a:p>
          <a:p>
            <a:pPr lvl="1"/>
            <a:r>
              <a:rPr lang="zh-CN" altLang="en-US"/>
              <a:t>同一路由器的不同接口，所属网段不可以相同，IP地址更不能冲突</a:t>
            </a: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19" descr="6.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148" y="3068955"/>
            <a:ext cx="4679315" cy="237109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" name="组合 8"/>
          <p:cNvGrpSpPr/>
          <p:nvPr/>
        </p:nvGrpSpPr>
        <p:grpSpPr>
          <a:xfrm>
            <a:off x="2759685" y="5831932"/>
            <a:ext cx="3352404" cy="573757"/>
            <a:chOff x="2635654" y="5025223"/>
            <a:chExt cx="3352404" cy="573757"/>
          </a:xfrm>
        </p:grpSpPr>
        <p:sp>
          <p:nvSpPr>
            <p:cNvPr id="5" name="圆角矩形 4"/>
            <p:cNvSpPr/>
            <p:nvPr/>
          </p:nvSpPr>
          <p:spPr>
            <a:xfrm>
              <a:off x="2796809" y="5132081"/>
              <a:ext cx="3191249" cy="360040"/>
            </a:xfrm>
            <a:prstGeom prst="roundRect">
              <a:avLst/>
            </a:prstGeom>
            <a:solidFill>
              <a:srgbClr val="001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2635654" y="5025223"/>
              <a:ext cx="573757" cy="573757"/>
            </a:xfrm>
            <a:prstGeom prst="ellipse">
              <a:avLst/>
            </a:prstGeom>
            <a:solidFill>
              <a:srgbClr val="001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15"/>
            <p:cNvSpPr txBox="1"/>
            <p:nvPr/>
          </p:nvSpPr>
          <p:spPr>
            <a:xfrm>
              <a:off x="3312878" y="5142824"/>
              <a:ext cx="2483258" cy="33718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教员举例讲解注意事项</a:t>
              </a:r>
            </a:p>
          </p:txBody>
        </p:sp>
        <p:pic>
          <p:nvPicPr>
            <p:cNvPr id="23" name="图片 22" descr="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70196" y="5125836"/>
              <a:ext cx="348886" cy="372531"/>
            </a:xfrm>
            <a:prstGeom prst="rect">
              <a:avLst/>
            </a:prstGeom>
          </p:spPr>
        </p:pic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20</a:t>
            </a:fld>
            <a:r>
              <a:rPr lang="en-US" altLang="zh-CN" dirty="0"/>
              <a:t>/28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路由器配置</a:t>
            </a:r>
            <a:r>
              <a:rPr lang="en-US" altLang="zh-CN"/>
              <a:t>IP</a:t>
            </a:r>
            <a:r>
              <a:rPr lang="zh-CN" altLang="en-US"/>
              <a:t>地址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常见配置错误</a:t>
            </a:r>
          </a:p>
          <a:p>
            <a:endParaRPr lang="zh-CN" altLang="en-US"/>
          </a:p>
          <a:p>
            <a:endParaRPr lang="zh-CN" altLang="en-US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446405" y="1574800"/>
          <a:ext cx="8240395" cy="39846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82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9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9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3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汉仪中等线简" charset="0"/>
                        </a:rPr>
                        <a:t>错误提示信息</a:t>
                      </a:r>
                      <a:endParaRPr lang="en-US" altLang="en-US" sz="16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汉仪中等线简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4D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汉仪中等线简" charset="0"/>
                        </a:rPr>
                        <a:t>错误提示信息的含义</a:t>
                      </a:r>
                      <a:endParaRPr lang="en-US" altLang="en-US" sz="16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汉仪中等线简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4D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汉仪中等线简" charset="0"/>
                        </a:rPr>
                        <a:t>故障排除方法</a:t>
                      </a:r>
                      <a:endParaRPr lang="en-US" altLang="en-US" sz="1600" b="1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汉仪中等线简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4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20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汉仪中等线简" charset="0"/>
                        </a:rPr>
                        <a:t>Error: </a:t>
                      </a:r>
                    </a:p>
                    <a:p>
                      <a:pPr indent="0">
                        <a:buNone/>
                      </a:pPr>
                      <a:r>
                        <a:rPr lang="en-US" sz="1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汉仪中等线简" charset="0"/>
                        </a:rPr>
                        <a:t>The specified IP address is invalid.</a:t>
                      </a:r>
                      <a:endParaRPr lang="en-US" altLang="en-US" sz="14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汉仪中等线简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错误：</a:t>
                      </a:r>
                    </a:p>
                    <a:p>
                      <a:pPr indent="0">
                        <a:buNone/>
                      </a:pPr>
                      <a:r>
                        <a:rPr lang="en-US" sz="1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无效的IP地址IP地址或子网掩码</a:t>
                      </a:r>
                      <a:endParaRPr lang="en-US" altLang="en-US" sz="14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检查后重新配置</a:t>
                      </a:r>
                      <a:r>
                        <a:rPr lang="zh-CN" altLang="en-US" sz="1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</a:t>
                      </a:r>
                    </a:p>
                    <a:p>
                      <a:pPr indent="0">
                        <a:buNone/>
                      </a:pPr>
                      <a:r>
                        <a:rPr lang="en-US" altLang="zh-CN" sz="1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sz="1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IP地址是否属于常用的A、B、C三类IP地址中的一种</a:t>
                      </a:r>
                    </a:p>
                    <a:p>
                      <a:pPr indent="0">
                        <a:buNone/>
                      </a:pPr>
                      <a:endParaRPr lang="en-US" sz="14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1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sz="1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子网掩码是否正确 </a:t>
                      </a:r>
                      <a:endParaRPr lang="en-US" altLang="en-US" sz="14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937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汉仪中等线简" charset="0"/>
                        </a:rPr>
                        <a:t>Error: </a:t>
                      </a:r>
                    </a:p>
                    <a:p>
                      <a:pPr indent="0">
                        <a:buNone/>
                      </a:pPr>
                      <a:r>
                        <a:rPr lang="en-US" sz="1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汉仪中等线简" charset="0"/>
                        </a:rPr>
                        <a:t>The specified address conflicts with another address.</a:t>
                      </a:r>
                      <a:endParaRPr lang="en-US" altLang="en-US" sz="14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汉仪中等线简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错误：</a:t>
                      </a:r>
                    </a:p>
                    <a:p>
                      <a:pPr indent="0">
                        <a:buNone/>
                      </a:pPr>
                      <a:r>
                        <a:rPr lang="en-US" sz="1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IP地址冲突，本设备的其他接口已使用了相同网段的相同IP地址</a:t>
                      </a:r>
                      <a:endParaRPr lang="en-US" altLang="en-US" sz="14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sz="1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使用其他网段的IP地址进行配置</a:t>
                      </a:r>
                    </a:p>
                    <a:p>
                      <a:pPr indent="0">
                        <a:buNone/>
                      </a:pPr>
                      <a:endParaRPr lang="en-US" sz="14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1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sz="1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使用相同网段的不同IP地址进行配置</a:t>
                      </a:r>
                      <a:endParaRPr lang="en-US" altLang="en-US" sz="14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汉仪中等线简" charset="0"/>
                        </a:rPr>
                        <a:t>Error: </a:t>
                      </a:r>
                    </a:p>
                    <a:p>
                      <a:pPr indent="0">
                        <a:buNone/>
                      </a:pPr>
                      <a:r>
                        <a:rPr lang="en-US" sz="1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汉仪中等线简" charset="0"/>
                        </a:rPr>
                        <a:t>The address already exists.</a:t>
                      </a:r>
                      <a:endParaRPr lang="en-US" altLang="en-US" sz="14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汉仪中等线简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错误：</a:t>
                      </a:r>
                    </a:p>
                    <a:p>
                      <a:pPr indent="0">
                        <a:buNone/>
                      </a:pPr>
                      <a:r>
                        <a:rPr lang="en-US" sz="1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接口下已配置相同的IP地址</a:t>
                      </a:r>
                      <a:endParaRPr lang="en-US" altLang="en-US" sz="14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使用其他的IP地址进行配置，或忽略错误，保持当前配置</a:t>
                      </a:r>
                      <a:endParaRPr lang="en-US" altLang="en-US" sz="14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21</a:t>
            </a:fld>
            <a:r>
              <a:rPr lang="en-US" altLang="zh-CN" dirty="0"/>
              <a:t>/28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36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 rot="16200000">
            <a:off x="1268105" y="4199563"/>
            <a:ext cx="0" cy="18720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solidFill>
                <a:srgbClr val="1343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Line 36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 rot="16200000">
            <a:off x="1427345" y="2634433"/>
            <a:ext cx="0" cy="21600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solidFill>
                <a:srgbClr val="1343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本章总结</a:t>
            </a:r>
            <a:r>
              <a:rPr lang="zh-CN" altLang="en-US">
                <a:sym typeface="+mn-ea"/>
              </a:rPr>
              <a:t>及笔记自查</a:t>
            </a:r>
            <a:endParaRPr lang="zh-CN" altLang="en-US"/>
          </a:p>
        </p:txBody>
      </p:sp>
      <p:sp>
        <p:nvSpPr>
          <p:cNvPr id="12294" name="Line 16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2477453" y="1550988"/>
            <a:ext cx="358775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>
              <a:solidFill>
                <a:srgbClr val="1343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07" name="Line 14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2488565" y="1547813"/>
            <a:ext cx="0" cy="9525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>
              <a:solidFill>
                <a:srgbClr val="1343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17" name="AutoShape 1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809240" y="1357751"/>
            <a:ext cx="2700338" cy="373665"/>
          </a:xfrm>
          <a:prstGeom prst="roundRect">
            <a:avLst>
              <a:gd name="adj" fmla="val 16667"/>
            </a:avLst>
          </a:prstGeom>
          <a:solidFill>
            <a:srgbClr val="FEA01A"/>
          </a:solidFill>
          <a:ln w="1905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地址的定义与分类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19" name="AutoShape 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06265" y="3547943"/>
            <a:ext cx="2000263" cy="373669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6893C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>
            <a:lvl1pPr marL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lvl="0" algn="ctr" eaLnBrk="1" hangingPunct="1">
              <a:buClrTx/>
              <a:buSzTx/>
              <a:buFontTx/>
            </a:pPr>
            <a:r>
              <a:rPr lang="zh-CN" altLang="en-US" sz="1600" dirty="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计算机配置IP地址</a:t>
            </a:r>
          </a:p>
        </p:txBody>
      </p:sp>
      <p:sp>
        <p:nvSpPr>
          <p:cNvPr id="40" name="Line 16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2488565" y="3228658"/>
            <a:ext cx="360363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>
              <a:solidFill>
                <a:srgbClr val="1343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AutoShape 18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813107" y="3047879"/>
            <a:ext cx="2700338" cy="373665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6893C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>
            <a:lvl1pPr marL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lvl="0" algn="ctr" eaLnBrk="1" hangingPunct="1">
              <a:buClrTx/>
              <a:buSzTx/>
              <a:buFontTx/>
            </a:pPr>
            <a:r>
              <a:rPr lang="zh-CN" altLang="en-US" sz="1600" dirty="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配置主机的IP地址</a:t>
            </a:r>
          </a:p>
        </p:txBody>
      </p:sp>
      <p:sp>
        <p:nvSpPr>
          <p:cNvPr id="47" name="Line 37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 flipH="1">
            <a:off x="2488565" y="3217863"/>
            <a:ext cx="3175" cy="900112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>
              <a:solidFill>
                <a:srgbClr val="1343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AutoShape 5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286183" y="4910685"/>
            <a:ext cx="2000263" cy="373665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6893C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>
            <a:lvl1pPr marL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lvl="0" algn="ctr" eaLnBrk="1" hangingPunct="1">
              <a:buClrTx/>
              <a:buSzTx/>
              <a:buFontTx/>
            </a:pPr>
            <a:r>
              <a:rPr lang="zh-CN" altLang="en-US" sz="1600" dirty="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路由器配置</a:t>
            </a:r>
            <a:r>
              <a:rPr lang="en-US" altLang="zh-CN" sz="1600" dirty="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</a:t>
            </a:r>
            <a:r>
              <a:rPr lang="zh-CN" altLang="en-US" sz="1600" dirty="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地址</a:t>
            </a:r>
          </a:p>
        </p:txBody>
      </p:sp>
      <p:sp>
        <p:nvSpPr>
          <p:cNvPr id="23" name="Line 36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 rot="16200000">
            <a:off x="1426710" y="991688"/>
            <a:ext cx="0" cy="21600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 dirty="0">
              <a:solidFill>
                <a:srgbClr val="1343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20" name="AutoShape 5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02578" y="1861646"/>
            <a:ext cx="1971675" cy="373665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6893C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>
            <a:lvl1pPr marL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lvl="0" algn="ctr" eaLnBrk="1" hangingPunct="1">
              <a:buClrTx/>
              <a:buSzTx/>
              <a:buFontTx/>
            </a:pPr>
            <a:r>
              <a:rPr lang="zh-CN" altLang="en-US" sz="1600" dirty="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IP地址概述</a:t>
            </a:r>
          </a:p>
        </p:txBody>
      </p:sp>
      <p:sp>
        <p:nvSpPr>
          <p:cNvPr id="28" name="Line 16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2499678" y="4117975"/>
            <a:ext cx="36036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>
              <a:solidFill>
                <a:srgbClr val="1343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AutoShape 28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811487" y="3958739"/>
            <a:ext cx="2700338" cy="374571"/>
          </a:xfrm>
          <a:prstGeom prst="roundRect">
            <a:avLst>
              <a:gd name="adj" fmla="val 16667"/>
            </a:avLst>
          </a:prstGeom>
          <a:solidFill>
            <a:srgbClr val="FEA01A"/>
          </a:solidFill>
          <a:ln w="1905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</a:p>
        </p:txBody>
      </p:sp>
      <p:sp>
        <p:nvSpPr>
          <p:cNvPr id="39" name="Line 16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2488565" y="2500313"/>
            <a:ext cx="358775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 b="1">
              <a:solidFill>
                <a:srgbClr val="1343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18" name="AutoShape 11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809240" y="2291281"/>
            <a:ext cx="2700338" cy="374571"/>
          </a:xfrm>
          <a:prstGeom prst="roundRect">
            <a:avLst>
              <a:gd name="adj" fmla="val 16667"/>
            </a:avLst>
          </a:prstGeom>
          <a:solidFill>
            <a:srgbClr val="FEA01A"/>
          </a:solidFill>
          <a:ln w="1905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子网掩码</a:t>
            </a:r>
          </a:p>
        </p:txBody>
      </p:sp>
      <p:sp>
        <p:nvSpPr>
          <p:cNvPr id="14" name="文本框 13"/>
          <p:cNvSpPr txBox="1"/>
          <p:nvPr>
            <p:custDataLst>
              <p:tags r:id="rId17"/>
            </p:custDataLst>
          </p:nvPr>
        </p:nvSpPr>
        <p:spPr>
          <a:xfrm>
            <a:off x="5581015" y="1321435"/>
            <a:ext cx="36436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网络部分、主机部分、</a:t>
            </a:r>
            <a:r>
              <a:rPr lang="en-US" altLang="zh-CN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IPv4</a:t>
            </a:r>
            <a:r>
              <a:rPr lang="zh-CN" altLang="en-US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IPv6</a:t>
            </a:r>
          </a:p>
        </p:txBody>
      </p:sp>
      <p:sp>
        <p:nvSpPr>
          <p:cNvPr id="4" name="文本框 3"/>
          <p:cNvSpPr txBox="1"/>
          <p:nvPr>
            <p:custDataLst>
              <p:tags r:id="rId18"/>
            </p:custDataLst>
          </p:nvPr>
        </p:nvSpPr>
        <p:spPr>
          <a:xfrm>
            <a:off x="5581015" y="2297430"/>
            <a:ext cx="36436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逻辑“与”运算</a:t>
            </a:r>
            <a:r>
              <a:rPr lang="zh-CN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、简便写法</a:t>
            </a:r>
          </a:p>
        </p:txBody>
      </p:sp>
      <p:sp>
        <p:nvSpPr>
          <p:cNvPr id="7" name="文本框 6"/>
          <p:cNvSpPr txBox="1"/>
          <p:nvPr>
            <p:custDataLst>
              <p:tags r:id="rId19"/>
            </p:custDataLst>
          </p:nvPr>
        </p:nvSpPr>
        <p:spPr>
          <a:xfrm>
            <a:off x="5581015" y="3933825"/>
            <a:ext cx="36436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ipconfig</a:t>
            </a:r>
            <a:r>
              <a:rPr lang="zh-CN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、ping</a:t>
            </a:r>
          </a:p>
        </p:txBody>
      </p:sp>
      <p:sp>
        <p:nvSpPr>
          <p:cNvPr id="8" name="文本框 7"/>
          <p:cNvSpPr txBox="1"/>
          <p:nvPr>
            <p:custDataLst>
              <p:tags r:id="rId20"/>
            </p:custDataLst>
          </p:nvPr>
        </p:nvSpPr>
        <p:spPr>
          <a:xfrm>
            <a:off x="2306320" y="4774565"/>
            <a:ext cx="52698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 address </a:t>
            </a:r>
            <a:r>
              <a:rPr lang="zh-CN" i="1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ip-address</a:t>
            </a:r>
            <a:r>
              <a:rPr lang="zh-CN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{ </a:t>
            </a:r>
            <a:r>
              <a:rPr lang="zh-CN" i="1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mask</a:t>
            </a:r>
            <a:r>
              <a:rPr lang="zh-CN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| </a:t>
            </a:r>
            <a:r>
              <a:rPr lang="zh-CN" i="1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mask-length</a:t>
            </a:r>
            <a:r>
              <a:rPr lang="zh-CN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}</a:t>
            </a:r>
          </a:p>
          <a:p>
            <a:r>
              <a:rPr lang="zh-CN" altLang="en-US" dirty="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配置</a:t>
            </a:r>
            <a:r>
              <a:rPr lang="en-US" altLang="zh-CN" dirty="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</a:t>
            </a:r>
            <a:r>
              <a:rPr lang="zh-CN" altLang="en-US" dirty="0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地址的</a:t>
            </a:r>
            <a:r>
              <a:rPr lang="zh-CN">
                <a:solidFill>
                  <a:srgbClr val="001E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注意事项与常见错误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22</a:t>
            </a:fld>
            <a:r>
              <a:rPr lang="en-US" altLang="zh-CN" dirty="0"/>
              <a:t>/28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4"/>
          <p:cNvSpPr>
            <a:spLocks noGrp="1"/>
          </p:cNvSpPr>
          <p:nvPr/>
        </p:nvSpPr>
        <p:spPr>
          <a:xfrm>
            <a:off x="1588" y="2479546"/>
            <a:ext cx="9140825" cy="10934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800" b="1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</a:t>
            </a:r>
            <a:r>
              <a:rPr lang="zh-CN" altLang="en-US" sz="4800" b="1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地址概述与配置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3421173" y="1951658"/>
            <a:ext cx="2301655" cy="397222"/>
            <a:chOff x="4932040" y="3751858"/>
            <a:chExt cx="2301655" cy="397222"/>
          </a:xfrm>
        </p:grpSpPr>
        <p:sp>
          <p:nvSpPr>
            <p:cNvPr id="10" name="标题 1"/>
            <p:cNvSpPr txBox="1"/>
            <p:nvPr/>
          </p:nvSpPr>
          <p:spPr>
            <a:xfrm>
              <a:off x="4932040" y="3751858"/>
              <a:ext cx="2301655" cy="39722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第三章</a:t>
              </a: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5321495" y="3899824"/>
              <a:ext cx="184008" cy="145008"/>
              <a:chOff x="3923928" y="3595371"/>
              <a:chExt cx="252028" cy="198611"/>
            </a:xfrm>
          </p:grpSpPr>
          <p:sp>
            <p:nvSpPr>
              <p:cNvPr id="12" name="燕尾形 11"/>
              <p:cNvSpPr/>
              <p:nvPr/>
            </p:nvSpPr>
            <p:spPr>
              <a:xfrm>
                <a:off x="4067944" y="3595371"/>
                <a:ext cx="108012" cy="198611"/>
              </a:xfrm>
              <a:prstGeom prst="chevron">
                <a:avLst/>
              </a:prstGeom>
              <a:solidFill>
                <a:srgbClr val="40EC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燕尾形 12"/>
              <p:cNvSpPr/>
              <p:nvPr/>
            </p:nvSpPr>
            <p:spPr>
              <a:xfrm>
                <a:off x="3923928" y="3595371"/>
                <a:ext cx="108012" cy="198611"/>
              </a:xfrm>
              <a:prstGeom prst="chevron">
                <a:avLst/>
              </a:prstGeom>
              <a:solidFill>
                <a:srgbClr val="40EC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</a:t>
            </a:r>
            <a:r>
              <a:rPr lang="en-US" altLang="zh-CN"/>
              <a:t>1</a:t>
            </a:r>
            <a:r>
              <a:rPr lang="zh-CN" altLang="en-US"/>
              <a:t>：配置IP地址并验证连通性</a:t>
            </a:r>
          </a:p>
        </p:txBody>
      </p:sp>
      <p:sp>
        <p:nvSpPr>
          <p:cNvPr id="37890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需求描述</a:t>
            </a:r>
            <a:endParaRPr lang="en-US" altLang="zh-CN"/>
          </a:p>
          <a:p>
            <a:pPr lvl="1"/>
            <a:r>
              <a:rPr lang="en-US" altLang="zh-CN"/>
              <a:t>为两台主机配置IP地址，验证IP地址是否生效</a:t>
            </a:r>
          </a:p>
          <a:p>
            <a:pPr lvl="1"/>
            <a:r>
              <a:rPr lang="en-US" altLang="zh-CN"/>
              <a:t>验证同一网段的两台主机可以互通，不同网段的主机不能直接互通</a:t>
            </a:r>
          </a:p>
          <a:p>
            <a:endParaRPr lang="zh-CN" altLang="en-US"/>
          </a:p>
          <a:p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zh-CN" altLang="en-US">
                <a:sym typeface="+mn-ea"/>
              </a:rPr>
              <a:t>实验环境</a:t>
            </a:r>
            <a:endParaRPr lang="en-US" altLang="zh-CN"/>
          </a:p>
          <a:p>
            <a:pPr lvl="1"/>
            <a:r>
              <a:rPr lang="en-US" altLang="zh-CN"/>
              <a:t>主机A和主机B通过一根网线相连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5255964" y="5616171"/>
            <a:ext cx="2494917" cy="573757"/>
            <a:chOff x="1331640" y="2924944"/>
            <a:chExt cx="2494917" cy="573757"/>
          </a:xfrm>
        </p:grpSpPr>
        <p:sp>
          <p:nvSpPr>
            <p:cNvPr id="4" name="圆角矩形 3"/>
            <p:cNvSpPr/>
            <p:nvPr/>
          </p:nvSpPr>
          <p:spPr>
            <a:xfrm>
              <a:off x="1468226" y="3031802"/>
              <a:ext cx="2358331" cy="360040"/>
            </a:xfrm>
            <a:prstGeom prst="roundRect">
              <a:avLst/>
            </a:prstGeom>
            <a:solidFill>
              <a:srgbClr val="0034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1331640" y="2924944"/>
              <a:ext cx="573757" cy="573757"/>
            </a:xfrm>
            <a:prstGeom prst="ellipse">
              <a:avLst/>
            </a:prstGeom>
            <a:solidFill>
              <a:srgbClr val="0034DC"/>
            </a:solidFill>
            <a:ln>
              <a:solidFill>
                <a:srgbClr val="0034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5"/>
            <p:cNvSpPr txBox="1"/>
            <p:nvPr/>
          </p:nvSpPr>
          <p:spPr>
            <a:xfrm>
              <a:off x="1984295" y="3042545"/>
              <a:ext cx="1680188" cy="33718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学员练习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30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分钟</a:t>
              </a: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1220" y="3024540"/>
              <a:ext cx="374597" cy="374565"/>
            </a:xfrm>
            <a:prstGeom prst="rect">
              <a:avLst/>
            </a:prstGeom>
          </p:spPr>
        </p:pic>
      </p:grpSp>
      <p:grpSp>
        <p:nvGrpSpPr>
          <p:cNvPr id="14" name="组合 13"/>
          <p:cNvGrpSpPr/>
          <p:nvPr/>
        </p:nvGrpSpPr>
        <p:grpSpPr>
          <a:xfrm>
            <a:off x="1763134" y="5612193"/>
            <a:ext cx="2199762" cy="573757"/>
            <a:chOff x="1907704" y="2132856"/>
            <a:chExt cx="2199762" cy="573757"/>
          </a:xfrm>
        </p:grpSpPr>
        <p:sp>
          <p:nvSpPr>
            <p:cNvPr id="15" name="圆角矩形 14"/>
            <p:cNvSpPr/>
            <p:nvPr/>
          </p:nvSpPr>
          <p:spPr>
            <a:xfrm>
              <a:off x="2140866" y="2239714"/>
              <a:ext cx="1966600" cy="360040"/>
            </a:xfrm>
            <a:prstGeom prst="roundRect">
              <a:avLst/>
            </a:prstGeom>
            <a:solidFill>
              <a:srgbClr val="001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907704" y="2132856"/>
              <a:ext cx="573757" cy="573757"/>
            </a:xfrm>
            <a:prstGeom prst="ellipse">
              <a:avLst/>
            </a:prstGeom>
            <a:solidFill>
              <a:srgbClr val="001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5"/>
            <p:cNvSpPr txBox="1"/>
            <p:nvPr/>
          </p:nvSpPr>
          <p:spPr>
            <a:xfrm>
              <a:off x="2544435" y="2250457"/>
              <a:ext cx="1491024" cy="33855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教员讲解思路</a:t>
              </a:r>
            </a:p>
          </p:txBody>
        </p:sp>
        <p:pic>
          <p:nvPicPr>
            <p:cNvPr id="18" name="Picture 5" descr="C:\Users\lei.sun.PRD\Desktop\等3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0500" y="2219189"/>
              <a:ext cx="328165" cy="4010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" name="图片 42" descr="6.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9665" y="3789045"/>
            <a:ext cx="4471035" cy="14973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24</a:t>
            </a:fld>
            <a:r>
              <a:rPr lang="en-US" altLang="zh-CN" dirty="0"/>
              <a:t>/28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</a:t>
            </a:r>
            <a:r>
              <a:rPr lang="en-US" altLang="zh-CN"/>
              <a:t>2</a:t>
            </a:r>
            <a:r>
              <a:rPr lang="zh-CN" altLang="en-US"/>
              <a:t>：配置路由器实现互通</a:t>
            </a:r>
          </a:p>
        </p:txBody>
      </p:sp>
      <p:sp>
        <p:nvSpPr>
          <p:cNvPr id="37890" name="内容占位符 1"/>
          <p:cNvSpPr>
            <a:spLocks noGrp="1"/>
          </p:cNvSpPr>
          <p:nvPr>
            <p:ph idx="1"/>
          </p:nvPr>
        </p:nvSpPr>
        <p:spPr>
          <a:xfrm>
            <a:off x="323215" y="980440"/>
            <a:ext cx="8669655" cy="5381625"/>
          </a:xfrm>
        </p:spPr>
        <p:txBody>
          <a:bodyPr/>
          <a:lstStyle/>
          <a:p>
            <a:r>
              <a:rPr lang="zh-CN" altLang="en-US">
                <a:sym typeface="+mn-ea"/>
              </a:rPr>
              <a:t>需求描述</a:t>
            </a:r>
            <a:endParaRPr lang="en-US" altLang="zh-CN"/>
          </a:p>
          <a:p>
            <a:pPr lvl="1"/>
            <a:r>
              <a:rPr lang="en-US" altLang="zh-CN"/>
              <a:t>将两台路由器的GE0/0/0接口相连，通过一台PC连接设备的Console</a:t>
            </a:r>
            <a:r>
              <a:rPr lang="zh-CN" altLang="en-US"/>
              <a:t>接</a:t>
            </a:r>
            <a:r>
              <a:rPr lang="en-US" altLang="zh-CN"/>
              <a:t>口并配置IP地址 192.168.1.0/24，实现设备之间的互通</a:t>
            </a:r>
          </a:p>
          <a:p>
            <a:pPr lvl="1"/>
            <a:r>
              <a:rPr lang="en-US" altLang="zh-CN"/>
              <a:t>验证设备互通成功后，保存设备的配置</a:t>
            </a:r>
          </a:p>
          <a:p>
            <a:endParaRPr lang="zh-CN" altLang="en-US"/>
          </a:p>
          <a:p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zh-CN" altLang="en-US">
                <a:sym typeface="+mn-ea"/>
              </a:rPr>
              <a:t>实验环境</a:t>
            </a:r>
            <a:endParaRPr lang="en-US" altLang="zh-CN"/>
          </a:p>
          <a:p>
            <a:pPr lvl="1"/>
            <a:r>
              <a:rPr lang="en-US" altLang="zh-CN"/>
              <a:t>实验用具包括两台路由器，一根双绞线缆，一台PC，一条Console线缆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5255964" y="5616171"/>
            <a:ext cx="2494917" cy="573757"/>
            <a:chOff x="1331640" y="2924944"/>
            <a:chExt cx="2494917" cy="573757"/>
          </a:xfrm>
        </p:grpSpPr>
        <p:sp>
          <p:nvSpPr>
            <p:cNvPr id="4" name="圆角矩形 3"/>
            <p:cNvSpPr/>
            <p:nvPr/>
          </p:nvSpPr>
          <p:spPr>
            <a:xfrm>
              <a:off x="1468226" y="3031802"/>
              <a:ext cx="2358331" cy="360040"/>
            </a:xfrm>
            <a:prstGeom prst="roundRect">
              <a:avLst/>
            </a:prstGeom>
            <a:solidFill>
              <a:srgbClr val="0034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1331640" y="2924944"/>
              <a:ext cx="573757" cy="573757"/>
            </a:xfrm>
            <a:prstGeom prst="ellipse">
              <a:avLst/>
            </a:prstGeom>
            <a:solidFill>
              <a:srgbClr val="0034DC"/>
            </a:solidFill>
            <a:ln>
              <a:solidFill>
                <a:srgbClr val="0034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5"/>
            <p:cNvSpPr txBox="1"/>
            <p:nvPr/>
          </p:nvSpPr>
          <p:spPr>
            <a:xfrm>
              <a:off x="1984295" y="3042545"/>
              <a:ext cx="1680188" cy="33718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学员练习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60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分钟</a:t>
              </a: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1220" y="3024540"/>
              <a:ext cx="374597" cy="374565"/>
            </a:xfrm>
            <a:prstGeom prst="rect">
              <a:avLst/>
            </a:prstGeom>
          </p:spPr>
        </p:pic>
      </p:grpSp>
      <p:grpSp>
        <p:nvGrpSpPr>
          <p:cNvPr id="14" name="组合 13"/>
          <p:cNvGrpSpPr/>
          <p:nvPr/>
        </p:nvGrpSpPr>
        <p:grpSpPr>
          <a:xfrm>
            <a:off x="1763134" y="5612193"/>
            <a:ext cx="2199762" cy="573757"/>
            <a:chOff x="1907704" y="2132856"/>
            <a:chExt cx="2199762" cy="573757"/>
          </a:xfrm>
        </p:grpSpPr>
        <p:sp>
          <p:nvSpPr>
            <p:cNvPr id="15" name="圆角矩形 14"/>
            <p:cNvSpPr/>
            <p:nvPr/>
          </p:nvSpPr>
          <p:spPr>
            <a:xfrm>
              <a:off x="2140866" y="2239714"/>
              <a:ext cx="1966600" cy="360040"/>
            </a:xfrm>
            <a:prstGeom prst="roundRect">
              <a:avLst/>
            </a:prstGeom>
            <a:solidFill>
              <a:srgbClr val="001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907704" y="2132856"/>
              <a:ext cx="573757" cy="573757"/>
            </a:xfrm>
            <a:prstGeom prst="ellipse">
              <a:avLst/>
            </a:prstGeom>
            <a:solidFill>
              <a:srgbClr val="001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5"/>
            <p:cNvSpPr txBox="1"/>
            <p:nvPr/>
          </p:nvSpPr>
          <p:spPr>
            <a:xfrm>
              <a:off x="2544435" y="2250457"/>
              <a:ext cx="1491024" cy="33855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教员讲解思路</a:t>
              </a:r>
            </a:p>
          </p:txBody>
        </p:sp>
        <p:pic>
          <p:nvPicPr>
            <p:cNvPr id="18" name="Picture 5" descr="C:\Users\lei.sun.PRD\Desktop\等3.png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0500" y="2219189"/>
              <a:ext cx="328165" cy="4010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" name="图片 8" descr="0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748915" y="4293235"/>
            <a:ext cx="719455" cy="733425"/>
          </a:xfrm>
          <a:prstGeom prst="rect">
            <a:avLst/>
          </a:prstGeom>
        </p:spPr>
      </p:pic>
      <p:pic>
        <p:nvPicPr>
          <p:cNvPr id="5" name="图片 4" descr="0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232525" y="4293235"/>
            <a:ext cx="719455" cy="733425"/>
          </a:xfrm>
          <a:prstGeom prst="rect">
            <a:avLst/>
          </a:prstGeom>
        </p:spPr>
      </p:pic>
      <p:cxnSp>
        <p:nvCxnSpPr>
          <p:cNvPr id="7" name="直接连接符 6"/>
          <p:cNvCxnSpPr>
            <a:stCxn id="9" idx="3"/>
            <a:endCxn id="5" idx="1"/>
          </p:cNvCxnSpPr>
          <p:nvPr/>
        </p:nvCxnSpPr>
        <p:spPr>
          <a:xfrm>
            <a:off x="3468370" y="4660265"/>
            <a:ext cx="2764155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852103" y="5085080"/>
            <a:ext cx="513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R1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6335713" y="5085080"/>
            <a:ext cx="513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R2</a:t>
            </a:r>
          </a:p>
        </p:txBody>
      </p:sp>
      <p:sp>
        <p:nvSpPr>
          <p:cNvPr id="19" name="文本框 18"/>
          <p:cNvSpPr txBox="1"/>
          <p:nvPr>
            <p:custDataLst>
              <p:tags r:id="rId4"/>
            </p:custDataLst>
          </p:nvPr>
        </p:nvSpPr>
        <p:spPr>
          <a:xfrm>
            <a:off x="3468370" y="4291965"/>
            <a:ext cx="1367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GE0/0/0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5"/>
            </p:custDataLst>
          </p:nvPr>
        </p:nvSpPr>
        <p:spPr>
          <a:xfrm>
            <a:off x="5114925" y="4291965"/>
            <a:ext cx="1262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GE0/0/0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6"/>
            </p:custDataLst>
          </p:nvPr>
        </p:nvSpPr>
        <p:spPr>
          <a:xfrm>
            <a:off x="3944620" y="4703445"/>
            <a:ext cx="1795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192.168.1.0/24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25</a:t>
            </a:fld>
            <a:r>
              <a:rPr lang="en-US" altLang="zh-CN" dirty="0"/>
              <a:t>/28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4"/>
          <p:cNvSpPr>
            <a:spLocks noGrp="1"/>
          </p:cNvSpPr>
          <p:nvPr/>
        </p:nvSpPr>
        <p:spPr>
          <a:xfrm>
            <a:off x="1588" y="2479546"/>
            <a:ext cx="9140825" cy="10934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800" b="1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</a:t>
            </a:r>
            <a:r>
              <a:rPr lang="zh-CN" altLang="en-US" sz="4800" b="1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地址概述与配置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3421173" y="1951658"/>
            <a:ext cx="2301655" cy="397222"/>
            <a:chOff x="4932040" y="3751858"/>
            <a:chExt cx="2301655" cy="397222"/>
          </a:xfrm>
        </p:grpSpPr>
        <p:sp>
          <p:nvSpPr>
            <p:cNvPr id="10" name="标题 1"/>
            <p:cNvSpPr txBox="1"/>
            <p:nvPr/>
          </p:nvSpPr>
          <p:spPr>
            <a:xfrm>
              <a:off x="4932040" y="3751858"/>
              <a:ext cx="2301655" cy="39722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第三章</a:t>
              </a: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5321495" y="3899824"/>
              <a:ext cx="184008" cy="145008"/>
              <a:chOff x="3923928" y="3595371"/>
              <a:chExt cx="252028" cy="198611"/>
            </a:xfrm>
          </p:grpSpPr>
          <p:sp>
            <p:nvSpPr>
              <p:cNvPr id="12" name="燕尾形 11"/>
              <p:cNvSpPr/>
              <p:nvPr/>
            </p:nvSpPr>
            <p:spPr>
              <a:xfrm>
                <a:off x="4067944" y="3595371"/>
                <a:ext cx="108012" cy="198611"/>
              </a:xfrm>
              <a:prstGeom prst="chevron">
                <a:avLst/>
              </a:prstGeom>
              <a:solidFill>
                <a:srgbClr val="40EC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燕尾形 12"/>
              <p:cNvSpPr/>
              <p:nvPr/>
            </p:nvSpPr>
            <p:spPr>
              <a:xfrm>
                <a:off x="3923928" y="3595371"/>
                <a:ext cx="108012" cy="198611"/>
              </a:xfrm>
              <a:prstGeom prst="chevron">
                <a:avLst/>
              </a:prstGeom>
              <a:solidFill>
                <a:srgbClr val="40EC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复习和预习作业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837217"/>
            <a:ext cx="8496944" cy="5381337"/>
          </a:xfrm>
        </p:spPr>
        <p:txBody>
          <a:bodyPr/>
          <a:lstStyle/>
          <a:p>
            <a:r>
              <a:rPr lang="zh-CN" altLang="en-US"/>
              <a:t>复习题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预习题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3260" y="1174750"/>
            <a:ext cx="8299450" cy="3041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1．各用一句话说明IP地址和子网掩码的作用</a:t>
            </a:r>
          </a:p>
          <a:p>
            <a:pPr marL="0" lvl="1"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2．IP地址由哪两个部分组成？其作用分别是什么？</a:t>
            </a:r>
          </a:p>
          <a:p>
            <a:pPr marL="0" lvl="1"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3．教员随机给一个IP地址和子网掩码，求该IP所属网段的可用主机数量（要求有计算过程）</a:t>
            </a:r>
          </a:p>
          <a:p>
            <a:pPr marL="0" lvl="1"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4．私有地址包括哪三组地址范围？</a:t>
            </a:r>
          </a:p>
          <a:p>
            <a:pPr marL="0" lvl="1"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5．教员随机给一个IP地址和子网掩码，求该IP所属网段的可用网络数量（要求有计算过程）</a:t>
            </a:r>
          </a:p>
          <a:p>
            <a:pPr marL="0" lvl="1"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6．教员随机给一个IP地址和子网掩码，求该IP所属网段的网络ID</a:t>
            </a:r>
          </a:p>
          <a:p>
            <a:pPr marL="0" lvl="1"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7．ipconfig命令可以查看哪些基本IP地址信息？</a:t>
            </a:r>
          </a:p>
          <a:p>
            <a:pPr marL="0" lvl="1"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8．局域网内的计算机在什么情况下需要设置默认网关？</a:t>
            </a:r>
          </a:p>
          <a:p>
            <a:pPr marL="0" lvl="1"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9．为路由器的GE0/0/0接口配置IP地址（192.168.1.0/24）的命令是什么？</a:t>
            </a:r>
          </a:p>
          <a:p>
            <a:pPr marL="0" lvl="1"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10．在路由器中，执行什么命令可以查看指定接口的IP相关信息？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3669" y="4914379"/>
            <a:ext cx="8136904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1．路由器的路由表中存储了什么对应关系？其作用是什么？</a:t>
            </a:r>
          </a:p>
          <a:p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2．简述静态路由与默认路由的适用场合</a:t>
            </a:r>
          </a:p>
          <a:p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3．简述路由器的工作原理</a:t>
            </a:r>
          </a:p>
          <a:p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4．静态路由具有哪些特点？</a:t>
            </a:r>
          </a:p>
          <a:p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5．查看路由表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的命令是什么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？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 descr="印章-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892" y="4861661"/>
            <a:ext cx="1476011" cy="1476011"/>
          </a:xfrm>
          <a:prstGeom prst="rect">
            <a:avLst/>
          </a:prstGeom>
        </p:spPr>
      </p:pic>
      <p:pic>
        <p:nvPicPr>
          <p:cNvPr id="6" name="图片 5" descr="印章-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6185" y="2711339"/>
            <a:ext cx="1476011" cy="1476011"/>
          </a:xfrm>
          <a:prstGeom prst="rect">
            <a:avLst/>
          </a:prstGeom>
        </p:spPr>
      </p:pic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27</a:t>
            </a:fld>
            <a:r>
              <a:rPr lang="en-US" altLang="zh-CN" dirty="0"/>
              <a:t>/28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gxMGRmMzkyYTkzZTViZmRlOTI5NjRmMjU2ZDMyYjkifQ=="/>
  <p:tag name="KSO_WPP_MARK_KEY" val="338d8159-d1d1-4ef5-b503-ce494471c7b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3d45870-9b99-4bcf-9440-9ca8c6f0a829}"/>
  <p:tag name="TABLE_ENDDRAG_ORIGIN_RECT" val="532*357"/>
  <p:tag name="TABLE_ENDDRAG_RECT" val="82*140*532*357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2328</Words>
  <Application>Microsoft Office PowerPoint</Application>
  <PresentationFormat>全屏显示(4:3)</PresentationFormat>
  <Paragraphs>380</Paragraphs>
  <Slides>27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3" baseType="lpstr">
      <vt:lpstr>宋体</vt:lpstr>
      <vt:lpstr>Arial</vt:lpstr>
      <vt:lpstr>Calibri</vt:lpstr>
      <vt:lpstr>Wingdings</vt:lpstr>
      <vt:lpstr>微软雅黑</vt:lpstr>
      <vt:lpstr>Office 主题</vt:lpstr>
      <vt:lpstr>课前小考</vt:lpstr>
      <vt:lpstr>PowerPoint 演示文稿</vt:lpstr>
      <vt:lpstr>本章结构</vt:lpstr>
      <vt:lpstr>请思考</vt:lpstr>
      <vt:lpstr>IP地址概述</vt:lpstr>
      <vt:lpstr>IP地址概述</vt:lpstr>
      <vt:lpstr>IP地址概述</vt:lpstr>
      <vt:lpstr>IP地址概述</vt:lpstr>
      <vt:lpstr>IP地址概述</vt:lpstr>
      <vt:lpstr>IP地址概述</vt:lpstr>
      <vt:lpstr>IP地址概述</vt:lpstr>
      <vt:lpstr>IP地址概述</vt:lpstr>
      <vt:lpstr>IP地址概述</vt:lpstr>
      <vt:lpstr>IP地址概述</vt:lpstr>
      <vt:lpstr>小结</vt:lpstr>
      <vt:lpstr>计算机配置IP地址</vt:lpstr>
      <vt:lpstr>计算机配置IP地址</vt:lpstr>
      <vt:lpstr>路由器配置IP地址</vt:lpstr>
      <vt:lpstr>路由器配置IP地址</vt:lpstr>
      <vt:lpstr>路由器配置IP地址</vt:lpstr>
      <vt:lpstr>路由器配置IP地址</vt:lpstr>
      <vt:lpstr>本章总结及笔记自查</vt:lpstr>
      <vt:lpstr>PowerPoint 演示文稿</vt:lpstr>
      <vt:lpstr>实验1：配置IP地址并验证连通性</vt:lpstr>
      <vt:lpstr>实验2：配置路由器实现互通</vt:lpstr>
      <vt:lpstr>PowerPoint 演示文稿</vt:lpstr>
      <vt:lpstr>复习和预习作业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sunlei(孙蕾)</dc:creator>
  <cp:lastModifiedBy>jingjing li</cp:lastModifiedBy>
  <cp:revision>388</cp:revision>
  <dcterms:created xsi:type="dcterms:W3CDTF">2021-12-22T01:38:00Z</dcterms:created>
  <dcterms:modified xsi:type="dcterms:W3CDTF">2024-10-15T03:59:57Z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26E20454890D47EC8383BCD6CF186E7E</vt:lpwstr>
  </property>
  <property fmtid="{D5CDD505-2E9C-101B-9397-08002B2CF9AE}" pid="3" name="KSOProductBuildVer">
    <vt:lpwstr>2052-11.1.0.14309</vt:lpwstr>
  </property>
</Properties>
</file>