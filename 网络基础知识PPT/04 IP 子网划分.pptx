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notesSlides/notesSlide6.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1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1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16.xml" ContentType="application/vnd.openxmlformats-officedocument.presentationml.notesSlide+xml"/>
  <Override PartName="/ppt/tags/tag24.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25.xml" ContentType="application/vnd.openxmlformats-officedocument.presentationml.tags+xml"/>
  <Override PartName="/ppt/notesSlides/notesSlide19.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20.xml" ContentType="application/vnd.openxmlformats-officedocument.presentationml.notesSlide+xml"/>
  <Override PartName="/ppt/tags/tag28.xml" ContentType="application/vnd.openxmlformats-officedocument.presentationml.tags+xml"/>
  <Override PartName="/ppt/notesSlides/notesSlide21.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22.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7"/>
  </p:notesMasterIdLst>
  <p:sldIdLst>
    <p:sldId id="854" r:id="rId2"/>
    <p:sldId id="296" r:id="rId3"/>
    <p:sldId id="856" r:id="rId4"/>
    <p:sldId id="953" r:id="rId5"/>
    <p:sldId id="954" r:id="rId6"/>
    <p:sldId id="893" r:id="rId7"/>
    <p:sldId id="858" r:id="rId8"/>
    <p:sldId id="859" r:id="rId9"/>
    <p:sldId id="860" r:id="rId10"/>
    <p:sldId id="861" r:id="rId11"/>
    <p:sldId id="862" r:id="rId12"/>
    <p:sldId id="863" r:id="rId13"/>
    <p:sldId id="865" r:id="rId14"/>
    <p:sldId id="864" r:id="rId15"/>
    <p:sldId id="866" r:id="rId16"/>
    <p:sldId id="867" r:id="rId17"/>
    <p:sldId id="868" r:id="rId18"/>
    <p:sldId id="869" r:id="rId19"/>
    <p:sldId id="870" r:id="rId20"/>
    <p:sldId id="871" r:id="rId21"/>
    <p:sldId id="872" r:id="rId22"/>
    <p:sldId id="873" r:id="rId23"/>
    <p:sldId id="874" r:id="rId24"/>
    <p:sldId id="877" r:id="rId25"/>
    <p:sldId id="878" r:id="rId26"/>
    <p:sldId id="879" r:id="rId27"/>
    <p:sldId id="880" r:id="rId28"/>
    <p:sldId id="881" r:id="rId29"/>
    <p:sldId id="882" r:id="rId30"/>
    <p:sldId id="936" r:id="rId31"/>
    <p:sldId id="883" r:id="rId32"/>
    <p:sldId id="884" r:id="rId33"/>
    <p:sldId id="885" r:id="rId34"/>
    <p:sldId id="887" r:id="rId35"/>
    <p:sldId id="888" r:id="rId36"/>
    <p:sldId id="889" r:id="rId37"/>
    <p:sldId id="890" r:id="rId38"/>
    <p:sldId id="891" r:id="rId39"/>
    <p:sldId id="892" r:id="rId40"/>
    <p:sldId id="824" r:id="rId41"/>
    <p:sldId id="818" r:id="rId42"/>
    <p:sldId id="303" r:id="rId43"/>
    <p:sldId id="855" r:id="rId44"/>
    <p:sldId id="937" r:id="rId45"/>
    <p:sldId id="290" r:id="rId46"/>
  </p:sldIdLst>
  <p:sldSz cx="9144000" cy="6858000" type="screen4x3"/>
  <p:notesSz cx="6858000" cy="9144000"/>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75" userDrawn="1">
          <p15:clr>
            <a:srgbClr val="A4A3A4"/>
          </p15:clr>
        </p15:guide>
        <p15:guide id="2" pos="292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  " initials="  " lastIdx="1" clrIdx="0"/>
  <p:cmAuthor id="1" name="zhenyu.pan" initials="z"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1E7F"/>
    <a:srgbClr val="0034DC"/>
    <a:srgbClr val="E46C0A"/>
    <a:srgbClr val="FEA01A"/>
    <a:srgbClr val="000E3A"/>
    <a:srgbClr val="FFE9A3"/>
    <a:srgbClr val="FFE389"/>
    <a:srgbClr val="030449"/>
    <a:srgbClr val="E6E3D2"/>
    <a:srgbClr val="EEEE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8596" autoAdjust="0"/>
  </p:normalViewPr>
  <p:slideViewPr>
    <p:cSldViewPr showGuides="1">
      <p:cViewPr varScale="1">
        <p:scale>
          <a:sx n="88" d="100"/>
          <a:sy n="88" d="100"/>
        </p:scale>
        <p:origin x="72" y="172"/>
      </p:cViewPr>
      <p:guideLst>
        <p:guide orient="horz" pos="2475"/>
        <p:guide pos="2922"/>
      </p:guideLst>
    </p:cSldViewPr>
  </p:slideViewPr>
  <p:notesTextViewPr>
    <p:cViewPr>
      <p:scale>
        <a:sx n="100" d="100"/>
        <a:sy n="100" d="100"/>
      </p:scale>
      <p:origin x="0" y="0"/>
    </p:cViewPr>
  </p:notesTextViewPr>
  <p:notesViewPr>
    <p:cSldViewPr>
      <p:cViewPr varScale="1">
        <p:scale>
          <a:sx n="70" d="100"/>
          <a:sy n="70" d="100"/>
        </p:scale>
        <p:origin x="1592" y="76"/>
      </p:cViewPr>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ED5F76E-FF15-4BE5-AA9E-53295ECA6D34}" type="datetimeFigureOut">
              <a:rPr lang="zh-CN" altLang="en-US" smtClean="0"/>
              <a:t>2026/3/7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3E42FEC-979A-4AF6-8F22-E8750821CCA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a:sym typeface="+mn-ea"/>
            </a:endParaRPr>
          </a:p>
          <a:p>
            <a:endParaRPr lang="zh-CN">
              <a:sym typeface="+mn-e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本章授课思路：子网划分多用于企业的网络设计阶段。子网划分与二进制息息相关，教学时应先回顾二进制的相关知识，避免学生因遗忘二进制的知识而不能理解本章。在教学实施过程中，应提前准备</a:t>
            </a:r>
            <a:r>
              <a:rPr lang="en-US" altLang="zh-CN">
                <a:sym typeface="+mn-ea"/>
              </a:rPr>
              <a:t>“进制转换”</a:t>
            </a:r>
            <a:r>
              <a:rPr lang="zh-CN" altLang="en-US">
                <a:sym typeface="+mn-ea"/>
              </a:rPr>
              <a:t>和</a:t>
            </a:r>
            <a:r>
              <a:rPr lang="en-US" altLang="zh-CN">
                <a:sym typeface="+mn-ea"/>
              </a:rPr>
              <a:t>“</a:t>
            </a:r>
            <a:r>
              <a:rPr lang="zh-CN" altLang="en-US">
                <a:sym typeface="+mn-ea"/>
              </a:rPr>
              <a:t>子网划分</a:t>
            </a:r>
            <a:r>
              <a:rPr lang="en-US" altLang="zh-CN">
                <a:sym typeface="+mn-ea"/>
              </a:rPr>
              <a:t>”</a:t>
            </a:r>
            <a:r>
              <a:rPr lang="zh-CN" altLang="en-US">
                <a:sym typeface="+mn-ea"/>
              </a:rPr>
              <a:t>案例，帮助学员理解。</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教学思路：橘色部分为本章重点内容，需要明确提醒学员记笔记。注意：本章为</a:t>
            </a:r>
            <a:r>
              <a:rPr lang="en-US" altLang="zh-CN">
                <a:sym typeface="+mn-ea"/>
              </a:rPr>
              <a:t>4</a:t>
            </a:r>
            <a:r>
              <a:rPr lang="zh-CN" altLang="en-US">
                <a:sym typeface="+mn-ea"/>
              </a:rPr>
              <a:t>课时理论课，课上通过讲解及大量计算练习为主</a:t>
            </a:r>
            <a:endParaRPr lang="zh-CN" altLang="en-US"/>
          </a:p>
          <a:p>
            <a:r>
              <a:rPr lang="zh-CN" altLang="en-US">
                <a:sym typeface="+mn-ea"/>
              </a:rPr>
              <a:t>授课推荐时间：</a:t>
            </a:r>
            <a:endParaRPr lang="zh-CN" altLang="en-US"/>
          </a:p>
          <a:p>
            <a:r>
              <a:rPr lang="en-US" altLang="zh-CN" dirty="0">
                <a:solidFill>
                  <a:srgbClr val="001E7F"/>
                </a:solidFill>
                <a:latin typeface="微软雅黑" panose="020B0503020204020204" pitchFamily="34" charset="-122"/>
                <a:ea typeface="微软雅黑" panose="020B0503020204020204" pitchFamily="34" charset="-122"/>
                <a:sym typeface="+mn-ea"/>
              </a:rPr>
              <a:t>1</a:t>
            </a:r>
            <a:r>
              <a:rPr lang="zh-CN" altLang="en-US" dirty="0">
                <a:solidFill>
                  <a:srgbClr val="001E7F"/>
                </a:solidFill>
                <a:latin typeface="微软雅黑" panose="020B0503020204020204" pitchFamily="34" charset="-122"/>
                <a:ea typeface="微软雅黑" panose="020B0503020204020204" pitchFamily="34" charset="-122"/>
                <a:sym typeface="+mn-ea"/>
              </a:rPr>
              <a:t>、子网划分基础（</a:t>
            </a:r>
            <a:r>
              <a:rPr lang="en-US" altLang="zh-CN" dirty="0">
                <a:solidFill>
                  <a:srgbClr val="001E7F"/>
                </a:solidFill>
                <a:latin typeface="微软雅黑" panose="020B0503020204020204" pitchFamily="34" charset="-122"/>
                <a:ea typeface="微软雅黑" panose="020B0503020204020204" pitchFamily="34" charset="-122"/>
                <a:sym typeface="+mn-ea"/>
              </a:rPr>
              <a:t>15</a:t>
            </a:r>
            <a:r>
              <a:rPr lang="zh-CN" altLang="en-US" dirty="0">
                <a:solidFill>
                  <a:srgbClr val="001E7F"/>
                </a:solidFill>
                <a:latin typeface="微软雅黑" panose="020B0503020204020204" pitchFamily="34" charset="-122"/>
                <a:ea typeface="微软雅黑" panose="020B0503020204020204" pitchFamily="34" charset="-122"/>
                <a:sym typeface="+mn-ea"/>
              </a:rPr>
              <a:t>分钟）</a:t>
            </a:r>
          </a:p>
          <a:p>
            <a:r>
              <a:rPr lang="en-US" altLang="zh-CN">
                <a:sym typeface="+mn-ea"/>
              </a:rPr>
              <a:t>2</a:t>
            </a:r>
            <a:r>
              <a:rPr lang="zh-CN" altLang="en-US">
                <a:sym typeface="+mn-ea"/>
              </a:rPr>
              <a:t>、</a:t>
            </a:r>
            <a:r>
              <a:rPr lang="zh-CN" altLang="en-US" dirty="0">
                <a:solidFill>
                  <a:schemeClr val="bg1"/>
                </a:solidFill>
                <a:latin typeface="微软雅黑" panose="020B0503020204020204" pitchFamily="34" charset="-122"/>
                <a:ea typeface="微软雅黑" panose="020B0503020204020204" pitchFamily="34" charset="-122"/>
                <a:sym typeface="+mn-ea"/>
              </a:rPr>
              <a:t>子网划分的原理</a:t>
            </a:r>
            <a:r>
              <a:rPr lang="zh-CN" altLang="en-US" dirty="0">
                <a:solidFill>
                  <a:srgbClr val="001E7F"/>
                </a:solidFill>
                <a:latin typeface="微软雅黑" panose="020B0503020204020204" pitchFamily="34" charset="-122"/>
                <a:ea typeface="微软雅黑" panose="020B0503020204020204" pitchFamily="34" charset="-122"/>
                <a:sym typeface="+mn-ea"/>
              </a:rPr>
              <a:t>（</a:t>
            </a:r>
            <a:r>
              <a:rPr lang="en-US" altLang="zh-CN" dirty="0">
                <a:solidFill>
                  <a:srgbClr val="001E7F"/>
                </a:solidFill>
                <a:latin typeface="微软雅黑" panose="020B0503020204020204" pitchFamily="34" charset="-122"/>
                <a:ea typeface="微软雅黑" panose="020B0503020204020204" pitchFamily="34" charset="-122"/>
                <a:sym typeface="+mn-ea"/>
              </a:rPr>
              <a:t>10</a:t>
            </a:r>
            <a:r>
              <a:rPr lang="zh-CN" altLang="en-US" dirty="0">
                <a:solidFill>
                  <a:srgbClr val="001E7F"/>
                </a:solidFill>
                <a:latin typeface="微软雅黑" panose="020B0503020204020204" pitchFamily="34" charset="-122"/>
                <a:ea typeface="微软雅黑" panose="020B0503020204020204" pitchFamily="34" charset="-122"/>
                <a:sym typeface="+mn-ea"/>
              </a:rPr>
              <a:t>分钟）</a:t>
            </a:r>
          </a:p>
          <a:p>
            <a:r>
              <a:rPr lang="en-US" altLang="zh-CN">
                <a:sym typeface="+mn-ea"/>
              </a:rPr>
              <a:t>3</a:t>
            </a:r>
            <a:r>
              <a:rPr lang="zh-CN" altLang="en-US">
                <a:sym typeface="+mn-ea"/>
              </a:rPr>
              <a:t>、</a:t>
            </a:r>
            <a:r>
              <a:rPr lang="zh-CN" altLang="en-US" dirty="0">
                <a:solidFill>
                  <a:schemeClr val="bg1"/>
                </a:solidFill>
                <a:latin typeface="微软雅黑" panose="020B0503020204020204" pitchFamily="34" charset="-122"/>
                <a:ea typeface="微软雅黑" panose="020B0503020204020204" pitchFamily="34" charset="-122"/>
                <a:sym typeface="+mn-ea"/>
              </a:rPr>
              <a:t>子网划分的应用</a:t>
            </a:r>
            <a:r>
              <a:rPr lang="zh-CN" altLang="en-US" dirty="0">
                <a:solidFill>
                  <a:srgbClr val="001E7F"/>
                </a:solidFill>
                <a:latin typeface="微软雅黑" panose="020B0503020204020204" pitchFamily="34" charset="-122"/>
                <a:ea typeface="微软雅黑" panose="020B0503020204020204" pitchFamily="34" charset="-122"/>
                <a:sym typeface="+mn-ea"/>
              </a:rPr>
              <a:t>（</a:t>
            </a:r>
            <a:r>
              <a:rPr lang="en-US" altLang="zh-CN" dirty="0">
                <a:solidFill>
                  <a:srgbClr val="001E7F"/>
                </a:solidFill>
                <a:latin typeface="微软雅黑" panose="020B0503020204020204" pitchFamily="34" charset="-122"/>
                <a:ea typeface="微软雅黑" panose="020B0503020204020204" pitchFamily="34" charset="-122"/>
                <a:sym typeface="+mn-ea"/>
              </a:rPr>
              <a:t>20</a:t>
            </a:r>
            <a:r>
              <a:rPr lang="zh-CN" altLang="en-US" dirty="0">
                <a:solidFill>
                  <a:srgbClr val="001E7F"/>
                </a:solidFill>
                <a:latin typeface="微软雅黑" panose="020B0503020204020204" pitchFamily="34" charset="-122"/>
                <a:ea typeface="微软雅黑" panose="020B0503020204020204" pitchFamily="34" charset="-122"/>
                <a:sym typeface="+mn-ea"/>
              </a:rPr>
              <a:t>分钟）</a:t>
            </a:r>
          </a:p>
          <a:p>
            <a:r>
              <a:rPr lang="en-US" altLang="zh-CN"/>
              <a:t>4</a:t>
            </a:r>
            <a:r>
              <a:rPr lang="zh-CN" altLang="en-US"/>
              <a:t>、</a:t>
            </a:r>
            <a:r>
              <a:rPr lang="zh-CN" altLang="en-US" dirty="0">
                <a:solidFill>
                  <a:srgbClr val="001E7F"/>
                </a:solidFill>
                <a:latin typeface="微软雅黑" panose="020B0503020204020204" pitchFamily="34" charset="-122"/>
                <a:ea typeface="微软雅黑" panose="020B0503020204020204" pitchFamily="34" charset="-122"/>
                <a:sym typeface="+mn-ea"/>
              </a:rPr>
              <a:t>IP地址汇总（</a:t>
            </a:r>
            <a:r>
              <a:rPr lang="en-US" altLang="zh-CN" dirty="0">
                <a:solidFill>
                  <a:srgbClr val="001E7F"/>
                </a:solidFill>
                <a:latin typeface="微软雅黑" panose="020B0503020204020204" pitchFamily="34" charset="-122"/>
                <a:ea typeface="微软雅黑" panose="020B0503020204020204" pitchFamily="34" charset="-122"/>
                <a:sym typeface="+mn-ea"/>
              </a:rPr>
              <a:t>20</a:t>
            </a:r>
            <a:r>
              <a:rPr lang="zh-CN" altLang="en-US" dirty="0">
                <a:solidFill>
                  <a:srgbClr val="001E7F"/>
                </a:solidFill>
                <a:latin typeface="微软雅黑" panose="020B0503020204020204" pitchFamily="34" charset="-122"/>
                <a:ea typeface="微软雅黑" panose="020B0503020204020204" pitchFamily="34" charset="-122"/>
                <a:sym typeface="+mn-ea"/>
              </a:rPr>
              <a:t>分钟）</a:t>
            </a:r>
            <a:endParaRPr lang="en-US" altLang="zh-CN"/>
          </a:p>
          <a:p>
            <a:r>
              <a:rPr lang="en-US" altLang="zh-CN"/>
              <a:t>5</a:t>
            </a:r>
            <a:r>
              <a:rPr lang="zh-CN" altLang="en-US"/>
              <a:t>、</a:t>
            </a:r>
            <a:r>
              <a:rPr lang="zh-CN" altLang="en-US" dirty="0">
                <a:solidFill>
                  <a:srgbClr val="001E7F"/>
                </a:solidFill>
                <a:latin typeface="微软雅黑" panose="020B0503020204020204" pitchFamily="34" charset="-122"/>
                <a:ea typeface="微软雅黑" panose="020B0503020204020204" pitchFamily="34" charset="-122"/>
                <a:sym typeface="+mn-ea"/>
              </a:rPr>
              <a:t>IP地址规划及应用（</a:t>
            </a:r>
            <a:r>
              <a:rPr lang="en-US" altLang="zh-CN" dirty="0">
                <a:solidFill>
                  <a:srgbClr val="001E7F"/>
                </a:solidFill>
                <a:latin typeface="微软雅黑" panose="020B0503020204020204" pitchFamily="34" charset="-122"/>
                <a:ea typeface="微软雅黑" panose="020B0503020204020204" pitchFamily="34" charset="-122"/>
                <a:sym typeface="+mn-ea"/>
              </a:rPr>
              <a:t>25</a:t>
            </a:r>
            <a:r>
              <a:rPr lang="zh-CN" altLang="en-US" dirty="0">
                <a:solidFill>
                  <a:srgbClr val="001E7F"/>
                </a:solidFill>
                <a:latin typeface="微软雅黑" panose="020B0503020204020204" pitchFamily="34" charset="-122"/>
                <a:ea typeface="微软雅黑" panose="020B0503020204020204" pitchFamily="34" charset="-122"/>
                <a:sym typeface="+mn-ea"/>
              </a:rPr>
              <a:t>分钟）</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5337" cy="34544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xfrm>
            <a:off x="1249363" y="1279525"/>
            <a:ext cx="4605337" cy="3454400"/>
          </a:xfrm>
        </p:spPr>
      </p:sp>
      <p:sp>
        <p:nvSpPr>
          <p:cNvPr id="49155" name="备注占位符 2"/>
          <p:cNvSpPr>
            <a:spLocks noGrp="1"/>
          </p:cNvSpPr>
          <p:nvPr>
            <p:ph type="body" idx="1"/>
          </p:nvPr>
        </p:nvSpPr>
        <p:spPr>
          <a:noFill/>
        </p:spPr>
        <p:txBody>
          <a:bodyPr/>
          <a:lstStyle/>
          <a:p>
            <a:endParaRPr lang="en-US" altLang="zh-CN" dirty="0">
              <a:latin typeface="Arial" panose="020B0604020202020204" pitchFamily="34" charset="0"/>
            </a:endParaRPr>
          </a:p>
        </p:txBody>
      </p:sp>
      <p:sp>
        <p:nvSpPr>
          <p:cNvPr id="57348" name="灯片编号占位符 3"/>
          <p:cNvSpPr>
            <a:spLocks noGrp="1"/>
          </p:cNvSpPr>
          <p:nvPr>
            <p:ph type="sldNum" sz="quarter" idx="5"/>
          </p:nvPr>
        </p:nvSpPr>
        <p:spPr/>
        <p:txBody>
          <a:bodyPr/>
          <a:lstStyle/>
          <a:p>
            <a:pPr>
              <a:defRPr/>
            </a:pPr>
            <a:fld id="{CDC1B7BE-380C-4A1B-896A-EC5F85DB005B}" type="slidenum">
              <a:rPr lang="en-US" altLang="zh-CN" smtClean="0"/>
              <a:t>14</a:t>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TextEdit="1"/>
          </p:cNvSpPr>
          <p:nvPr>
            <p:ph type="sldImg"/>
          </p:nvPr>
        </p:nvSpPr>
        <p:spPr>
          <a:xfrm>
            <a:off x="1249363" y="1279525"/>
            <a:ext cx="4605337" cy="3454400"/>
          </a:xfrm>
        </p:spPr>
      </p:sp>
      <p:sp>
        <p:nvSpPr>
          <p:cNvPr id="3" name="备注占位符 2"/>
          <p:cNvSpPr>
            <a:spLocks noGrp="1"/>
          </p:cNvSpPr>
          <p:nvPr>
            <p:ph type="body" idx="1"/>
          </p:nvPr>
        </p:nvSpPr>
        <p:spPr/>
        <p:txBody>
          <a:bodyPr>
            <a:normAutofit/>
          </a:bodyPr>
          <a:lstStyle/>
          <a:p>
            <a:pPr marL="0" lvl="1">
              <a:defRPr/>
            </a:pPr>
            <a:r>
              <a:rPr lang="zh-CN" altLang="en-US" sz="2600" kern="0" dirty="0">
                <a:solidFill>
                  <a:srgbClr val="003366"/>
                </a:solidFill>
              </a:rPr>
              <a:t>简化子网划分过程，可以将子网划分比作为切大饼。</a:t>
            </a:r>
            <a:endParaRPr lang="en-US" altLang="zh-CN" sz="2600" kern="0" dirty="0">
              <a:solidFill>
                <a:srgbClr val="003366"/>
              </a:solidFill>
            </a:endParaRPr>
          </a:p>
          <a:p>
            <a:pPr marL="0" lvl="1">
              <a:defRPr/>
            </a:pPr>
            <a:r>
              <a:rPr lang="zh-CN" altLang="en-US" sz="2600" kern="0" dirty="0">
                <a:solidFill>
                  <a:srgbClr val="003366"/>
                </a:solidFill>
              </a:rPr>
              <a:t>然后讲解借位子网划分，借两位划分为</a:t>
            </a:r>
            <a:r>
              <a:rPr lang="en-US" altLang="zh-CN" sz="2600" kern="0" dirty="0">
                <a:solidFill>
                  <a:srgbClr val="003366"/>
                </a:solidFill>
              </a:rPr>
              <a:t>4</a:t>
            </a:r>
            <a:r>
              <a:rPr lang="zh-CN" altLang="en-US" sz="2600" kern="0" dirty="0">
                <a:solidFill>
                  <a:srgbClr val="003366"/>
                </a:solidFill>
              </a:rPr>
              <a:t>个网段即</a:t>
            </a:r>
            <a:r>
              <a:rPr lang="en-US" altLang="zh-CN" sz="2600" kern="0" dirty="0">
                <a:solidFill>
                  <a:srgbClr val="003366"/>
                </a:solidFill>
              </a:rPr>
              <a:t>00</a:t>
            </a:r>
            <a:r>
              <a:rPr lang="zh-CN" altLang="en-US" sz="2600" kern="0" dirty="0">
                <a:solidFill>
                  <a:srgbClr val="003366"/>
                </a:solidFill>
              </a:rPr>
              <a:t>、</a:t>
            </a:r>
            <a:r>
              <a:rPr lang="en-US" altLang="zh-CN" sz="2600" kern="0" dirty="0">
                <a:solidFill>
                  <a:srgbClr val="003366"/>
                </a:solidFill>
              </a:rPr>
              <a:t>01</a:t>
            </a:r>
            <a:r>
              <a:rPr lang="zh-CN" altLang="en-US" sz="2600" kern="0" dirty="0">
                <a:solidFill>
                  <a:srgbClr val="003366"/>
                </a:solidFill>
              </a:rPr>
              <a:t>、</a:t>
            </a:r>
            <a:r>
              <a:rPr lang="en-US" altLang="zh-CN" sz="2600" kern="0" dirty="0">
                <a:solidFill>
                  <a:srgbClr val="003366"/>
                </a:solidFill>
              </a:rPr>
              <a:t>10</a:t>
            </a:r>
            <a:r>
              <a:rPr lang="zh-CN" altLang="en-US" sz="2600" kern="0" dirty="0">
                <a:solidFill>
                  <a:srgbClr val="003366"/>
                </a:solidFill>
              </a:rPr>
              <a:t>、</a:t>
            </a:r>
            <a:r>
              <a:rPr lang="en-US" altLang="zh-CN" sz="2600" kern="0" dirty="0">
                <a:solidFill>
                  <a:srgbClr val="003366"/>
                </a:solidFill>
              </a:rPr>
              <a:t>11</a:t>
            </a:r>
            <a:r>
              <a:rPr lang="zh-CN" altLang="en-US" sz="2600" kern="0" dirty="0">
                <a:solidFill>
                  <a:srgbClr val="003366"/>
                </a:solidFill>
              </a:rPr>
              <a:t>。而借三位分为</a:t>
            </a:r>
            <a:r>
              <a:rPr lang="en-US" altLang="zh-CN" sz="2600" kern="0" dirty="0">
                <a:solidFill>
                  <a:srgbClr val="003366"/>
                </a:solidFill>
              </a:rPr>
              <a:t>8</a:t>
            </a:r>
            <a:r>
              <a:rPr lang="zh-CN" altLang="en-US" sz="2600" kern="0" dirty="0">
                <a:solidFill>
                  <a:srgbClr val="003366"/>
                </a:solidFill>
              </a:rPr>
              <a:t>个网段即</a:t>
            </a:r>
            <a:r>
              <a:rPr lang="en-US" altLang="zh-CN" sz="2600" kern="0" dirty="0">
                <a:solidFill>
                  <a:srgbClr val="003366"/>
                </a:solidFill>
              </a:rPr>
              <a:t>000</a:t>
            </a:r>
            <a:r>
              <a:rPr lang="zh-CN" altLang="en-US" sz="2600" kern="0" dirty="0">
                <a:solidFill>
                  <a:srgbClr val="003366"/>
                </a:solidFill>
              </a:rPr>
              <a:t>、</a:t>
            </a:r>
            <a:r>
              <a:rPr lang="en-US" altLang="zh-CN" sz="2600" kern="0" dirty="0">
                <a:solidFill>
                  <a:srgbClr val="003366"/>
                </a:solidFill>
              </a:rPr>
              <a:t>001</a:t>
            </a:r>
            <a:r>
              <a:rPr lang="zh-CN" altLang="en-US" sz="2600" kern="0" dirty="0">
                <a:solidFill>
                  <a:srgbClr val="003366"/>
                </a:solidFill>
              </a:rPr>
              <a:t>、</a:t>
            </a:r>
            <a:r>
              <a:rPr lang="en-US" altLang="zh-CN" sz="2600" kern="0" dirty="0">
                <a:solidFill>
                  <a:srgbClr val="003366"/>
                </a:solidFill>
              </a:rPr>
              <a:t>010</a:t>
            </a:r>
            <a:r>
              <a:rPr lang="zh-CN" altLang="en-US" sz="2600" kern="0" dirty="0">
                <a:solidFill>
                  <a:srgbClr val="003366"/>
                </a:solidFill>
              </a:rPr>
              <a:t>、</a:t>
            </a:r>
            <a:r>
              <a:rPr lang="en-US" altLang="zh-CN" sz="2600" kern="0" dirty="0">
                <a:solidFill>
                  <a:srgbClr val="003366"/>
                </a:solidFill>
              </a:rPr>
              <a:t>011</a:t>
            </a:r>
            <a:r>
              <a:rPr lang="zh-CN" altLang="en-US" sz="2600" kern="0" dirty="0">
                <a:solidFill>
                  <a:srgbClr val="003366"/>
                </a:solidFill>
              </a:rPr>
              <a:t>、</a:t>
            </a:r>
            <a:r>
              <a:rPr lang="en-US" altLang="zh-CN" sz="2600" kern="0" dirty="0">
                <a:solidFill>
                  <a:srgbClr val="003366"/>
                </a:solidFill>
              </a:rPr>
              <a:t>100</a:t>
            </a:r>
            <a:r>
              <a:rPr lang="zh-CN" altLang="en-US" sz="2600" kern="0" dirty="0">
                <a:solidFill>
                  <a:srgbClr val="003366"/>
                </a:solidFill>
              </a:rPr>
              <a:t>、</a:t>
            </a:r>
            <a:r>
              <a:rPr lang="en-US" altLang="zh-CN" sz="2600" kern="0" dirty="0">
                <a:solidFill>
                  <a:srgbClr val="003366"/>
                </a:solidFill>
              </a:rPr>
              <a:t>101</a:t>
            </a:r>
            <a:r>
              <a:rPr lang="zh-CN" altLang="en-US" sz="2600" kern="0" dirty="0">
                <a:solidFill>
                  <a:srgbClr val="003366"/>
                </a:solidFill>
              </a:rPr>
              <a:t>、</a:t>
            </a:r>
            <a:r>
              <a:rPr lang="en-US" altLang="zh-CN" sz="2600" kern="0" dirty="0">
                <a:solidFill>
                  <a:srgbClr val="003366"/>
                </a:solidFill>
              </a:rPr>
              <a:t>110</a:t>
            </a:r>
            <a:r>
              <a:rPr lang="zh-CN" altLang="en-US" sz="2600" kern="0" dirty="0">
                <a:solidFill>
                  <a:srgbClr val="003366"/>
                </a:solidFill>
              </a:rPr>
              <a:t>、</a:t>
            </a:r>
            <a:r>
              <a:rPr lang="en-US" altLang="zh-CN" sz="2600" kern="0" dirty="0">
                <a:solidFill>
                  <a:srgbClr val="003366"/>
                </a:solidFill>
              </a:rPr>
              <a:t>111</a:t>
            </a:r>
            <a:r>
              <a:rPr lang="zh-CN" altLang="en-US" sz="2600" kern="0" dirty="0">
                <a:solidFill>
                  <a:srgbClr val="003366"/>
                </a:solidFill>
              </a:rPr>
              <a:t>。</a:t>
            </a:r>
          </a:p>
          <a:p>
            <a:pPr>
              <a:defRPr/>
            </a:pPr>
            <a:endParaRPr lang="zh-CN" altLang="en-US" dirty="0"/>
          </a:p>
        </p:txBody>
      </p:sp>
      <p:sp>
        <p:nvSpPr>
          <p:cNvPr id="4" name="灯片编号占位符 3"/>
          <p:cNvSpPr>
            <a:spLocks noGrp="1"/>
          </p:cNvSpPr>
          <p:nvPr>
            <p:ph type="sldNum" sz="quarter" idx="5"/>
          </p:nvPr>
        </p:nvSpPr>
        <p:spPr/>
        <p:txBody>
          <a:bodyPr/>
          <a:lstStyle/>
          <a:p>
            <a:pPr>
              <a:defRPr/>
            </a:pPr>
            <a:fld id="{8820AEC7-EF7C-47ED-A286-A69B6CE57043}" type="slidenum">
              <a:rPr lang="zh-CN" altLang="en-US" smtClean="0"/>
              <a:t>15</a:t>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xfrm>
            <a:off x="1249363" y="1279525"/>
            <a:ext cx="4605337" cy="3454400"/>
          </a:xfrm>
        </p:spPr>
      </p:sp>
      <p:sp>
        <p:nvSpPr>
          <p:cNvPr id="49155" name="备注占位符 2"/>
          <p:cNvSpPr>
            <a:spLocks noGrp="1"/>
          </p:cNvSpPr>
          <p:nvPr>
            <p:ph type="body" idx="1"/>
          </p:nvPr>
        </p:nvSpPr>
        <p:spPr>
          <a:noFill/>
        </p:spPr>
        <p:txBody>
          <a:bodyPr/>
          <a:lstStyle/>
          <a:p>
            <a:r>
              <a:rPr lang="zh-CN" altLang="en-US">
                <a:ea typeface="宋体" panose="02010600030101010101" pitchFamily="2" charset="-122"/>
              </a:rPr>
              <a:t>讲解划分子网后的</a:t>
            </a:r>
            <a:r>
              <a:rPr lang="en-US" altLang="zh-CN">
                <a:ea typeface="宋体" panose="02010600030101010101" pitchFamily="2" charset="-122"/>
              </a:rPr>
              <a:t>IP</a:t>
            </a:r>
            <a:r>
              <a:rPr lang="zh-CN" altLang="en-US">
                <a:ea typeface="宋体" panose="02010600030101010101" pitchFamily="2" charset="-122"/>
              </a:rPr>
              <a:t>地址构成。最后总结子网数和有效</a:t>
            </a:r>
            <a:r>
              <a:rPr lang="en-US" altLang="zh-CN">
                <a:ea typeface="宋体" panose="02010600030101010101" pitchFamily="2" charset="-122"/>
              </a:rPr>
              <a:t>IP</a:t>
            </a:r>
            <a:r>
              <a:rPr lang="zh-CN" altLang="en-US">
                <a:ea typeface="宋体" panose="02010600030101010101" pitchFamily="2" charset="-122"/>
              </a:rPr>
              <a:t>地址数的计算公式。</a:t>
            </a:r>
            <a:endParaRPr lang="en-US" altLang="zh-CN">
              <a:ea typeface="宋体" panose="02010600030101010101" pitchFamily="2" charset="-122"/>
            </a:endParaRPr>
          </a:p>
          <a:p>
            <a:r>
              <a:rPr lang="zh-CN" altLang="en-US">
                <a:ea typeface="宋体" panose="02010600030101010101" pitchFamily="2" charset="-122"/>
              </a:rPr>
              <a:t>此处应说明，日常工作所说的网络位一般包括子网位。</a:t>
            </a:r>
          </a:p>
          <a:p>
            <a:endParaRPr lang="zh-CN" altLang="en-US">
              <a:ea typeface="宋体" panose="02010600030101010101" pitchFamily="2" charset="-122"/>
            </a:endParaRPr>
          </a:p>
        </p:txBody>
      </p:sp>
      <p:sp>
        <p:nvSpPr>
          <p:cNvPr id="53252" name="灯片编号占位符 3"/>
          <p:cNvSpPr>
            <a:spLocks noGrp="1"/>
          </p:cNvSpPr>
          <p:nvPr>
            <p:ph type="sldNum" sz="quarter" idx="5"/>
          </p:nvPr>
        </p:nvSpPr>
        <p:spPr/>
        <p:txBody>
          <a:bodyPr/>
          <a:lstStyle/>
          <a:p>
            <a:pPr>
              <a:defRPr/>
            </a:pPr>
            <a:fld id="{EBC8FBB8-FDEC-41C8-BC16-D88543D97DC2}" type="slidenum">
              <a:rPr lang="en-US" altLang="zh-CN" smtClean="0"/>
              <a:t>17</a:t>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TextEdit="1"/>
          </p:cNvSpPr>
          <p:nvPr>
            <p:ph type="sldImg"/>
          </p:nvPr>
        </p:nvSpPr>
        <p:spPr>
          <a:xfrm>
            <a:off x="1249363" y="1279525"/>
            <a:ext cx="4605337" cy="3454400"/>
          </a:xfrm>
        </p:spPr>
      </p:sp>
      <p:sp>
        <p:nvSpPr>
          <p:cNvPr id="50179" name="备注占位符 2"/>
          <p:cNvSpPr>
            <a:spLocks noGrp="1"/>
          </p:cNvSpPr>
          <p:nvPr>
            <p:ph type="body" idx="1"/>
          </p:nvPr>
        </p:nvSpPr>
        <p:spPr>
          <a:noFill/>
        </p:spPr>
        <p:txBody>
          <a:bodyPr/>
          <a:lstStyle/>
          <a:p>
            <a:r>
              <a:rPr lang="zh-CN" altLang="en-US">
                <a:ea typeface="宋体" panose="02010600030101010101" pitchFamily="2" charset="-122"/>
              </a:rPr>
              <a:t>常见</a:t>
            </a:r>
            <a:r>
              <a:rPr lang="en-US" altLang="zh-CN">
                <a:ea typeface="宋体" panose="02010600030101010101" pitchFamily="2" charset="-122"/>
              </a:rPr>
              <a:t>C</a:t>
            </a:r>
            <a:r>
              <a:rPr lang="zh-CN" altLang="en-US">
                <a:ea typeface="宋体" panose="02010600030101010101" pitchFamily="2" charset="-122"/>
              </a:rPr>
              <a:t>类</a:t>
            </a:r>
            <a:r>
              <a:rPr lang="en-US" altLang="zh-CN">
                <a:ea typeface="宋体" panose="02010600030101010101" pitchFamily="2" charset="-122"/>
              </a:rPr>
              <a:t>IP</a:t>
            </a:r>
            <a:r>
              <a:rPr lang="zh-CN" altLang="en-US">
                <a:ea typeface="宋体" panose="02010600030101010101" pitchFamily="2" charset="-122"/>
              </a:rPr>
              <a:t>地址划分，子网掩码与相关参数对应表</a:t>
            </a:r>
          </a:p>
        </p:txBody>
      </p:sp>
      <p:sp>
        <p:nvSpPr>
          <p:cNvPr id="4" name="灯片编号占位符 3"/>
          <p:cNvSpPr>
            <a:spLocks noGrp="1"/>
          </p:cNvSpPr>
          <p:nvPr>
            <p:ph type="sldNum" sz="quarter" idx="5"/>
          </p:nvPr>
        </p:nvSpPr>
        <p:spPr/>
        <p:txBody>
          <a:bodyPr/>
          <a:lstStyle/>
          <a:p>
            <a:pPr>
              <a:defRPr/>
            </a:pPr>
            <a:fld id="{F0AAA6E8-8C4F-4797-B2AA-0EDB7D339BF4}" type="slidenum">
              <a:rPr lang="zh-CN" altLang="en-US" smtClean="0"/>
              <a:t>18</a:t>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幻灯片图像占位符 1"/>
          <p:cNvSpPr>
            <a:spLocks noGrp="1" noRot="1" noChangeAspect="1" noTextEdit="1"/>
          </p:cNvSpPr>
          <p:nvPr>
            <p:ph type="sldImg"/>
          </p:nvPr>
        </p:nvSpPr>
        <p:spPr>
          <a:xfrm>
            <a:off x="1249363" y="1279525"/>
            <a:ext cx="4605337" cy="3454400"/>
          </a:xfrm>
        </p:spPr>
      </p:sp>
      <p:sp>
        <p:nvSpPr>
          <p:cNvPr id="51203"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5022F61C-26F7-4007-9383-D261B617BD08}" type="slidenum">
              <a:rPr lang="zh-CN" altLang="en-US" smtClean="0"/>
              <a:t>19</a:t>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幻灯片图像占位符 1"/>
          <p:cNvSpPr>
            <a:spLocks noGrp="1" noRot="1" noChangeAspect="1" noTextEdit="1"/>
          </p:cNvSpPr>
          <p:nvPr>
            <p:ph type="sldImg"/>
          </p:nvPr>
        </p:nvSpPr>
        <p:spPr>
          <a:xfrm>
            <a:off x="1249363" y="1279525"/>
            <a:ext cx="4605337" cy="3454400"/>
          </a:xfrm>
        </p:spPr>
      </p:sp>
      <p:sp>
        <p:nvSpPr>
          <p:cNvPr id="52227"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2679A103-D34F-43CB-92C5-82691B2B1726}" type="slidenum">
              <a:rPr lang="zh-CN" altLang="en-US" smtClean="0"/>
              <a:t>20</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幻灯片图像占位符 1"/>
          <p:cNvSpPr>
            <a:spLocks noGrp="1" noRot="1" noChangeAspect="1" noTextEdit="1"/>
          </p:cNvSpPr>
          <p:nvPr>
            <p:ph type="sldImg"/>
          </p:nvPr>
        </p:nvSpPr>
        <p:spPr>
          <a:xfrm>
            <a:off x="1249363" y="1279525"/>
            <a:ext cx="4605337" cy="3454400"/>
          </a:xfrm>
        </p:spPr>
      </p:sp>
      <p:sp>
        <p:nvSpPr>
          <p:cNvPr id="43011" name="备注占位符 2"/>
          <p:cNvSpPr>
            <a:spLocks noGrp="1"/>
          </p:cNvSpPr>
          <p:nvPr>
            <p:ph type="body" idx="1"/>
          </p:nvPr>
        </p:nvSpPr>
        <p:spPr>
          <a:noFill/>
        </p:spPr>
        <p:txBody>
          <a:bodyPr/>
          <a:lstStyle/>
          <a:p>
            <a:endParaRPr lang="en-US" altLang="zh-CN" dirty="0">
              <a:latin typeface="Arial" panose="020B0604020202020204" pitchFamily="34" charset="0"/>
            </a:endParaRPr>
          </a:p>
        </p:txBody>
      </p:sp>
      <p:sp>
        <p:nvSpPr>
          <p:cNvPr id="49156" name="灯片编号占位符 3"/>
          <p:cNvSpPr>
            <a:spLocks noGrp="1"/>
          </p:cNvSpPr>
          <p:nvPr>
            <p:ph type="sldNum" sz="quarter" idx="5"/>
          </p:nvPr>
        </p:nvSpPr>
        <p:spPr/>
        <p:txBody>
          <a:bodyPr/>
          <a:lstStyle/>
          <a:p>
            <a:pPr>
              <a:defRPr/>
            </a:pPr>
            <a:fld id="{FBF35FFC-DB07-43BE-9765-A2B2E95F8A99}" type="slidenum">
              <a:rPr lang="en-US" altLang="zh-CN" smtClean="0"/>
              <a:t>22</a:t>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TextEdit="1"/>
          </p:cNvSpPr>
          <p:nvPr>
            <p:ph type="sldImg"/>
          </p:nvPr>
        </p:nvSpPr>
        <p:spPr>
          <a:xfrm>
            <a:off x="1249363" y="1279525"/>
            <a:ext cx="4605337" cy="3454400"/>
          </a:xfrm>
        </p:spPr>
      </p:sp>
      <p:sp>
        <p:nvSpPr>
          <p:cNvPr id="49155" name="备注占位符 2"/>
          <p:cNvSpPr>
            <a:spLocks noGrp="1"/>
          </p:cNvSpPr>
          <p:nvPr>
            <p:ph type="body" idx="1"/>
          </p:nvPr>
        </p:nvSpPr>
        <p:spPr>
          <a:noFill/>
        </p:spPr>
        <p:txBody>
          <a:bodyPr/>
          <a:lstStyle/>
          <a:p>
            <a:endParaRPr lang="en-US" altLang="zh-CN" dirty="0">
              <a:latin typeface="Arial" panose="020B0604020202020204" pitchFamily="34" charset="0"/>
            </a:endParaRPr>
          </a:p>
        </p:txBody>
      </p:sp>
      <p:sp>
        <p:nvSpPr>
          <p:cNvPr id="57348" name="灯片编号占位符 3"/>
          <p:cNvSpPr>
            <a:spLocks noGrp="1"/>
          </p:cNvSpPr>
          <p:nvPr>
            <p:ph type="sldNum" sz="quarter" idx="5"/>
          </p:nvPr>
        </p:nvSpPr>
        <p:spPr/>
        <p:txBody>
          <a:bodyPr/>
          <a:lstStyle/>
          <a:p>
            <a:pPr>
              <a:defRPr/>
            </a:pPr>
            <a:fld id="{CDC1B7BE-380C-4A1B-896A-EC5F85DB005B}" type="slidenum">
              <a:rPr lang="en-US" altLang="zh-CN" smtClean="0"/>
              <a:t>23</a:t>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xfrm>
            <a:off x="1249363" y="1279525"/>
            <a:ext cx="4605337" cy="3454400"/>
          </a:xfrm>
        </p:spPr>
      </p:sp>
      <p:sp>
        <p:nvSpPr>
          <p:cNvPr id="53251" name="备注占位符 2"/>
          <p:cNvSpPr>
            <a:spLocks noGrp="1"/>
          </p:cNvSpPr>
          <p:nvPr>
            <p:ph type="body" idx="1"/>
          </p:nvPr>
        </p:nvSpPr>
        <p:spPr>
          <a:noFill/>
        </p:spPr>
        <p:txBody>
          <a:bodyPr/>
          <a:lstStyle/>
          <a:p>
            <a:r>
              <a:rPr lang="zh-CN" altLang="en-US">
                <a:ea typeface="宋体" panose="02010600030101010101" pitchFamily="2" charset="-122"/>
              </a:rPr>
              <a:t>首先，讲解划分规则。然后通过本页和下一页讲解网络划分过程。</a:t>
            </a:r>
            <a:endParaRPr lang="en-US" altLang="zh-CN">
              <a:ea typeface="宋体" panose="02010600030101010101" pitchFamily="2" charset="-122"/>
            </a:endParaRPr>
          </a:p>
          <a:p>
            <a:r>
              <a:rPr lang="zh-CN" altLang="en-US">
                <a:ea typeface="宋体" panose="02010600030101010101" pitchFamily="2" charset="-122"/>
              </a:rPr>
              <a:t>在讲解划分时，按照先大后小的网段划分过程进行讲解。所谓的先大后小，就是说先确定包含主机最多的网段，在此例中最多的主机数位</a:t>
            </a:r>
            <a:r>
              <a:rPr lang="en-US" altLang="zh-CN">
                <a:ea typeface="宋体" panose="02010600030101010101" pitchFamily="2" charset="-122"/>
              </a:rPr>
              <a:t>45</a:t>
            </a:r>
            <a:r>
              <a:rPr lang="zh-CN" altLang="en-US">
                <a:ea typeface="宋体" panose="02010600030101010101" pitchFamily="2" charset="-122"/>
              </a:rPr>
              <a:t>，可以判断将这个</a:t>
            </a:r>
            <a:r>
              <a:rPr lang="en-US" altLang="zh-CN">
                <a:ea typeface="宋体" panose="02010600030101010101" pitchFamily="2" charset="-122"/>
              </a:rPr>
              <a:t>C</a:t>
            </a:r>
            <a:r>
              <a:rPr lang="zh-CN" altLang="en-US">
                <a:ea typeface="宋体" panose="02010600030101010101" pitchFamily="2" charset="-122"/>
              </a:rPr>
              <a:t>类地址划分</a:t>
            </a:r>
            <a:r>
              <a:rPr lang="en-US" altLang="zh-CN">
                <a:ea typeface="宋体" panose="02010600030101010101" pitchFamily="2" charset="-122"/>
              </a:rPr>
              <a:t>4</a:t>
            </a:r>
            <a:r>
              <a:rPr lang="zh-CN" altLang="en-US">
                <a:ea typeface="宋体" panose="02010600030101010101" pitchFamily="2" charset="-122"/>
              </a:rPr>
              <a:t>个子网其中每一个子网包含</a:t>
            </a:r>
            <a:r>
              <a:rPr lang="en-US" altLang="zh-CN">
                <a:ea typeface="宋体" panose="02010600030101010101" pitchFamily="2" charset="-122"/>
              </a:rPr>
              <a:t>60</a:t>
            </a:r>
            <a:r>
              <a:rPr lang="zh-CN" altLang="en-US">
                <a:ea typeface="宋体" panose="02010600030101010101" pitchFamily="2" charset="-122"/>
              </a:rPr>
              <a:t>个有效地址，将两个子网分别分配给这两个有</a:t>
            </a:r>
            <a:r>
              <a:rPr lang="en-US" altLang="zh-CN">
                <a:ea typeface="宋体" panose="02010600030101010101" pitchFamily="2" charset="-122"/>
              </a:rPr>
              <a:t>45</a:t>
            </a:r>
            <a:r>
              <a:rPr lang="zh-CN" altLang="en-US">
                <a:ea typeface="宋体" panose="02010600030101010101" pitchFamily="2" charset="-122"/>
              </a:rPr>
              <a:t>台主机的部门。然后在分配包含</a:t>
            </a:r>
            <a:r>
              <a:rPr lang="en-US" altLang="zh-CN">
                <a:ea typeface="宋体" panose="02010600030101010101" pitchFamily="2" charset="-122"/>
              </a:rPr>
              <a:t>25</a:t>
            </a:r>
            <a:r>
              <a:rPr lang="zh-CN" altLang="en-US">
                <a:ea typeface="宋体" panose="02010600030101010101" pitchFamily="2" charset="-122"/>
              </a:rPr>
              <a:t>台数据的部门，这时需要将剩下的子网继续划分为更小的子网，这样从大到小的分配。</a:t>
            </a:r>
            <a:endParaRPr lang="en-US" altLang="zh-CN">
              <a:ea typeface="宋体" panose="02010600030101010101" pitchFamily="2" charset="-122"/>
            </a:endParaRPr>
          </a:p>
          <a:p>
            <a:r>
              <a:rPr lang="zh-CN" altLang="en-US">
                <a:ea typeface="宋体" panose="02010600030101010101" pitchFamily="2" charset="-122"/>
              </a:rPr>
              <a:t>如果先分配包含主机最小的网段，然后在分配大的网段，可能出现小网段将这个</a:t>
            </a:r>
            <a:r>
              <a:rPr lang="en-US" altLang="zh-CN">
                <a:ea typeface="宋体" panose="02010600030101010101" pitchFamily="2" charset="-122"/>
              </a:rPr>
              <a:t>C</a:t>
            </a:r>
            <a:r>
              <a:rPr lang="zh-CN" altLang="en-US">
                <a:ea typeface="宋体" panose="02010600030101010101" pitchFamily="2" charset="-122"/>
              </a:rPr>
              <a:t>类地址划分的支离破碎，导致最后大网段无法划分。</a:t>
            </a:r>
          </a:p>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16761126-358E-4C8B-855C-2A1258591701}" type="slidenum">
              <a:rPr lang="zh-CN" altLang="en-US" smtClean="0"/>
              <a:t>27</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a:xfrm>
            <a:off x="1249363" y="1279525"/>
            <a:ext cx="4605337" cy="3454400"/>
          </a:xfrm>
        </p:spPr>
      </p:sp>
      <p:sp>
        <p:nvSpPr>
          <p:cNvPr id="63491"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63492" name="灯片编号占位符 3"/>
          <p:cNvSpPr>
            <a:spLocks noGrp="1"/>
          </p:cNvSpPr>
          <p:nvPr>
            <p:ph type="sldNum" sz="quarter" idx="5"/>
          </p:nvPr>
        </p:nvSpPr>
        <p:spPr>
          <a:noFill/>
        </p:spPr>
        <p:txBody>
          <a:bodyPr/>
          <a:lstStyle/>
          <a:p>
            <a:fld id="{8A8B1CD5-2575-4859-B8E0-B868F3016592}" type="slidenum">
              <a:rPr lang="en-US" altLang="zh-CN" smtClean="0">
                <a:ea typeface="宋体" panose="02010600030101010101" pitchFamily="2" charset="-122"/>
              </a:rPr>
              <a:t>31</a:t>
            </a:fld>
            <a:endParaRPr lang="en-US" altLang="zh-CN">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49363" y="1279525"/>
            <a:ext cx="4605337" cy="34544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33</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幻灯片图像占位符 1"/>
          <p:cNvSpPr>
            <a:spLocks noGrp="1" noRot="1" noChangeAspect="1" noTextEdit="1"/>
          </p:cNvSpPr>
          <p:nvPr>
            <p:ph type="sldImg"/>
          </p:nvPr>
        </p:nvSpPr>
        <p:spPr>
          <a:xfrm>
            <a:off x="1249363" y="1279525"/>
            <a:ext cx="4605337" cy="3454400"/>
          </a:xfrm>
        </p:spPr>
      </p:sp>
      <p:sp>
        <p:nvSpPr>
          <p:cNvPr id="54275" name="备注占位符 2"/>
          <p:cNvSpPr>
            <a:spLocks noGrp="1"/>
          </p:cNvSpPr>
          <p:nvPr>
            <p:ph type="body" idx="1"/>
          </p:nvPr>
        </p:nvSpPr>
        <p:spPr>
          <a:noFill/>
        </p:spPr>
        <p:txBody>
          <a:bodyPr/>
          <a:lstStyle/>
          <a:p>
            <a:r>
              <a:rPr lang="zh-CN" altLang="en-US">
                <a:ea typeface="宋体" panose="02010600030101010101" pitchFamily="2" charset="-122"/>
              </a:rPr>
              <a:t>对</a:t>
            </a:r>
            <a:r>
              <a:rPr lang="en-US" altLang="zh-CN">
                <a:ea typeface="宋体" panose="02010600030101010101" pitchFamily="2" charset="-122"/>
              </a:rPr>
              <a:t>IP</a:t>
            </a:r>
            <a:r>
              <a:rPr lang="zh-CN" altLang="en-US">
                <a:ea typeface="宋体" panose="02010600030101010101" pitchFamily="2" charset="-122"/>
              </a:rPr>
              <a:t>地址规划案例的需求进行分析说明。</a:t>
            </a:r>
          </a:p>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904073E0-A262-4FFF-888C-A2EEAFDCCD93}" type="slidenum">
              <a:rPr lang="zh-CN" altLang="en-US" smtClean="0"/>
              <a:t>35</a:t>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幻灯片图像占位符 1"/>
          <p:cNvSpPr>
            <a:spLocks noGrp="1" noRot="1" noChangeAspect="1" noTextEdit="1"/>
          </p:cNvSpPr>
          <p:nvPr>
            <p:ph type="sldImg"/>
          </p:nvPr>
        </p:nvSpPr>
        <p:spPr>
          <a:xfrm>
            <a:off x="1249363" y="1279525"/>
            <a:ext cx="4605337" cy="3454400"/>
          </a:xfrm>
        </p:spPr>
      </p:sp>
      <p:sp>
        <p:nvSpPr>
          <p:cNvPr id="55299" name="备注占位符 2"/>
          <p:cNvSpPr>
            <a:spLocks noGrp="1"/>
          </p:cNvSpPr>
          <p:nvPr>
            <p:ph type="body" idx="1"/>
          </p:nvPr>
        </p:nvSpPr>
        <p:spPr>
          <a:noFill/>
        </p:spPr>
        <p:txBody>
          <a:bodyPr/>
          <a:lstStyle/>
          <a:p>
            <a:pPr eaLnBrk="1" hangingPunct="1"/>
            <a:r>
              <a:rPr lang="zh-CN" altLang="en-US">
                <a:ea typeface="宋体" panose="02010600030101010101" pitchFamily="2" charset="-122"/>
              </a:rPr>
              <a:t>为每个分公司分配一个</a:t>
            </a:r>
            <a:r>
              <a:rPr lang="en-US" altLang="zh-CN">
                <a:ea typeface="宋体" panose="02010600030101010101" pitchFamily="2" charset="-122"/>
              </a:rPr>
              <a:t>B</a:t>
            </a:r>
            <a:r>
              <a:rPr lang="zh-CN" altLang="en-US">
                <a:ea typeface="宋体" panose="02010600030101010101" pitchFamily="2" charset="-122"/>
              </a:rPr>
              <a:t>类地址可以保证，其够用（扩展性），并且保证最少的路由配置。</a:t>
            </a:r>
            <a:endParaRPr lang="en-US" altLang="zh-CN">
              <a:ea typeface="宋体" panose="02010600030101010101" pitchFamily="2" charset="-122"/>
            </a:endParaRPr>
          </a:p>
          <a:p>
            <a:pPr eaLnBrk="1" hangingPunct="1"/>
            <a:r>
              <a:rPr lang="zh-CN" altLang="en-US">
                <a:ea typeface="宋体" panose="02010600030101010101" pitchFamily="2" charset="-122"/>
              </a:rPr>
              <a:t>分配规则：</a:t>
            </a:r>
            <a:endParaRPr lang="en-US" altLang="zh-CN">
              <a:ea typeface="宋体" panose="02010600030101010101" pitchFamily="2" charset="-122"/>
            </a:endParaRPr>
          </a:p>
          <a:p>
            <a:pPr eaLnBrk="1" hangingPunct="1"/>
            <a:r>
              <a:rPr lang="en-US" altLang="zh-CN">
                <a:ea typeface="宋体" panose="02010600030101010101" pitchFamily="2" charset="-122"/>
              </a:rPr>
              <a:t>1</a:t>
            </a:r>
            <a:r>
              <a:rPr lang="zh-CN" altLang="en-US">
                <a:ea typeface="宋体" panose="02010600030101010101" pitchFamily="2" charset="-122"/>
              </a:rPr>
              <a:t>、按照分公司成立的先后；</a:t>
            </a:r>
            <a:endParaRPr lang="en-US" altLang="zh-CN">
              <a:ea typeface="宋体" panose="02010600030101010101" pitchFamily="2" charset="-122"/>
            </a:endParaRPr>
          </a:p>
          <a:p>
            <a:pPr eaLnBrk="1" hangingPunct="1"/>
            <a:r>
              <a:rPr lang="en-US" altLang="zh-CN">
                <a:ea typeface="宋体" panose="02010600030101010101" pitchFamily="2" charset="-122"/>
              </a:rPr>
              <a:t>2</a:t>
            </a:r>
            <a:r>
              <a:rPr lang="zh-CN" altLang="en-US">
                <a:ea typeface="宋体" panose="02010600030101010101" pitchFamily="2" charset="-122"/>
              </a:rPr>
              <a:t>、按照地理位置进行分配；</a:t>
            </a:r>
          </a:p>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1FF23E4F-7E6A-42B8-96BE-F54A0A09BCFA}" type="slidenum">
              <a:rPr lang="zh-CN" altLang="en-US" smtClean="0"/>
              <a:t>36</a:t>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xfrm>
            <a:off x="1249363" y="1279525"/>
            <a:ext cx="4605337" cy="3454400"/>
          </a:xfrm>
        </p:spPr>
      </p:sp>
      <p:sp>
        <p:nvSpPr>
          <p:cNvPr id="56323" name="备注占位符 2"/>
          <p:cNvSpPr>
            <a:spLocks noGrp="1"/>
          </p:cNvSpPr>
          <p:nvPr>
            <p:ph type="body" idx="1"/>
          </p:nvPr>
        </p:nvSpPr>
        <p:spPr>
          <a:noFill/>
        </p:spPr>
        <p:txBody>
          <a:bodyPr/>
          <a:lstStyle/>
          <a:p>
            <a:pPr eaLnBrk="1" hangingPunct="1"/>
            <a:r>
              <a:rPr lang="zh-CN" altLang="en-US">
                <a:ea typeface="宋体" panose="02010600030101010101" pitchFamily="2" charset="-122"/>
              </a:rPr>
              <a:t>互联地址规划，明确设备间互联地址使用的网段。</a:t>
            </a:r>
            <a:endParaRPr lang="en-US" altLang="zh-CN">
              <a:ea typeface="宋体" panose="02010600030101010101" pitchFamily="2" charset="-122"/>
            </a:endParaRPr>
          </a:p>
          <a:p>
            <a:pPr eaLnBrk="1" hangingPunct="1"/>
            <a:r>
              <a:rPr lang="zh-CN" altLang="en-US">
                <a:ea typeface="宋体" panose="02010600030101010101" pitchFamily="2" charset="-122"/>
              </a:rPr>
              <a:t>各公司内部互联地址使用</a:t>
            </a:r>
            <a:r>
              <a:rPr lang="en-US" altLang="zh-CN">
                <a:ea typeface="宋体" panose="02010600030101010101" pitchFamily="2" charset="-122"/>
              </a:rPr>
              <a:t>C</a:t>
            </a:r>
            <a:r>
              <a:rPr lang="zh-CN" altLang="en-US">
                <a:ea typeface="宋体" panose="02010600030101010101" pitchFamily="2" charset="-122"/>
              </a:rPr>
              <a:t>类地址</a:t>
            </a:r>
            <a:r>
              <a:rPr lang="en-US" altLang="zh-CN">
                <a:ea typeface="宋体" panose="02010600030101010101" pitchFamily="2" charset="-122"/>
              </a:rPr>
              <a:t>10.XX.254.0/24</a:t>
            </a:r>
            <a:endParaRPr lang="zh-CN" altLang="en-US">
              <a:ea typeface="宋体" panose="02010600030101010101" pitchFamily="2" charset="-122"/>
            </a:endParaRPr>
          </a:p>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A10646AF-DACA-4065-BBAB-E4CBAFF310E9}" type="slidenum">
              <a:rPr lang="zh-CN" altLang="en-US" smtClean="0"/>
              <a:t>37</a:t>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a:xfrm>
            <a:off x="1249363" y="1279525"/>
            <a:ext cx="4605337" cy="3454400"/>
          </a:xfrm>
        </p:spPr>
      </p:sp>
      <p:sp>
        <p:nvSpPr>
          <p:cNvPr id="57347" name="备注占位符 2"/>
          <p:cNvSpPr>
            <a:spLocks noGrp="1"/>
          </p:cNvSpPr>
          <p:nvPr>
            <p:ph type="body" idx="1"/>
          </p:nvPr>
        </p:nvSpPr>
        <p:spPr>
          <a:noFill/>
        </p:spPr>
        <p:txBody>
          <a:bodyPr/>
          <a:lstStyle/>
          <a:p>
            <a:pPr eaLnBrk="1" hangingPunct="1"/>
            <a:r>
              <a:rPr lang="zh-CN" altLang="en-US">
                <a:ea typeface="宋体" panose="02010600030101010101" pitchFamily="2" charset="-122"/>
              </a:rPr>
              <a:t>管理地址规划。</a:t>
            </a:r>
            <a:endParaRPr lang="en-US" altLang="zh-CN">
              <a:ea typeface="宋体" panose="02010600030101010101" pitchFamily="2" charset="-122"/>
            </a:endParaRPr>
          </a:p>
          <a:p>
            <a:pPr eaLnBrk="1" hangingPunct="1"/>
            <a:r>
              <a:rPr lang="zh-CN" altLang="en-US">
                <a:ea typeface="宋体" panose="02010600030101010101" pitchFamily="2" charset="-122"/>
              </a:rPr>
              <a:t>为了明确区分各公司网管路由器便于故障处理，所以使用</a:t>
            </a:r>
            <a:r>
              <a:rPr lang="en-US" altLang="zh-CN">
                <a:ea typeface="宋体" panose="02010600030101010101" pitchFamily="2" charset="-122"/>
              </a:rPr>
              <a:t>192.168.0.0/24</a:t>
            </a:r>
            <a:r>
              <a:rPr lang="zh-CN" altLang="en-US">
                <a:ea typeface="宋体" panose="02010600030101010101" pitchFamily="2" charset="-122"/>
              </a:rPr>
              <a:t>网段作为网管服务器管理地址。</a:t>
            </a:r>
          </a:p>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426E4736-2584-46CA-B31D-E93FD86A279A}" type="slidenum">
              <a:rPr lang="zh-CN" altLang="en-US" smtClean="0"/>
              <a:t>38</a:t>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幻灯片图像占位符 1"/>
          <p:cNvSpPr>
            <a:spLocks noGrp="1" noRot="1" noChangeAspect="1" noTextEdit="1"/>
          </p:cNvSpPr>
          <p:nvPr>
            <p:ph type="sldImg"/>
          </p:nvPr>
        </p:nvSpPr>
        <p:spPr>
          <a:xfrm>
            <a:off x="1249363" y="1279525"/>
            <a:ext cx="4605337" cy="3454400"/>
          </a:xfrm>
        </p:spPr>
      </p:sp>
      <p:sp>
        <p:nvSpPr>
          <p:cNvPr id="58371" name="备注占位符 2"/>
          <p:cNvSpPr>
            <a:spLocks noGrp="1"/>
          </p:cNvSpPr>
          <p:nvPr>
            <p:ph type="body" idx="1"/>
          </p:nvPr>
        </p:nvSpPr>
        <p:spPr>
          <a:noFill/>
        </p:spPr>
        <p:txBody>
          <a:bodyPr/>
          <a:lstStyle/>
          <a:p>
            <a:endParaRPr lang="zh-CN" altLang="en-US">
              <a:ea typeface="宋体" panose="02010600030101010101" pitchFamily="2" charset="-122"/>
            </a:endParaRPr>
          </a:p>
        </p:txBody>
      </p:sp>
      <p:sp>
        <p:nvSpPr>
          <p:cNvPr id="4" name="灯片编号占位符 3"/>
          <p:cNvSpPr>
            <a:spLocks noGrp="1"/>
          </p:cNvSpPr>
          <p:nvPr>
            <p:ph type="sldNum" sz="quarter" idx="5"/>
          </p:nvPr>
        </p:nvSpPr>
        <p:spPr/>
        <p:txBody>
          <a:bodyPr/>
          <a:lstStyle/>
          <a:p>
            <a:pPr>
              <a:defRPr/>
            </a:pPr>
            <a:fld id="{1B3A9CB6-490D-468C-A357-CE4DEA1C0248}" type="slidenum">
              <a:rPr lang="zh-CN" altLang="en-US" smtClean="0"/>
              <a:t>39</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帮助学员梳理知识体系，回忆最右侧的重点内容，无最右侧文字提示的地方，回忆当前标签的内容。根据本章内容要求学员整理笔记。</a:t>
            </a:r>
            <a:endParaRPr lang="zh-CN" altLang="en-US"/>
          </a:p>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a:sym typeface="+mn-ea"/>
            </a:endParaRPr>
          </a:p>
          <a:p>
            <a:endParaRPr lang="zh-CN">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sym typeface="+mn-ea"/>
              </a:rPr>
              <a:t>本章课堂练习题答案：</a:t>
            </a:r>
            <a:r>
              <a:rPr>
                <a:sym typeface="+mn-ea"/>
              </a:rPr>
              <a:t>1</a:t>
            </a:r>
            <a:r>
              <a:rPr lang="en-US">
                <a:sym typeface="+mn-ea"/>
              </a:rPr>
              <a:t>.</a:t>
            </a:r>
            <a:r>
              <a:rPr>
                <a:sym typeface="+mn-ea"/>
              </a:rPr>
              <a:t>A</a:t>
            </a:r>
            <a:r>
              <a:rPr lang="zh-CN">
                <a:sym typeface="+mn-ea"/>
              </a:rPr>
              <a:t>、</a:t>
            </a:r>
            <a:r>
              <a:rPr>
                <a:sym typeface="+mn-ea"/>
              </a:rPr>
              <a:t>2</a:t>
            </a:r>
            <a:r>
              <a:rPr lang="en-US">
                <a:sym typeface="+mn-ea"/>
              </a:rPr>
              <a:t>.</a:t>
            </a:r>
            <a:r>
              <a:rPr>
                <a:sym typeface="+mn-ea"/>
              </a:rPr>
              <a:t>D</a:t>
            </a:r>
            <a:r>
              <a:rPr lang="zh-CN">
                <a:sym typeface="+mn-ea"/>
              </a:rPr>
              <a:t>、</a:t>
            </a:r>
            <a:r>
              <a:rPr>
                <a:sym typeface="+mn-ea"/>
              </a:rPr>
              <a:t>3</a:t>
            </a:r>
            <a:r>
              <a:rPr lang="en-US">
                <a:sym typeface="+mn-ea"/>
              </a:rPr>
              <a:t>.</a:t>
            </a:r>
            <a:r>
              <a:rPr>
                <a:sym typeface="+mn-ea"/>
              </a:rPr>
              <a:t>A</a:t>
            </a:r>
            <a:r>
              <a:rPr lang="zh-CN">
                <a:sym typeface="+mn-ea"/>
              </a:rPr>
              <a:t>、</a:t>
            </a:r>
            <a:r>
              <a:rPr>
                <a:sym typeface="+mn-ea"/>
              </a:rPr>
              <a:t>4</a:t>
            </a:r>
            <a:r>
              <a:rPr lang="en-US">
                <a:sym typeface="+mn-ea"/>
              </a:rPr>
              <a:t>.</a:t>
            </a:r>
            <a:r>
              <a:rPr>
                <a:sym typeface="+mn-ea"/>
              </a:rPr>
              <a:t>B</a:t>
            </a:r>
            <a:r>
              <a:rPr lang="zh-CN">
                <a:sym typeface="+mn-ea"/>
              </a:rPr>
              <a:t>、</a:t>
            </a:r>
            <a:r>
              <a:rPr>
                <a:sym typeface="+mn-ea"/>
              </a:rPr>
              <a:t>5</a:t>
            </a:r>
            <a:r>
              <a:rPr lang="en-US">
                <a:sym typeface="+mn-ea"/>
              </a:rPr>
              <a:t>.</a:t>
            </a:r>
            <a:r>
              <a:rPr>
                <a:sym typeface="+mn-ea"/>
              </a:rPr>
              <a:t>B</a:t>
            </a:r>
          </a:p>
          <a:p>
            <a:endParaRPr lang="zh-CN">
              <a:sym typeface="+mn-ea"/>
            </a:endParaRPr>
          </a:p>
          <a:p>
            <a:endParaRPr lang="zh-CN">
              <a:sym typeface="+mn-e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3E42FEC-979A-4AF6-8F22-E8750821CCA9}" type="slidenum">
              <a:rPr lang="zh-CN" altLang="en-US" smtClean="0"/>
              <a:t>45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642283E6-7B15-41E9-9B82-3A406F797F75}" type="datetime1">
              <a:rPr lang="zh-CN" altLang="en-US" smtClean="0"/>
              <a:t>2026/3/7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grpSp>
        <p:nvGrpSpPr>
          <p:cNvPr id="12" name="组合 11"/>
          <p:cNvGrpSpPr/>
          <p:nvPr userDrawn="1"/>
        </p:nvGrpSpPr>
        <p:grpSpPr>
          <a:xfrm>
            <a:off x="7064952" y="638101"/>
            <a:ext cx="1368603" cy="198611"/>
            <a:chOff x="7036462" y="829986"/>
            <a:chExt cx="1368603" cy="198611"/>
          </a:xfrm>
        </p:grpSpPr>
        <p:cxnSp>
          <p:nvCxnSpPr>
            <p:cNvPr id="13" name="直接连接符 12"/>
            <p:cNvCxnSpPr/>
            <p:nvPr/>
          </p:nvCxnSpPr>
          <p:spPr>
            <a:xfrm>
              <a:off x="7036462" y="956589"/>
              <a:ext cx="1368603" cy="755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标题 1"/>
            <p:cNvSpPr txBox="1"/>
            <p:nvPr/>
          </p:nvSpPr>
          <p:spPr>
            <a:xfrm>
              <a:off x="7278809" y="829986"/>
              <a:ext cx="883909" cy="198611"/>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1800" b="1" dirty="0">
                  <a:solidFill>
                    <a:srgbClr val="40ECFE"/>
                  </a:solidFill>
                  <a:latin typeface="微软雅黑" panose="020B0503020204020204" pitchFamily="34" charset="-122"/>
                  <a:ea typeface="微软雅黑" panose="020B0503020204020204" pitchFamily="34" charset="-122"/>
                </a:rPr>
                <a:t>S</a:t>
              </a:r>
              <a:endParaRPr lang="zh-CN" altLang="en-US" sz="1800" b="1" dirty="0">
                <a:solidFill>
                  <a:srgbClr val="40ECFE"/>
                </a:solidFill>
                <a:latin typeface="微软雅黑" panose="020B0503020204020204" pitchFamily="34" charset="-122"/>
                <a:ea typeface="微软雅黑" panose="020B0503020204020204" pitchFamily="34" charset="-122"/>
              </a:endParaRPr>
            </a:p>
          </p:txBody>
        </p:sp>
      </p:grpSp>
      <p:pic>
        <p:nvPicPr>
          <p:cNvPr id="21" name="Picture 8" descr="H:\工作呀工作呀工作呀工作呀工作呀工作呀工作呀工作呀工作呀工作呀工作呀工作呀工作区\2022年工作\--BCNT2.0--\地球.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372200" y="501119"/>
            <a:ext cx="1000059" cy="98366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 descr="E:\工作\正做的\2022年工作【项目制】\BCNT\999.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95536" y="4017189"/>
            <a:ext cx="2844198" cy="2442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99592" y="0"/>
            <a:ext cx="7920880" cy="908720"/>
          </a:xfrm>
        </p:spPr>
        <p:txBody>
          <a:bodyPr>
            <a:normAutofit/>
          </a:bodyPr>
          <a:lstStyle>
            <a:lvl1pPr algn="l">
              <a:defRPr sz="3200" b="1">
                <a:solidFill>
                  <a:srgbClr val="001E7F"/>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a:xfrm>
            <a:off x="323528" y="980727"/>
            <a:ext cx="8496944" cy="5381337"/>
          </a:xfrm>
        </p:spPr>
        <p:txBody>
          <a:bodyPr lIns="71755"/>
          <a:lstStyle>
            <a:lvl1pPr marL="342900" indent="-342900">
              <a:buClr>
                <a:srgbClr val="0034DC"/>
              </a:buClr>
              <a:buFont typeface="Wingdings" panose="05000000000000000000" pitchFamily="2" charset="2"/>
              <a:buChar char="n"/>
              <a:defRPr sz="2200" b="1">
                <a:solidFill>
                  <a:srgbClr val="00165C"/>
                </a:solidFill>
                <a:latin typeface="微软雅黑" panose="020B0503020204020204" pitchFamily="34" charset="-122"/>
                <a:ea typeface="微软雅黑" panose="020B0503020204020204" pitchFamily="34" charset="-122"/>
              </a:defRPr>
            </a:lvl1pPr>
            <a:lvl2pPr marL="539750" indent="-215900">
              <a:buClr>
                <a:schemeClr val="accent6">
                  <a:lumMod val="75000"/>
                </a:schemeClr>
              </a:buClr>
              <a:buFont typeface="Wingdings" panose="05000000000000000000" pitchFamily="2" charset="2"/>
              <a:buChar char="n"/>
              <a:defRPr sz="2000">
                <a:solidFill>
                  <a:srgbClr val="001E7F"/>
                </a:solidFill>
                <a:latin typeface="微软雅黑" panose="020B0503020204020204" pitchFamily="34" charset="-122"/>
                <a:ea typeface="微软雅黑" panose="020B0503020204020204" pitchFamily="34" charset="-122"/>
              </a:defRPr>
            </a:lvl2pPr>
            <a:lvl3pPr marL="720090" indent="-228600">
              <a:buClr>
                <a:schemeClr val="accent6">
                  <a:lumMod val="75000"/>
                </a:schemeClr>
              </a:buClr>
              <a:buSzPct val="100000"/>
              <a:buFont typeface="Wingdings" panose="05000000000000000000" pitchFamily="2" charset="2"/>
              <a:buChar char="Ø"/>
              <a:defRPr sz="1800" b="0">
                <a:solidFill>
                  <a:schemeClr val="tx1">
                    <a:lumMod val="85000"/>
                    <a:lumOff val="15000"/>
                  </a:schemeClr>
                </a:solidFill>
                <a:latin typeface="微软雅黑" panose="020B0503020204020204" pitchFamily="34" charset="-122"/>
                <a:ea typeface="微软雅黑" panose="020B0503020204020204" pitchFamily="34" charset="-122"/>
              </a:defRPr>
            </a:lvl3pPr>
            <a:lvl4pPr marL="899795" indent="-179705">
              <a:buClr>
                <a:srgbClr val="0034DC"/>
              </a:buClr>
              <a:buSzPct val="150000"/>
              <a:buFont typeface="Arial" panose="020B0604020202020204" pitchFamily="34" charset="0"/>
              <a:buChar char="•"/>
              <a:defRPr sz="1600">
                <a:latin typeface="微软雅黑" panose="020B0503020204020204" pitchFamily="34" charset="-122"/>
                <a:ea typeface="微软雅黑" panose="020B0503020204020204" pitchFamily="34" charset="-122"/>
              </a:defRPr>
            </a:lvl4pPr>
            <a:lvl5pPr marL="2286000" indent="-457200">
              <a:buFont typeface="+mj-ea"/>
              <a:buAutoNum type="circleNumDbPlain"/>
              <a:defRPr sz="1800">
                <a:latin typeface="微软雅黑" panose="020B0503020204020204" pitchFamily="34" charset="-122"/>
                <a:ea typeface="微软雅黑" panose="020B0503020204020204" pitchFamily="34" charset="-122"/>
              </a:defRPr>
            </a:lvl5pPr>
            <a:lvl6pPr marL="0" indent="0" eaLnBrk="1" fontAlgn="auto" latinLnBrk="0" hangingPunct="1">
              <a:spcBef>
                <a:spcPts val="0"/>
              </a:spcBef>
              <a:buClr>
                <a:srgbClr val="FFE389"/>
              </a:buClr>
              <a:buNone/>
              <a:defRPr/>
            </a:lvl6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5"/>
            <a:endParaRPr lang="zh-CN" altLang="en-US" dirty="0"/>
          </a:p>
        </p:txBody>
      </p:sp>
      <p:sp>
        <p:nvSpPr>
          <p:cNvPr id="4" name="日期占位符 3"/>
          <p:cNvSpPr>
            <a:spLocks noGrp="1"/>
          </p:cNvSpPr>
          <p:nvPr>
            <p:ph type="dt" sz="half" idx="10"/>
          </p:nvPr>
        </p:nvSpPr>
        <p:spPr>
          <a:xfrm>
            <a:off x="457200" y="6448251"/>
            <a:ext cx="2133600" cy="365125"/>
          </a:xfrm>
        </p:spPr>
        <p:txBody>
          <a:bodyPr/>
          <a:lstStyle/>
          <a:p>
            <a:fld id="{69AC3C20-2C6B-4A96-BA0B-3DF8B981D576}" type="datetime1">
              <a:rPr lang="zh-CN" altLang="en-US" smtClean="0"/>
              <a:t>2026/3/7</a:t>
            </a:fld>
            <a:endParaRPr lang="zh-CN" altLang="en-US"/>
          </a:p>
        </p:txBody>
      </p:sp>
      <p:sp>
        <p:nvSpPr>
          <p:cNvPr id="5" name="页脚占位符 4"/>
          <p:cNvSpPr>
            <a:spLocks noGrp="1"/>
          </p:cNvSpPr>
          <p:nvPr>
            <p:ph type="ftr" sz="quarter" idx="11"/>
          </p:nvPr>
        </p:nvSpPr>
        <p:spPr>
          <a:xfrm>
            <a:off x="3124200" y="6448251"/>
            <a:ext cx="2895600" cy="365125"/>
          </a:xfrm>
        </p:spPr>
        <p:txBody>
          <a:bodyPr/>
          <a:lstStyle/>
          <a:p>
            <a:endParaRPr lang="zh-CN" altLang="en-US"/>
          </a:p>
        </p:txBody>
      </p:sp>
      <p:sp>
        <p:nvSpPr>
          <p:cNvPr id="6" name="灯片编号占位符 5"/>
          <p:cNvSpPr>
            <a:spLocks noGrp="1"/>
          </p:cNvSpPr>
          <p:nvPr>
            <p:ph type="sldNum" sz="quarter" idx="12"/>
          </p:nvPr>
        </p:nvSpPr>
        <p:spPr>
          <a:xfrm>
            <a:off x="6553200" y="6448251"/>
            <a:ext cx="2133600" cy="365125"/>
          </a:xfrm>
        </p:spPr>
        <p:txBody>
          <a:bodyPr/>
          <a:lstStyle/>
          <a:p>
            <a:fld id="{0C913308-F349-4B6D-A68A-DD1791B4A57B}" type="slidenum">
              <a:rPr lang="zh-CN" altLang="en-US" smtClean="0"/>
              <a:t>‹#›</a:t>
            </a:fld>
            <a:r>
              <a:rPr lang="en-US" altLang="zh-CN" dirty="0"/>
              <a:t>/45</a:t>
            </a:r>
            <a:endParaRPr lang="zh-CN" altLang="en-US" dirty="0"/>
          </a:p>
        </p:txBody>
      </p:sp>
      <p:cxnSp>
        <p:nvCxnSpPr>
          <p:cNvPr id="10" name="直接连接符 9"/>
          <p:cNvCxnSpPr/>
          <p:nvPr userDrawn="1"/>
        </p:nvCxnSpPr>
        <p:spPr>
          <a:xfrm>
            <a:off x="323528" y="822722"/>
            <a:ext cx="8352928" cy="0"/>
          </a:xfrm>
          <a:prstGeom prst="line">
            <a:avLst/>
          </a:prstGeom>
          <a:ln>
            <a:solidFill>
              <a:schemeClr val="bg1">
                <a:lumMod val="85000"/>
              </a:schemeClr>
            </a:solidFill>
          </a:ln>
        </p:spPr>
        <p:style>
          <a:lnRef idx="1">
            <a:schemeClr val="accent3"/>
          </a:lnRef>
          <a:fillRef idx="0">
            <a:schemeClr val="accent3"/>
          </a:fillRef>
          <a:effectRef idx="0">
            <a:schemeClr val="accent3"/>
          </a:effectRef>
          <a:fontRef idx="minor">
            <a:schemeClr val="tx1"/>
          </a:fontRef>
        </p:style>
      </p:cxnSp>
      <p:pic>
        <p:nvPicPr>
          <p:cNvPr id="12" name="图片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23528" y="188640"/>
            <a:ext cx="662880" cy="549705"/>
          </a:xfrm>
          <a:prstGeom prst="rect">
            <a:avLst/>
          </a:prstGeom>
        </p:spPr>
      </p:pic>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理论讲解">
    <p:spTree>
      <p:nvGrpSpPr>
        <p:cNvPr id="1" name=""/>
        <p:cNvGrpSpPr/>
        <p:nvPr/>
      </p:nvGrpSpPr>
      <p:grpSpPr>
        <a:xfrm>
          <a:off x="0" y="0"/>
          <a:ext cx="0" cy="0"/>
          <a:chOff x="0" y="0"/>
          <a:chExt cx="0" cy="0"/>
        </a:xfrm>
      </p:grpSpPr>
      <p:pic>
        <p:nvPicPr>
          <p:cNvPr id="22" name="Picture 2" descr="E:\工作\正做的\2022年工作【项目制】\BCNT\S1封面底图.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1"/>
          </a:xfrm>
          <a:prstGeom prst="rect">
            <a:avLst/>
          </a:prstGeom>
          <a:noFill/>
          <a:extLst>
            <a:ext uri="{909E8E84-426E-40DD-AFC4-6F175D3DCCD1}">
              <a14:hiddenFill xmlns:a14="http://schemas.microsoft.com/office/drawing/2010/main">
                <a:solidFill>
                  <a:srgbClr val="FFFFFF"/>
                </a:solidFill>
              </a14:hiddenFill>
            </a:ext>
          </a:extLst>
        </p:spPr>
      </p:pic>
      <p:sp>
        <p:nvSpPr>
          <p:cNvPr id="26" name="矩形 25"/>
          <p:cNvSpPr/>
          <p:nvPr userDrawn="1"/>
        </p:nvSpPr>
        <p:spPr>
          <a:xfrm flipV="1">
            <a:off x="-635" y="4779010"/>
            <a:ext cx="9128760" cy="2065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userDrawn="1"/>
        </p:nvSpPr>
        <p:spPr>
          <a:xfrm flipV="1">
            <a:off x="0" y="4725144"/>
            <a:ext cx="9144000" cy="85088"/>
          </a:xfrm>
          <a:prstGeom prst="rect">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32"/>
          <p:cNvSpPr txBox="1"/>
          <p:nvPr userDrawn="1"/>
        </p:nvSpPr>
        <p:spPr>
          <a:xfrm>
            <a:off x="5941060" y="4737918"/>
            <a:ext cx="2954655" cy="923330"/>
          </a:xfrm>
          <a:prstGeom prst="rect">
            <a:avLst/>
          </a:prstGeom>
          <a:noFill/>
        </p:spPr>
        <p:txBody>
          <a:bodyPr wrap="none" rtlCol="0" anchor="t">
            <a:spAutoFit/>
          </a:bodyPr>
          <a:lstStyle/>
          <a:p>
            <a:r>
              <a:rPr lang="zh-CN" altLang="en-US" sz="5400" b="1" dirty="0">
                <a:solidFill>
                  <a:srgbClr val="001E7F"/>
                </a:solidFill>
                <a:latin typeface="微软雅黑" panose="020B0503020204020204" pitchFamily="34" charset="-122"/>
                <a:ea typeface="微软雅黑" panose="020B0503020204020204" pitchFamily="34" charset="-122"/>
                <a:sym typeface="+mn-ea"/>
              </a:rPr>
              <a:t>理论讲解</a:t>
            </a:r>
          </a:p>
        </p:txBody>
      </p:sp>
      <p:pic>
        <p:nvPicPr>
          <p:cNvPr id="31" name="图片 30" descr="pen"/>
          <p:cNvPicPr>
            <a:picLocks noChangeAspect="1"/>
          </p:cNvPicPr>
          <p:nvPr userDrawn="1"/>
        </p:nvPicPr>
        <p:blipFill>
          <a:blip r:embed="rId3" cstate="print"/>
          <a:stretch>
            <a:fillRect/>
          </a:stretch>
        </p:blipFill>
        <p:spPr>
          <a:xfrm>
            <a:off x="6972024" y="5589240"/>
            <a:ext cx="864151" cy="864151"/>
          </a:xfrm>
          <a:prstGeom prst="rect">
            <a:avLst/>
          </a:prstGeom>
        </p:spPr>
      </p:pic>
      <p:sp>
        <p:nvSpPr>
          <p:cNvPr id="33" name="矩形 32"/>
          <p:cNvSpPr/>
          <p:nvPr/>
        </p:nvSpPr>
        <p:spPr>
          <a:xfrm>
            <a:off x="7037623" y="1248239"/>
            <a:ext cx="1423260" cy="164538"/>
          </a:xfrm>
          <a:prstGeom prst="rect">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5" name="组合 34"/>
          <p:cNvGrpSpPr/>
          <p:nvPr userDrawn="1"/>
        </p:nvGrpSpPr>
        <p:grpSpPr>
          <a:xfrm>
            <a:off x="7064952" y="619853"/>
            <a:ext cx="1368603" cy="216859"/>
            <a:chOff x="7036462" y="811738"/>
            <a:chExt cx="1368603" cy="216859"/>
          </a:xfrm>
        </p:grpSpPr>
        <p:cxnSp>
          <p:nvCxnSpPr>
            <p:cNvPr id="36" name="直接连接符 35"/>
            <p:cNvCxnSpPr/>
            <p:nvPr/>
          </p:nvCxnSpPr>
          <p:spPr>
            <a:xfrm>
              <a:off x="7036462" y="956589"/>
              <a:ext cx="1368603" cy="7559"/>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矩形: 圆角 17"/>
            <p:cNvSpPr/>
            <p:nvPr/>
          </p:nvSpPr>
          <p:spPr>
            <a:xfrm>
              <a:off x="7486607" y="811738"/>
              <a:ext cx="468312" cy="216859"/>
            </a:xfrm>
            <a:prstGeom prst="roundRect">
              <a:avLst/>
            </a:prstGeom>
            <a:solidFill>
              <a:srgbClr val="030449"/>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2000" dirty="0">
                <a:solidFill>
                  <a:srgbClr val="001E7F"/>
                </a:solidFill>
                <a:latin typeface="阿里巴巴普惠体 2.0 105 Heavy" pitchFamily="18" charset="-122"/>
                <a:ea typeface="阿里巴巴普惠体 2.0 105 Heavy" pitchFamily="18" charset="-122"/>
                <a:cs typeface="阿里巴巴普惠体 2.0 105 Heavy" pitchFamily="18" charset="-122"/>
              </a:endParaRPr>
            </a:p>
          </p:txBody>
        </p:sp>
      </p:grpSp>
      <p:pic>
        <p:nvPicPr>
          <p:cNvPr id="39" name="Picture 8" descr="H:\工作呀工作呀工作呀工作呀工作呀工作呀工作呀工作呀工作呀工作呀工作呀工作呀工作区\2022年工作\--BCNT2.0--\地球.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372200" y="501119"/>
            <a:ext cx="1000059" cy="98366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3" descr="E:\工作\正做的\2022年工作【项目制】\BCNT\999.png"/>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95536" y="4017189"/>
            <a:ext cx="2844198" cy="2442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章实验">
    <p:spTree>
      <p:nvGrpSpPr>
        <p:cNvPr id="1" name=""/>
        <p:cNvGrpSpPr/>
        <p:nvPr/>
      </p:nvGrpSpPr>
      <p:grpSpPr>
        <a:xfrm>
          <a:off x="0" y="0"/>
          <a:ext cx="0" cy="0"/>
          <a:chOff x="0" y="0"/>
          <a:chExt cx="0" cy="0"/>
        </a:xfrm>
      </p:grpSpPr>
      <p:pic>
        <p:nvPicPr>
          <p:cNvPr id="22" name="Picture 2" descr="E:\工作\正做的\2022年工作【项目制】\BCNT\S1封面底图.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1"/>
          </a:xfrm>
          <a:prstGeom prst="rect">
            <a:avLst/>
          </a:prstGeom>
          <a:noFill/>
          <a:extLst>
            <a:ext uri="{909E8E84-426E-40DD-AFC4-6F175D3DCCD1}">
              <a14:hiddenFill xmlns:a14="http://schemas.microsoft.com/office/drawing/2010/main">
                <a:solidFill>
                  <a:srgbClr val="FFFFFF"/>
                </a:solidFill>
              </a14:hiddenFill>
            </a:ext>
          </a:extLst>
        </p:spPr>
      </p:pic>
      <p:sp>
        <p:nvSpPr>
          <p:cNvPr id="14" name="矩形 13"/>
          <p:cNvSpPr/>
          <p:nvPr userDrawn="1"/>
        </p:nvSpPr>
        <p:spPr>
          <a:xfrm flipV="1">
            <a:off x="-635" y="4779010"/>
            <a:ext cx="9128760" cy="2065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userDrawn="1"/>
        </p:nvSpPr>
        <p:spPr>
          <a:xfrm flipV="1">
            <a:off x="0" y="4725144"/>
            <a:ext cx="9144000" cy="85088"/>
          </a:xfrm>
          <a:prstGeom prst="rect">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文本框 32"/>
          <p:cNvSpPr txBox="1"/>
          <p:nvPr userDrawn="1"/>
        </p:nvSpPr>
        <p:spPr>
          <a:xfrm>
            <a:off x="5941060" y="4725144"/>
            <a:ext cx="2954655" cy="923330"/>
          </a:xfrm>
          <a:prstGeom prst="rect">
            <a:avLst/>
          </a:prstGeom>
          <a:noFill/>
        </p:spPr>
        <p:txBody>
          <a:bodyPr wrap="none" rtlCol="0" anchor="t">
            <a:spAutoFit/>
          </a:bodyPr>
          <a:lstStyle/>
          <a:p>
            <a:r>
              <a:rPr lang="zh-CN" altLang="en-US" sz="5400" b="1" dirty="0">
                <a:solidFill>
                  <a:srgbClr val="001E7F"/>
                </a:solidFill>
                <a:latin typeface="微软雅黑" panose="020B0503020204020204" pitchFamily="34" charset="-122"/>
                <a:ea typeface="微软雅黑" panose="020B0503020204020204" pitchFamily="34" charset="-122"/>
                <a:sym typeface="+mn-ea"/>
              </a:rPr>
              <a:t>本章实验</a:t>
            </a:r>
          </a:p>
        </p:txBody>
      </p:sp>
      <p:pic>
        <p:nvPicPr>
          <p:cNvPr id="1026" name="Picture 2" descr="E:\工作\正做的\2022年工作【项目制】\BCNT\本章实验.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55430" y="5589240"/>
            <a:ext cx="956930" cy="947177"/>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33"/>
          <p:cNvSpPr/>
          <p:nvPr/>
        </p:nvSpPr>
        <p:spPr>
          <a:xfrm>
            <a:off x="7037623" y="1248239"/>
            <a:ext cx="1423260" cy="164538"/>
          </a:xfrm>
          <a:prstGeom prst="rect">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圆角 17"/>
          <p:cNvSpPr/>
          <p:nvPr/>
        </p:nvSpPr>
        <p:spPr>
          <a:xfrm>
            <a:off x="7515097" y="619853"/>
            <a:ext cx="468312" cy="216859"/>
          </a:xfrm>
          <a:prstGeom prst="roundRect">
            <a:avLst/>
          </a:prstGeom>
          <a:solidFill>
            <a:srgbClr val="030449"/>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zh-CN" sz="2000" dirty="0">
              <a:solidFill>
                <a:srgbClr val="001E7F"/>
              </a:solidFill>
              <a:latin typeface="阿里巴巴普惠体 2.0 105 Heavy" pitchFamily="18" charset="-122"/>
              <a:ea typeface="阿里巴巴普惠体 2.0 105 Heavy" pitchFamily="18" charset="-122"/>
              <a:cs typeface="阿里巴巴普惠体 2.0 105 Heavy" pitchFamily="18" charset="-122"/>
            </a:endParaRPr>
          </a:p>
        </p:txBody>
      </p:sp>
      <p:pic>
        <p:nvPicPr>
          <p:cNvPr id="23" name="Picture 3" descr="E:\工作\正做的\2022年工作【项目制】\BCNT\999.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95536" y="4017189"/>
            <a:ext cx="2844198" cy="2442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本章作业">
    <p:spTree>
      <p:nvGrpSpPr>
        <p:cNvPr id="1" name=""/>
        <p:cNvGrpSpPr/>
        <p:nvPr/>
      </p:nvGrpSpPr>
      <p:grpSpPr>
        <a:xfrm>
          <a:off x="0" y="0"/>
          <a:ext cx="0" cy="0"/>
          <a:chOff x="0" y="0"/>
          <a:chExt cx="0" cy="0"/>
        </a:xfrm>
      </p:grpSpPr>
      <p:pic>
        <p:nvPicPr>
          <p:cNvPr id="34" name="Picture 2" descr="E:\工作\正做的\2022年工作【项目制】\BCNT\S1封面底图.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 y="0"/>
            <a:ext cx="9144001" cy="6858001"/>
          </a:xfrm>
          <a:prstGeom prst="rect">
            <a:avLst/>
          </a:prstGeom>
          <a:noFill/>
          <a:extLst>
            <a:ext uri="{909E8E84-426E-40DD-AFC4-6F175D3DCCD1}">
              <a14:hiddenFill xmlns:a14="http://schemas.microsoft.com/office/drawing/2010/main">
                <a:solidFill>
                  <a:srgbClr val="FFFFFF"/>
                </a:solidFill>
              </a14:hiddenFill>
            </a:ext>
          </a:extLst>
        </p:spPr>
      </p:pic>
      <p:sp>
        <p:nvSpPr>
          <p:cNvPr id="32" name="矩形 31"/>
          <p:cNvSpPr/>
          <p:nvPr userDrawn="1"/>
        </p:nvSpPr>
        <p:spPr>
          <a:xfrm flipV="1">
            <a:off x="-635" y="4779010"/>
            <a:ext cx="9128760" cy="20656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userDrawn="1"/>
        </p:nvSpPr>
        <p:spPr>
          <a:xfrm flipV="1">
            <a:off x="0" y="4725144"/>
            <a:ext cx="9144000" cy="85088"/>
          </a:xfrm>
          <a:prstGeom prst="rect">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descr="E:\工作\正做的\2022年工作【项目制】\BCNT\本章作业.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72229" y="5622608"/>
            <a:ext cx="986435" cy="983049"/>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 descr="E:\工作\正做的\2022年工作【项目制】\BCNT\999.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95536" y="4017189"/>
            <a:ext cx="2844198" cy="24423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6B54E2-0453-4383-BB10-F5F7085A7C1A}" type="datetime1">
              <a:rPr lang="zh-CN" altLang="en-US" smtClean="0"/>
              <a:t>2026/3/7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xml"/><Relationship Id="rId7" Type="http://schemas.openxmlformats.org/officeDocument/2006/relationships/image" Target="../media/image13.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5.xml"/><Relationship Id="rId7" Type="http://schemas.openxmlformats.org/officeDocument/2006/relationships/image" Target="../media/image13.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notesSlide" Target="../notesSlides/notesSlide14.xml"/><Relationship Id="rId5" Type="http://schemas.openxmlformats.org/officeDocument/2006/relationships/slideLayout" Target="../slideLayouts/slideLayout2.xml"/><Relationship Id="rId4" Type="http://schemas.openxmlformats.org/officeDocument/2006/relationships/tags" Target="../tags/tag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30.xml.rels><?xml version="1.0" encoding="UTF-8" standalone="yes"?>
<Relationships xmlns="http://schemas.openxmlformats.org/package/2006/relationships"><Relationship Id="rId3" Type="http://schemas.openxmlformats.org/officeDocument/2006/relationships/tags" Target="../tags/tag22.xml"/><Relationship Id="rId7" Type="http://schemas.openxmlformats.org/officeDocument/2006/relationships/image" Target="../media/image14.png"/><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image" Target="../media/image13.png"/><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4.xml"/><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7.png"/><Relationship Id="rId4" Type="http://schemas.openxmlformats.org/officeDocument/2006/relationships/notesSlide" Target="../notesSlides/notesSlide2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14.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3.png"/><Relationship Id="rId5" Type="http://schemas.openxmlformats.org/officeDocument/2006/relationships/slideLayout" Target="../slideLayouts/slideLayout2.xml"/><Relationship Id="rId4" Type="http://schemas.openxmlformats.org/officeDocument/2006/relationships/tags" Target="../tags/tag34.xml"/></Relationships>
</file>

<file path=ppt/slides/_rels/slide41.xml.rels><?xml version="1.0" encoding="UTF-8" standalone="yes"?>
<Relationships xmlns="http://schemas.openxmlformats.org/package/2006/relationships"><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课前小考</a:t>
            </a:r>
            <a:endParaRPr lang="zh-CN" altLang="en-US"/>
          </a:p>
        </p:txBody>
      </p:sp>
      <p:sp>
        <p:nvSpPr>
          <p:cNvPr id="3" name="内容占位符 2"/>
          <p:cNvSpPr>
            <a:spLocks noGrp="1"/>
          </p:cNvSpPr>
          <p:nvPr>
            <p:ph idx="1"/>
          </p:nvPr>
        </p:nvSpPr>
        <p:spPr>
          <a:xfrm>
            <a:off x="323528" y="837217"/>
            <a:ext cx="8496944" cy="5381337"/>
          </a:xfrm>
        </p:spPr>
        <p:txBody>
          <a:bodyPr/>
          <a:lstStyle/>
          <a:p>
            <a:r>
              <a:rPr lang="zh-CN" altLang="en-US"/>
              <a:t>复习题</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r>
              <a:rPr lang="zh-CN" altLang="en-US"/>
              <a:t>预习题</a:t>
            </a:r>
          </a:p>
        </p:txBody>
      </p:sp>
      <p:sp>
        <p:nvSpPr>
          <p:cNvPr id="4" name="TextBox 3"/>
          <p:cNvSpPr txBox="1"/>
          <p:nvPr/>
        </p:nvSpPr>
        <p:spPr>
          <a:xfrm>
            <a:off x="683568" y="1246614"/>
            <a:ext cx="8136904" cy="3041015"/>
          </a:xfrm>
          <a:prstGeom prst="rect">
            <a:avLst/>
          </a:prstGeom>
          <a:noFill/>
        </p:spPr>
        <p:txBody>
          <a:bodyPr wrap="square" rtlCol="0">
            <a:spAutoFit/>
          </a:bodyPr>
          <a:lstStyle/>
          <a:p>
            <a:pPr marL="0" lvl="1">
              <a:lnSpc>
                <a:spcPct val="120000"/>
              </a:lnSpc>
            </a:pPr>
            <a:r>
              <a:rPr lang="zh-CN" altLang="en-US" sz="1600" dirty="0">
                <a:latin typeface="微软雅黑" panose="020B0503020204020204" pitchFamily="34" charset="-122"/>
                <a:ea typeface="微软雅黑" panose="020B0503020204020204" pitchFamily="34" charset="-122"/>
              </a:rPr>
              <a:t>1．单臂路由的缺点有哪些？</a:t>
            </a:r>
          </a:p>
          <a:p>
            <a:pPr marL="0" lvl="1">
              <a:lnSpc>
                <a:spcPct val="120000"/>
              </a:lnSpc>
            </a:pPr>
            <a:r>
              <a:rPr lang="zh-CN" altLang="en-US" sz="1600" dirty="0">
                <a:latin typeface="微软雅黑" panose="020B0503020204020204" pitchFamily="34" charset="-122"/>
                <a:ea typeface="微软雅黑" panose="020B0503020204020204" pitchFamily="34" charset="-122"/>
              </a:rPr>
              <a:t>2．多臂路由有什么不足？</a:t>
            </a:r>
          </a:p>
          <a:p>
            <a:pPr marL="0" lvl="1">
              <a:lnSpc>
                <a:spcPct val="120000"/>
              </a:lnSpc>
            </a:pPr>
            <a:r>
              <a:rPr lang="zh-CN" altLang="en-US" sz="1600" dirty="0">
                <a:latin typeface="微软雅黑" panose="020B0503020204020204" pitchFamily="34" charset="-122"/>
                <a:ea typeface="微软雅黑" panose="020B0503020204020204" pitchFamily="34" charset="-122"/>
              </a:rPr>
              <a:t>3．绘制 MLS 的工作机制，并对图中的 MLS 工作机制写出说明文字</a:t>
            </a:r>
          </a:p>
          <a:p>
            <a:pPr marL="0" lvl="1">
              <a:lnSpc>
                <a:spcPct val="120000"/>
              </a:lnSpc>
            </a:pPr>
            <a:r>
              <a:rPr lang="zh-CN" altLang="en-US" sz="1600" dirty="0">
                <a:latin typeface="微软雅黑" panose="020B0503020204020204" pitchFamily="34" charset="-122"/>
                <a:ea typeface="微软雅黑" panose="020B0503020204020204" pitchFamily="34" charset="-122"/>
              </a:rPr>
              <a:t>4．什么是“一次路由、多次交换”？</a:t>
            </a:r>
          </a:p>
          <a:p>
            <a:pPr marL="0" lvl="1">
              <a:lnSpc>
                <a:spcPct val="120000"/>
              </a:lnSpc>
            </a:pPr>
            <a:r>
              <a:rPr lang="zh-CN" altLang="en-US" sz="1600" dirty="0">
                <a:latin typeface="微软雅黑" panose="020B0503020204020204" pitchFamily="34" charset="-122"/>
                <a:ea typeface="微软雅黑" panose="020B0503020204020204" pitchFamily="34" charset="-122"/>
              </a:rPr>
              <a:t>5．VLANIF 接口与 VLAN 的关系是什么？</a:t>
            </a:r>
          </a:p>
          <a:p>
            <a:pPr marL="0" lvl="1">
              <a:lnSpc>
                <a:spcPct val="120000"/>
              </a:lnSpc>
            </a:pPr>
            <a:r>
              <a:rPr lang="zh-CN" altLang="en-US" sz="1600" dirty="0">
                <a:latin typeface="微软雅黑" panose="020B0503020204020204" pitchFamily="34" charset="-122"/>
                <a:ea typeface="微软雅黑" panose="020B0503020204020204" pitchFamily="34" charset="-122"/>
              </a:rPr>
              <a:t>6．请简述在什么情况下需要配置 DHCP 中继</a:t>
            </a:r>
          </a:p>
          <a:p>
            <a:pPr marL="0" lvl="1">
              <a:lnSpc>
                <a:spcPct val="120000"/>
              </a:lnSpc>
            </a:pPr>
            <a:r>
              <a:rPr lang="zh-CN" altLang="en-US" sz="1600" dirty="0">
                <a:latin typeface="微软雅黑" panose="020B0503020204020204" pitchFamily="34" charset="-122"/>
                <a:ea typeface="微软雅黑" panose="020B0503020204020204" pitchFamily="34" charset="-122"/>
              </a:rPr>
              <a:t>7．“[Huawei]interface GigabitEthernet0/0/1.10”命令的作用是什么？</a:t>
            </a:r>
          </a:p>
          <a:p>
            <a:pPr marL="0" lvl="1">
              <a:lnSpc>
                <a:spcPct val="120000"/>
              </a:lnSpc>
            </a:pPr>
            <a:r>
              <a:rPr lang="zh-CN" altLang="en-US" sz="1600" dirty="0">
                <a:latin typeface="微软雅黑" panose="020B0503020204020204" pitchFamily="34" charset="-122"/>
                <a:ea typeface="微软雅黑" panose="020B0503020204020204" pitchFamily="34" charset="-122"/>
              </a:rPr>
              <a:t>8．写出查看 DHCP 中继配置信息的命令</a:t>
            </a:r>
          </a:p>
          <a:p>
            <a:pPr marL="0" lvl="1">
              <a:lnSpc>
                <a:spcPct val="120000"/>
              </a:lnSpc>
            </a:pPr>
            <a:r>
              <a:rPr lang="zh-CN" altLang="en-US" sz="1600" dirty="0">
                <a:latin typeface="微软雅黑" panose="020B0503020204020204" pitchFamily="34" charset="-122"/>
                <a:ea typeface="微软雅黑" panose="020B0503020204020204" pitchFamily="34" charset="-122"/>
              </a:rPr>
              <a:t>9．假如 DHCP 服务器的地址是 192.168.1.11，请写出 DHCP 中继的配置命令</a:t>
            </a:r>
          </a:p>
          <a:p>
            <a:pPr marL="0" lvl="1">
              <a:lnSpc>
                <a:spcPct val="120000"/>
              </a:lnSpc>
            </a:pPr>
            <a:r>
              <a:rPr lang="zh-CN" altLang="en-US" sz="1600" dirty="0">
                <a:latin typeface="微软雅黑" panose="020B0503020204020204" pitchFamily="34" charset="-122"/>
                <a:ea typeface="微软雅黑" panose="020B0503020204020204" pitchFamily="34" charset="-122"/>
              </a:rPr>
              <a:t>10．写出查看 DHCP 地址池的 IP 地址分配情况的命令</a:t>
            </a:r>
          </a:p>
        </p:txBody>
      </p:sp>
      <p:sp>
        <p:nvSpPr>
          <p:cNvPr id="5" name="TextBox 4"/>
          <p:cNvSpPr txBox="1"/>
          <p:nvPr/>
        </p:nvSpPr>
        <p:spPr>
          <a:xfrm>
            <a:off x="693669" y="4986134"/>
            <a:ext cx="8136904" cy="1322070"/>
          </a:xfrm>
          <a:prstGeom prst="rect">
            <a:avLst/>
          </a:prstGeom>
          <a:noFill/>
        </p:spPr>
        <p:txBody>
          <a:bodyPr wrap="square" rtlCol="0">
            <a:spAutoFit/>
          </a:bodyPr>
          <a:lstStyle/>
          <a:p>
            <a:pPr lvl="0" algn="l"/>
            <a:r>
              <a:rPr sz="1600">
                <a:latin typeface="微软雅黑" panose="020B0503020204020204" pitchFamily="34" charset="-122"/>
                <a:ea typeface="微软雅黑" panose="020B0503020204020204" pitchFamily="34" charset="-122"/>
                <a:cs typeface="微软雅黑" panose="020B0503020204020204" pitchFamily="34" charset="-122"/>
                <a:sym typeface="+mn-ea"/>
              </a:rPr>
              <a:t>1．子网划分的作用是什么？</a:t>
            </a:r>
          </a:p>
          <a:p>
            <a:pPr lvl="0" algn="l"/>
            <a:r>
              <a:rPr sz="1600">
                <a:latin typeface="微软雅黑" panose="020B0503020204020204" pitchFamily="34" charset="-122"/>
                <a:ea typeface="微软雅黑" panose="020B0503020204020204" pitchFamily="34" charset="-122"/>
                <a:cs typeface="微软雅黑" panose="020B0503020204020204" pitchFamily="34" charset="-122"/>
                <a:sym typeface="+mn-ea"/>
              </a:rPr>
              <a:t>2．子网掩码的作用是什么？</a:t>
            </a:r>
          </a:p>
          <a:p>
            <a:pPr lvl="0" algn="l"/>
            <a:r>
              <a:rPr sz="1600">
                <a:latin typeface="微软雅黑" panose="020B0503020204020204" pitchFamily="34" charset="-122"/>
                <a:ea typeface="微软雅黑" panose="020B0503020204020204" pitchFamily="34" charset="-122"/>
                <a:cs typeface="微软雅黑" panose="020B0503020204020204" pitchFamily="34" charset="-122"/>
                <a:sym typeface="+mn-ea"/>
              </a:rPr>
              <a:t>3．什么是 A、B、C 类地址？地址范围有哪些？</a:t>
            </a:r>
          </a:p>
          <a:p>
            <a:pPr lvl="0" algn="l"/>
            <a:r>
              <a:rPr sz="1600">
                <a:latin typeface="微软雅黑" panose="020B0503020204020204" pitchFamily="34" charset="-122"/>
                <a:ea typeface="微软雅黑" panose="020B0503020204020204" pitchFamily="34" charset="-122"/>
                <a:cs typeface="微软雅黑" panose="020B0503020204020204" pitchFamily="34" charset="-122"/>
                <a:sym typeface="+mn-ea"/>
              </a:rPr>
              <a:t>4．写出 C 类地址的默认子网掩码</a:t>
            </a:r>
          </a:p>
          <a:p>
            <a:pPr lvl="0" algn="l"/>
            <a:r>
              <a:rPr sz="1600">
                <a:latin typeface="微软雅黑" panose="020B0503020204020204" pitchFamily="34" charset="-122"/>
                <a:ea typeface="微软雅黑" panose="020B0503020204020204" pitchFamily="34" charset="-122"/>
                <a:cs typeface="微软雅黑" panose="020B0503020204020204" pitchFamily="34" charset="-122"/>
                <a:sym typeface="+mn-ea"/>
              </a:rPr>
              <a:t>5．地址汇总是什么？</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t>1</a:t>
            </a:fld>
            <a:r>
              <a:rPr lang="en-US" altLang="zh-CN" dirty="0"/>
              <a:t>/45</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标题 4"/>
          <p:cNvSpPr>
            <a:spLocks noGrp="1"/>
          </p:cNvSpPr>
          <p:nvPr/>
        </p:nvSpPr>
        <p:spPr>
          <a:xfrm>
            <a:off x="1588" y="2479546"/>
            <a:ext cx="9140825" cy="109347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bg1"/>
                </a:solidFill>
                <a:effectLst/>
                <a:latin typeface="微软雅黑" panose="020B0503020204020204" pitchFamily="34" charset="-122"/>
                <a:ea typeface="微软雅黑" panose="020B0503020204020204" pitchFamily="34" charset="-122"/>
                <a:sym typeface="+mn-ea"/>
              </a:rPr>
              <a:t>IP</a:t>
            </a:r>
            <a:r>
              <a:rPr lang="zh-CN" altLang="en-US" sz="4800" b="1" dirty="0">
                <a:solidFill>
                  <a:schemeClr val="bg1"/>
                </a:solidFill>
                <a:effectLst/>
                <a:latin typeface="微软雅黑" panose="020B0503020204020204" pitchFamily="34" charset="-122"/>
                <a:ea typeface="微软雅黑" panose="020B0503020204020204" pitchFamily="34" charset="-122"/>
                <a:sym typeface="+mn-ea"/>
              </a:rPr>
              <a:t>子网划分</a:t>
            </a:r>
          </a:p>
        </p:txBody>
      </p:sp>
      <p:grpSp>
        <p:nvGrpSpPr>
          <p:cNvPr id="13" name="组合 12"/>
          <p:cNvGrpSpPr/>
          <p:nvPr/>
        </p:nvGrpSpPr>
        <p:grpSpPr>
          <a:xfrm>
            <a:off x="3421173" y="1951658"/>
            <a:ext cx="2301655" cy="397222"/>
            <a:chOff x="4932040" y="3751858"/>
            <a:chExt cx="2301655" cy="397222"/>
          </a:xfrm>
        </p:grpSpPr>
        <p:sp>
          <p:nvSpPr>
            <p:cNvPr id="16" name="标题 1"/>
            <p:cNvSpPr txBox="1"/>
            <p:nvPr/>
          </p:nvSpPr>
          <p:spPr>
            <a:xfrm>
              <a:off x="4932040" y="3751858"/>
              <a:ext cx="2301655" cy="3972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000" b="1" dirty="0">
                  <a:solidFill>
                    <a:schemeClr val="bg1"/>
                  </a:solidFill>
                  <a:latin typeface="微软雅黑" panose="020B0503020204020204" pitchFamily="34" charset="-122"/>
                  <a:ea typeface="微软雅黑" panose="020B0503020204020204" pitchFamily="34" charset="-122"/>
                </a:rPr>
                <a:t>第四章</a:t>
              </a:r>
            </a:p>
          </p:txBody>
        </p:sp>
        <p:grpSp>
          <p:nvGrpSpPr>
            <p:cNvPr id="17" name="组合 16"/>
            <p:cNvGrpSpPr/>
            <p:nvPr/>
          </p:nvGrpSpPr>
          <p:grpSpPr>
            <a:xfrm>
              <a:off x="5321495" y="3899824"/>
              <a:ext cx="184008" cy="145008"/>
              <a:chOff x="3923928" y="3595371"/>
              <a:chExt cx="252028" cy="198611"/>
            </a:xfrm>
          </p:grpSpPr>
          <p:sp>
            <p:nvSpPr>
              <p:cNvPr id="18" name="燕尾形 17"/>
              <p:cNvSpPr/>
              <p:nvPr/>
            </p:nvSpPr>
            <p:spPr>
              <a:xfrm>
                <a:off x="4067944" y="3595371"/>
                <a:ext cx="108012" cy="198611"/>
              </a:xfrm>
              <a:prstGeom prst="chevron">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3923928" y="3595371"/>
                <a:ext cx="108012" cy="198611"/>
              </a:xfrm>
              <a:prstGeom prst="chevron">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本章结构</a:t>
            </a:r>
            <a:endParaRPr lang="zh-CN" altLang="en-US"/>
          </a:p>
        </p:txBody>
      </p:sp>
      <p:sp>
        <p:nvSpPr>
          <p:cNvPr id="12303" name="AutoShape 5"/>
          <p:cNvSpPr>
            <a:spLocks noChangeArrowheads="1"/>
          </p:cNvSpPr>
          <p:nvPr/>
        </p:nvSpPr>
        <p:spPr bwMode="auto">
          <a:xfrm>
            <a:off x="3033098" y="3089971"/>
            <a:ext cx="1971675" cy="373665"/>
          </a:xfrm>
          <a:prstGeom prst="roundRect">
            <a:avLst>
              <a:gd name="adj" fmla="val 16667"/>
            </a:avLst>
          </a:prstGeom>
          <a:solidFill>
            <a:srgbClr val="FEA01A"/>
          </a:solidFill>
          <a:ln w="19050">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chemeClr val="bg1"/>
                </a:solidFill>
                <a:latin typeface="微软雅黑" panose="020B0503020204020204" pitchFamily="34" charset="-122"/>
                <a:ea typeface="微软雅黑" panose="020B0503020204020204" pitchFamily="34" charset="-122"/>
                <a:sym typeface="+mn-ea"/>
              </a:rPr>
              <a:t>子网划分的原理</a:t>
            </a:r>
          </a:p>
        </p:txBody>
      </p:sp>
      <p:sp>
        <p:nvSpPr>
          <p:cNvPr id="12308" name="AutoShape 18"/>
          <p:cNvSpPr>
            <a:spLocks noChangeArrowheads="1"/>
          </p:cNvSpPr>
          <p:nvPr/>
        </p:nvSpPr>
        <p:spPr bwMode="auto">
          <a:xfrm>
            <a:off x="5568347" y="1303387"/>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二进制</a:t>
            </a:r>
          </a:p>
        </p:txBody>
      </p:sp>
      <p:sp>
        <p:nvSpPr>
          <p:cNvPr id="12309" name="AutoShape 27"/>
          <p:cNvSpPr>
            <a:spLocks noChangeArrowheads="1"/>
          </p:cNvSpPr>
          <p:nvPr/>
        </p:nvSpPr>
        <p:spPr bwMode="auto">
          <a:xfrm>
            <a:off x="5572593" y="2304153"/>
            <a:ext cx="2675479"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子网划分的原因</a:t>
            </a:r>
          </a:p>
        </p:txBody>
      </p:sp>
      <p:sp>
        <p:nvSpPr>
          <p:cNvPr id="12310" name="AutoShape 28"/>
          <p:cNvSpPr>
            <a:spLocks noChangeArrowheads="1"/>
          </p:cNvSpPr>
          <p:nvPr/>
        </p:nvSpPr>
        <p:spPr bwMode="auto">
          <a:xfrm>
            <a:off x="5568347" y="1803770"/>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 IP地址与子网掩码</a:t>
            </a:r>
          </a:p>
        </p:txBody>
      </p:sp>
      <p:sp>
        <p:nvSpPr>
          <p:cNvPr id="12311" name="AutoShape 4"/>
          <p:cNvSpPr>
            <a:spLocks noChangeArrowheads="1"/>
          </p:cNvSpPr>
          <p:nvPr/>
        </p:nvSpPr>
        <p:spPr bwMode="auto">
          <a:xfrm>
            <a:off x="401020" y="3545936"/>
            <a:ext cx="2132012"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IP子网划分</a:t>
            </a:r>
          </a:p>
        </p:txBody>
      </p:sp>
      <p:sp>
        <p:nvSpPr>
          <p:cNvPr id="12320" name="AutoShape 5"/>
          <p:cNvSpPr>
            <a:spLocks noChangeArrowheads="1"/>
          </p:cNvSpPr>
          <p:nvPr/>
        </p:nvSpPr>
        <p:spPr bwMode="auto">
          <a:xfrm>
            <a:off x="3033098" y="1802141"/>
            <a:ext cx="1971675"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子网划分基础</a:t>
            </a:r>
          </a:p>
        </p:txBody>
      </p:sp>
      <p:sp>
        <p:nvSpPr>
          <p:cNvPr id="12319" name="AutoShape 5"/>
          <p:cNvSpPr>
            <a:spLocks noChangeArrowheads="1"/>
          </p:cNvSpPr>
          <p:nvPr/>
        </p:nvSpPr>
        <p:spPr bwMode="auto">
          <a:xfrm>
            <a:off x="3033098" y="3963974"/>
            <a:ext cx="1971675" cy="373665"/>
          </a:xfrm>
          <a:prstGeom prst="roundRect">
            <a:avLst>
              <a:gd name="adj" fmla="val 16667"/>
            </a:avLst>
          </a:prstGeom>
          <a:solidFill>
            <a:srgbClr val="FEA01A"/>
          </a:solidFill>
          <a:ln w="19050">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chemeClr val="bg1"/>
                </a:solidFill>
                <a:latin typeface="微软雅黑" panose="020B0503020204020204" pitchFamily="34" charset="-122"/>
                <a:ea typeface="微软雅黑" panose="020B0503020204020204" pitchFamily="34" charset="-122"/>
                <a:sym typeface="+mn-ea"/>
              </a:rPr>
              <a:t>子网划分的应用</a:t>
            </a:r>
          </a:p>
        </p:txBody>
      </p:sp>
      <p:sp>
        <p:nvSpPr>
          <p:cNvPr id="18" name="AutoShape 5"/>
          <p:cNvSpPr>
            <a:spLocks noChangeArrowheads="1"/>
          </p:cNvSpPr>
          <p:nvPr/>
        </p:nvSpPr>
        <p:spPr bwMode="auto">
          <a:xfrm>
            <a:off x="3033098" y="4802112"/>
            <a:ext cx="1971675"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IP地址汇总</a:t>
            </a:r>
          </a:p>
        </p:txBody>
      </p:sp>
      <p:sp>
        <p:nvSpPr>
          <p:cNvPr id="20" name="AutoShape 18"/>
          <p:cNvSpPr>
            <a:spLocks noChangeArrowheads="1"/>
          </p:cNvSpPr>
          <p:nvPr/>
        </p:nvSpPr>
        <p:spPr bwMode="auto">
          <a:xfrm>
            <a:off x="5533428" y="3464225"/>
            <a:ext cx="2700338" cy="373665"/>
          </a:xfrm>
          <a:prstGeom prst="roundRect">
            <a:avLst>
              <a:gd name="adj" fmla="val 16667"/>
            </a:avLst>
          </a:prstGeom>
          <a:solidFill>
            <a:srgbClr val="FEA01A"/>
          </a:solidFill>
          <a:ln w="19050">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chemeClr val="bg1"/>
                </a:solidFill>
                <a:latin typeface="微软雅黑" panose="020B0503020204020204" pitchFamily="34" charset="-122"/>
                <a:ea typeface="微软雅黑" panose="020B0503020204020204" pitchFamily="34" charset="-122"/>
                <a:sym typeface="+mn-ea"/>
              </a:rPr>
              <a:t>C 类地址划分</a:t>
            </a:r>
          </a:p>
        </p:txBody>
      </p:sp>
      <p:sp>
        <p:nvSpPr>
          <p:cNvPr id="22" name="AutoShape 18"/>
          <p:cNvSpPr>
            <a:spLocks noChangeArrowheads="1"/>
          </p:cNvSpPr>
          <p:nvPr/>
        </p:nvSpPr>
        <p:spPr bwMode="auto">
          <a:xfrm>
            <a:off x="5533428" y="4446976"/>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子网划分实例</a:t>
            </a:r>
          </a:p>
        </p:txBody>
      </p:sp>
      <p:sp>
        <p:nvSpPr>
          <p:cNvPr id="27" name="AutoShape 5"/>
          <p:cNvSpPr>
            <a:spLocks noChangeArrowheads="1"/>
          </p:cNvSpPr>
          <p:nvPr/>
        </p:nvSpPr>
        <p:spPr bwMode="auto">
          <a:xfrm>
            <a:off x="3033098" y="5393091"/>
            <a:ext cx="1971675"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IP地址规划及应用</a:t>
            </a:r>
          </a:p>
        </p:txBody>
      </p:sp>
      <p:cxnSp>
        <p:nvCxnSpPr>
          <p:cNvPr id="5" name="肘形连接符 4"/>
          <p:cNvCxnSpPr>
            <a:stCxn id="12311" idx="3"/>
            <a:endCxn id="12320" idx="1"/>
          </p:cNvCxnSpPr>
          <p:nvPr/>
        </p:nvCxnSpPr>
        <p:spPr>
          <a:xfrm flipV="1">
            <a:off x="2533015" y="1988820"/>
            <a:ext cx="500380" cy="1743710"/>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6" name="肘形连接符 5"/>
          <p:cNvCxnSpPr>
            <a:stCxn id="12311" idx="3"/>
            <a:endCxn id="12303" idx="1"/>
          </p:cNvCxnSpPr>
          <p:nvPr/>
        </p:nvCxnSpPr>
        <p:spPr>
          <a:xfrm flipV="1">
            <a:off x="2533015" y="3276600"/>
            <a:ext cx="500380" cy="455930"/>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7" name="肘形连接符 6"/>
          <p:cNvCxnSpPr>
            <a:stCxn id="12311" idx="3"/>
            <a:endCxn id="12319" idx="1"/>
          </p:cNvCxnSpPr>
          <p:nvPr/>
        </p:nvCxnSpPr>
        <p:spPr>
          <a:xfrm>
            <a:off x="2533015" y="3732530"/>
            <a:ext cx="500380" cy="417830"/>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8" name="肘形连接符 7"/>
          <p:cNvCxnSpPr>
            <a:stCxn id="12311" idx="3"/>
            <a:endCxn id="18" idx="1"/>
          </p:cNvCxnSpPr>
          <p:nvPr/>
        </p:nvCxnSpPr>
        <p:spPr>
          <a:xfrm>
            <a:off x="2533015" y="3732530"/>
            <a:ext cx="500380" cy="1256030"/>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9" name="肘形连接符 8"/>
          <p:cNvCxnSpPr>
            <a:stCxn id="12311" idx="3"/>
            <a:endCxn id="27" idx="1"/>
          </p:cNvCxnSpPr>
          <p:nvPr/>
        </p:nvCxnSpPr>
        <p:spPr>
          <a:xfrm>
            <a:off x="2533015" y="3732530"/>
            <a:ext cx="500380" cy="184721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10" name="肘形连接符 9"/>
          <p:cNvCxnSpPr>
            <a:stCxn id="12320" idx="3"/>
            <a:endCxn id="12308" idx="1"/>
          </p:cNvCxnSpPr>
          <p:nvPr/>
        </p:nvCxnSpPr>
        <p:spPr>
          <a:xfrm flipV="1">
            <a:off x="5005070" y="1490345"/>
            <a:ext cx="563245" cy="498475"/>
          </a:xfrm>
          <a:prstGeom prst="bentConnector3">
            <a:avLst>
              <a:gd name="adj1" fmla="val 50056"/>
            </a:avLst>
          </a:prstGeom>
          <a:ln w="15875"/>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12320" idx="3"/>
            <a:endCxn id="12310" idx="1"/>
          </p:cNvCxnSpPr>
          <p:nvPr/>
        </p:nvCxnSpPr>
        <p:spPr>
          <a:xfrm>
            <a:off x="5005070" y="1988820"/>
            <a:ext cx="563245" cy="1905"/>
          </a:xfrm>
          <a:prstGeom prst="bentConnector3">
            <a:avLst>
              <a:gd name="adj1" fmla="val 50056"/>
            </a:avLst>
          </a:prstGeom>
          <a:ln w="15875"/>
        </p:spPr>
        <p:style>
          <a:lnRef idx="1">
            <a:schemeClr val="accent1"/>
          </a:lnRef>
          <a:fillRef idx="0">
            <a:schemeClr val="accent1"/>
          </a:fillRef>
          <a:effectRef idx="0">
            <a:schemeClr val="accent1"/>
          </a:effectRef>
          <a:fontRef idx="minor">
            <a:schemeClr val="tx1"/>
          </a:fontRef>
        </p:style>
      </p:cxnSp>
      <p:cxnSp>
        <p:nvCxnSpPr>
          <p:cNvPr id="12" name="肘形连接符 11"/>
          <p:cNvCxnSpPr>
            <a:stCxn id="12320" idx="3"/>
            <a:endCxn id="12309" idx="1"/>
          </p:cNvCxnSpPr>
          <p:nvPr/>
        </p:nvCxnSpPr>
        <p:spPr>
          <a:xfrm>
            <a:off x="5005070" y="1988820"/>
            <a:ext cx="567690" cy="50228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13" name="肘形连接符 12"/>
          <p:cNvCxnSpPr>
            <a:stCxn id="12319" idx="3"/>
            <a:endCxn id="20" idx="1"/>
          </p:cNvCxnSpPr>
          <p:nvPr/>
        </p:nvCxnSpPr>
        <p:spPr>
          <a:xfrm flipV="1">
            <a:off x="5005070" y="3650615"/>
            <a:ext cx="528320" cy="49974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14" name="肘形连接符 13"/>
          <p:cNvCxnSpPr>
            <a:stCxn id="12319" idx="3"/>
            <a:endCxn id="21" idx="1"/>
          </p:cNvCxnSpPr>
          <p:nvPr/>
        </p:nvCxnSpPr>
        <p:spPr>
          <a:xfrm>
            <a:off x="5005070" y="4150360"/>
            <a:ext cx="528320" cy="63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15" name="肘形连接符 14"/>
          <p:cNvCxnSpPr>
            <a:stCxn id="12319" idx="3"/>
            <a:endCxn id="22" idx="1"/>
          </p:cNvCxnSpPr>
          <p:nvPr/>
        </p:nvCxnSpPr>
        <p:spPr>
          <a:xfrm>
            <a:off x="5005070" y="4150360"/>
            <a:ext cx="528320" cy="48323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sp>
        <p:nvSpPr>
          <p:cNvPr id="3" name="AutoShape 18"/>
          <p:cNvSpPr>
            <a:spLocks noChangeArrowheads="1"/>
          </p:cNvSpPr>
          <p:nvPr/>
        </p:nvSpPr>
        <p:spPr bwMode="auto">
          <a:xfrm>
            <a:off x="5533428" y="3955486"/>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判断可用的IP地址</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t>3</a:t>
            </a:fld>
            <a:r>
              <a:rPr lang="en-US" altLang="zh-CN" dirty="0"/>
              <a:t>/45</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请思考</a:t>
            </a:r>
            <a:endParaRPr lang="zh-CN" altLang="en-US"/>
          </a:p>
        </p:txBody>
      </p:sp>
      <p:sp>
        <p:nvSpPr>
          <p:cNvPr id="3" name="内容占位符 2"/>
          <p:cNvSpPr>
            <a:spLocks noGrp="1"/>
          </p:cNvSpPr>
          <p:nvPr>
            <p:ph idx="1"/>
          </p:nvPr>
        </p:nvSpPr>
        <p:spPr/>
        <p:txBody>
          <a:bodyPr/>
          <a:lstStyle/>
          <a:p>
            <a:pPr lvl="0"/>
            <a:r>
              <a:rPr lang="zh-CN" altLang="en-US"/>
              <a:t>某公司有300台计算机，分配一个C类地址是不够的，分配一个B 类地址又会造成IP地址浪费，如何解决该类问题？</a:t>
            </a:r>
          </a:p>
        </p:txBody>
      </p:sp>
      <p:pic>
        <p:nvPicPr>
          <p:cNvPr id="5" name="图片 4" descr="摄图网_401538411_问号（企业商用）"/>
          <p:cNvPicPr>
            <a:picLocks noChangeAspect="1"/>
          </p:cNvPicPr>
          <p:nvPr/>
        </p:nvPicPr>
        <p:blipFill>
          <a:blip r:embed="rId2"/>
          <a:stretch>
            <a:fillRect/>
          </a:stretch>
        </p:blipFill>
        <p:spPr>
          <a:xfrm>
            <a:off x="2555875" y="2425065"/>
            <a:ext cx="3937000" cy="3937000"/>
          </a:xfrm>
          <a:prstGeom prst="rect">
            <a:avLst/>
          </a:prstGeom>
        </p:spPr>
      </p:pic>
      <p:sp>
        <p:nvSpPr>
          <p:cNvPr id="4" name="灯片编号占位符 3"/>
          <p:cNvSpPr>
            <a:spLocks noGrp="1"/>
          </p:cNvSpPr>
          <p:nvPr>
            <p:ph type="sldNum" sz="quarter" idx="12"/>
          </p:nvPr>
        </p:nvSpPr>
        <p:spPr/>
        <p:txBody>
          <a:bodyPr/>
          <a:lstStyle/>
          <a:p>
            <a:fld id="{0C913308-F349-4B6D-A68A-DD1791B4A57B}" type="slidenum">
              <a:rPr lang="zh-CN" altLang="en-US" smtClean="0"/>
              <a:t>4</a:t>
            </a:fld>
            <a:r>
              <a:rPr lang="en-US" altLang="zh-CN" dirty="0"/>
              <a:t>/45</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标题 12"/>
          <p:cNvSpPr>
            <a:spLocks noGrp="1"/>
          </p:cNvSpPr>
          <p:nvPr>
            <p:ph type="title"/>
          </p:nvPr>
        </p:nvSpPr>
        <p:spPr/>
        <p:txBody>
          <a:bodyPr/>
          <a:lstStyle/>
          <a:p>
            <a:r>
              <a:rPr lang="zh-CN" altLang="en-US"/>
              <a:t>子网划分基础</a:t>
            </a:r>
          </a:p>
        </p:txBody>
      </p:sp>
      <p:sp>
        <p:nvSpPr>
          <p:cNvPr id="15362" name="内容占位符 11"/>
          <p:cNvSpPr>
            <a:spLocks noGrp="1"/>
          </p:cNvSpPr>
          <p:nvPr>
            <p:ph idx="1"/>
          </p:nvPr>
        </p:nvSpPr>
        <p:spPr/>
        <p:txBody>
          <a:bodyPr/>
          <a:lstStyle/>
          <a:p>
            <a:r>
              <a:rPr lang="zh-CN" altLang="en-US"/>
              <a:t>二进制</a:t>
            </a:r>
          </a:p>
          <a:p>
            <a:pPr lvl="1"/>
            <a:r>
              <a:rPr lang="zh-CN" altLang="en-US"/>
              <a:t> 特点</a:t>
            </a:r>
            <a:endParaRPr lang="en-US" altLang="zh-CN"/>
          </a:p>
          <a:p>
            <a:pPr lvl="2"/>
            <a:r>
              <a:rPr lang="zh-CN" altLang="en-US"/>
              <a:t>基数为</a:t>
            </a:r>
            <a:r>
              <a:rPr lang="en-US" altLang="zh-CN"/>
              <a:t>2</a:t>
            </a:r>
            <a:r>
              <a:rPr lang="zh-CN" altLang="en-US"/>
              <a:t>，数值部分用两个不同的数字符号</a:t>
            </a:r>
            <a:r>
              <a:rPr lang="en-US" altLang="zh-CN"/>
              <a:t>0</a:t>
            </a:r>
            <a:r>
              <a:rPr lang="zh-CN" altLang="en-US"/>
              <a:t>、</a:t>
            </a:r>
            <a:r>
              <a:rPr lang="en-US" altLang="zh-CN"/>
              <a:t>1</a:t>
            </a:r>
            <a:r>
              <a:rPr lang="zh-CN" altLang="en-US"/>
              <a:t>来表示</a:t>
            </a:r>
          </a:p>
          <a:p>
            <a:pPr lvl="2"/>
            <a:r>
              <a:rPr lang="zh-CN" altLang="en-US"/>
              <a:t>逢二进一</a:t>
            </a:r>
            <a:endParaRPr lang="en-US" altLang="zh-CN"/>
          </a:p>
          <a:p>
            <a:pPr lvl="1"/>
            <a:r>
              <a:rPr lang="zh-CN" altLang="en-US"/>
              <a:t>二进制数转换为十进制数</a:t>
            </a:r>
          </a:p>
          <a:p>
            <a:pPr lvl="2"/>
            <a:r>
              <a:rPr lang="en-US" altLang="zh-CN"/>
              <a:t>按权展开相加法</a:t>
            </a:r>
          </a:p>
          <a:p>
            <a:pPr lvl="1"/>
            <a:r>
              <a:rPr lang="zh-CN" altLang="en-US"/>
              <a:t>十进制数转换为二进制数</a:t>
            </a:r>
          </a:p>
          <a:p>
            <a:pPr lvl="2"/>
            <a:r>
              <a:rPr lang="en-US" altLang="zh-CN"/>
              <a:t>余数法</a:t>
            </a:r>
          </a:p>
          <a:p>
            <a:pPr lvl="1"/>
            <a:endParaRPr lang="zh-CN" altLang="en-US"/>
          </a:p>
          <a:p>
            <a:pPr lvl="2"/>
            <a:endParaRPr lang="zh-CN" altLang="en-US"/>
          </a:p>
        </p:txBody>
      </p:sp>
      <p:sp>
        <p:nvSpPr>
          <p:cNvPr id="5" name="AutoShape 16"/>
          <p:cNvSpPr>
            <a:spLocks noChangeArrowheads="1"/>
          </p:cNvSpPr>
          <p:nvPr/>
        </p:nvSpPr>
        <p:spPr bwMode="auto">
          <a:xfrm>
            <a:off x="883920" y="3135630"/>
            <a:ext cx="7510780" cy="1108070"/>
          </a:xfrm>
          <a:prstGeom prst="roundRect">
            <a:avLst>
              <a:gd name="adj" fmla="val 12815"/>
            </a:avLst>
          </a:prstGeom>
          <a:solidFill>
            <a:schemeClr val="bg1">
              <a:lumMod val="95000"/>
            </a:schemeClr>
          </a:solidFill>
          <a:ln w="19050" cap="flat" cmpd="sng">
            <a:solidFill>
              <a:schemeClr val="bg1">
                <a:lumMod val="75000"/>
              </a:schemeClr>
            </a:solidFill>
            <a:prstDash val="solid"/>
            <a:headEnd type="none" w="med" len="med"/>
            <a:tailEnd type="none" w="med" len="med"/>
          </a:ln>
        </p:spPr>
        <p:txBody>
          <a:bodyPr vert="horz" wrap="square" numCol="1" spcCol="0" rtlCol="0" fromWordArt="0" anchor="t" anchorCtr="0" forceAA="0" compatLnSpc="0">
            <a:spAutoFit/>
          </a:bodyPr>
          <a:lstStyle/>
          <a:p>
            <a:pPr marL="0" lvl="2" algn="l">
              <a:spcBef>
                <a:spcPts val="400"/>
              </a:spcBef>
              <a:buClrTx/>
              <a:buSzTx/>
              <a:buFontTx/>
            </a:pPr>
            <a:r>
              <a:rPr 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a:t>
            </a: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1101</a:t>
            </a:r>
            <a:r>
              <a:rPr lang="en-US"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 </a:t>
            </a:r>
            <a:r>
              <a:rPr altLang="zh-CN" b="1" baseline="-25000" dirty="0">
                <a:solidFill>
                  <a:srgbClr val="001E7F"/>
                </a:solidFill>
                <a:uFillTx/>
                <a:latin typeface="Arial" panose="020B0604020202020204" pitchFamily="34" charset="0"/>
                <a:ea typeface="微软雅黑" panose="020B0503020204020204" pitchFamily="34" charset="-122"/>
                <a:cs typeface="Arial" panose="020B0604020202020204" pitchFamily="34" charset="0"/>
                <a:sym typeface="+mn-ea"/>
              </a:rPr>
              <a:t>2</a:t>
            </a: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 ＝1×2</a:t>
            </a:r>
            <a:r>
              <a:rPr altLang="zh-CN" b="1" baseline="30000" dirty="0">
                <a:solidFill>
                  <a:srgbClr val="001E7F"/>
                </a:solidFill>
                <a:uFillTx/>
                <a:latin typeface="Arial" panose="020B0604020202020204" pitchFamily="34" charset="0"/>
                <a:ea typeface="微软雅黑" panose="020B0503020204020204" pitchFamily="34" charset="-122"/>
                <a:cs typeface="Arial" panose="020B0604020202020204" pitchFamily="34" charset="0"/>
                <a:sym typeface="+mn-ea"/>
              </a:rPr>
              <a:t>3</a:t>
            </a: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＋1×2</a:t>
            </a:r>
            <a:r>
              <a:rPr altLang="zh-CN" b="1" baseline="30000" dirty="0">
                <a:solidFill>
                  <a:srgbClr val="001E7F"/>
                </a:solidFill>
                <a:uFillTx/>
                <a:latin typeface="Arial" panose="020B0604020202020204" pitchFamily="34" charset="0"/>
                <a:ea typeface="微软雅黑" panose="020B0503020204020204" pitchFamily="34" charset="-122"/>
                <a:cs typeface="Arial" panose="020B0604020202020204" pitchFamily="34" charset="0"/>
                <a:sym typeface="+mn-ea"/>
              </a:rPr>
              <a:t>2</a:t>
            </a: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＋0×2</a:t>
            </a:r>
            <a:r>
              <a:rPr altLang="zh-CN" b="1" baseline="30000" dirty="0">
                <a:solidFill>
                  <a:srgbClr val="001E7F"/>
                </a:solidFill>
                <a:uFillTx/>
                <a:latin typeface="Arial" panose="020B0604020202020204" pitchFamily="34" charset="0"/>
                <a:ea typeface="微软雅黑" panose="020B0503020204020204" pitchFamily="34" charset="-122"/>
                <a:cs typeface="Arial" panose="020B0604020202020204" pitchFamily="34" charset="0"/>
                <a:sym typeface="+mn-ea"/>
              </a:rPr>
              <a:t>1</a:t>
            </a: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＋1×2</a:t>
            </a:r>
            <a:r>
              <a:rPr altLang="zh-CN" b="1" baseline="30000" dirty="0">
                <a:solidFill>
                  <a:srgbClr val="001E7F"/>
                </a:solidFill>
                <a:uFillTx/>
                <a:latin typeface="Arial" panose="020B0604020202020204" pitchFamily="34" charset="0"/>
                <a:ea typeface="微软雅黑" panose="020B0503020204020204" pitchFamily="34" charset="-122"/>
                <a:cs typeface="Arial" panose="020B0604020202020204" pitchFamily="34" charset="0"/>
                <a:sym typeface="+mn-ea"/>
              </a:rPr>
              <a:t>0</a:t>
            </a:r>
            <a:endPar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endParaRPr>
          </a:p>
          <a:p>
            <a:pPr marL="0" lvl="2" algn="l">
              <a:spcBef>
                <a:spcPts val="400"/>
              </a:spcBef>
              <a:buClrTx/>
              <a:buSzTx/>
              <a:buFontTx/>
            </a:pP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                ＝8＋4＋0＋1</a:t>
            </a:r>
          </a:p>
          <a:p>
            <a:pPr marL="0" lvl="2" algn="l">
              <a:spcBef>
                <a:spcPts val="400"/>
              </a:spcBef>
              <a:buClrTx/>
              <a:buSzTx/>
              <a:buFontTx/>
            </a:pPr>
            <a:r>
              <a:rPr altLang="zh-CN" b="1" dirty="0">
                <a:solidFill>
                  <a:srgbClr val="001E7F"/>
                </a:solidFill>
                <a:latin typeface="Arial" panose="020B0604020202020204" pitchFamily="34" charset="0"/>
                <a:ea typeface="微软雅黑" panose="020B0503020204020204" pitchFamily="34" charset="-122"/>
                <a:cs typeface="Arial" panose="020B0604020202020204" pitchFamily="34" charset="0"/>
                <a:sym typeface="+mn-ea"/>
              </a:rPr>
              <a:t>                ＝13</a:t>
            </a:r>
          </a:p>
        </p:txBody>
      </p:sp>
      <p:graphicFrame>
        <p:nvGraphicFramePr>
          <p:cNvPr id="7" name="表格 6"/>
          <p:cNvGraphicFramePr>
            <a:graphicFrameLocks noGrp="1"/>
          </p:cNvGraphicFramePr>
          <p:nvPr>
            <p:custDataLst>
              <p:tags r:id="rId1"/>
            </p:custDataLst>
          </p:nvPr>
        </p:nvGraphicFramePr>
        <p:xfrm>
          <a:off x="1979930" y="3733800"/>
          <a:ext cx="3453130" cy="2714625"/>
        </p:xfrm>
        <a:graphic>
          <a:graphicData uri="http://schemas.openxmlformats.org/drawingml/2006/table">
            <a:tbl>
              <a:tblPr/>
              <a:tblGrid>
                <a:gridCol w="354330">
                  <a:extLst>
                    <a:ext uri="{9D8B030D-6E8A-4147-A177-3AD203B41FA5}">
                      <a16:colId xmlns:a16="http://schemas.microsoft.com/office/drawing/2014/main" val="20000"/>
                    </a:ext>
                  </a:extLst>
                </a:gridCol>
                <a:gridCol w="353695">
                  <a:extLst>
                    <a:ext uri="{9D8B030D-6E8A-4147-A177-3AD203B41FA5}">
                      <a16:colId xmlns:a16="http://schemas.microsoft.com/office/drawing/2014/main" val="20001"/>
                    </a:ext>
                  </a:extLst>
                </a:gridCol>
                <a:gridCol w="410210">
                  <a:extLst>
                    <a:ext uri="{9D8B030D-6E8A-4147-A177-3AD203B41FA5}">
                      <a16:colId xmlns:a16="http://schemas.microsoft.com/office/drawing/2014/main" val="20002"/>
                    </a:ext>
                  </a:extLst>
                </a:gridCol>
                <a:gridCol w="353695">
                  <a:extLst>
                    <a:ext uri="{9D8B030D-6E8A-4147-A177-3AD203B41FA5}">
                      <a16:colId xmlns:a16="http://schemas.microsoft.com/office/drawing/2014/main" val="20003"/>
                    </a:ext>
                  </a:extLst>
                </a:gridCol>
                <a:gridCol w="354330">
                  <a:extLst>
                    <a:ext uri="{9D8B030D-6E8A-4147-A177-3AD203B41FA5}">
                      <a16:colId xmlns:a16="http://schemas.microsoft.com/office/drawing/2014/main" val="20004"/>
                    </a:ext>
                  </a:extLst>
                </a:gridCol>
                <a:gridCol w="353695">
                  <a:extLst>
                    <a:ext uri="{9D8B030D-6E8A-4147-A177-3AD203B41FA5}">
                      <a16:colId xmlns:a16="http://schemas.microsoft.com/office/drawing/2014/main" val="20005"/>
                    </a:ext>
                  </a:extLst>
                </a:gridCol>
                <a:gridCol w="354330">
                  <a:extLst>
                    <a:ext uri="{9D8B030D-6E8A-4147-A177-3AD203B41FA5}">
                      <a16:colId xmlns:a16="http://schemas.microsoft.com/office/drawing/2014/main" val="20006"/>
                    </a:ext>
                  </a:extLst>
                </a:gridCol>
                <a:gridCol w="354330">
                  <a:extLst>
                    <a:ext uri="{9D8B030D-6E8A-4147-A177-3AD203B41FA5}">
                      <a16:colId xmlns:a16="http://schemas.microsoft.com/office/drawing/2014/main" val="20007"/>
                    </a:ext>
                  </a:extLst>
                </a:gridCol>
                <a:gridCol w="564515">
                  <a:extLst>
                    <a:ext uri="{9D8B030D-6E8A-4147-A177-3AD203B41FA5}">
                      <a16:colId xmlns:a16="http://schemas.microsoft.com/office/drawing/2014/main" val="20008"/>
                    </a:ext>
                  </a:extLst>
                </a:gridCol>
              </a:tblGrid>
              <a:tr h="301625">
                <a:tc>
                  <a:txBody>
                    <a:bodyPr/>
                    <a:lstStyle/>
                    <a:p>
                      <a:pPr algn="just">
                        <a:lnSpc>
                          <a:spcPts val="1560"/>
                        </a:lnSpc>
                        <a:spcAft>
                          <a:spcPts val="0"/>
                        </a:spcAft>
                      </a:pPr>
                      <a:endPar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ctr">
                        <a:lnSpc>
                          <a:spcPts val="1560"/>
                        </a:lnSpc>
                        <a:spcAft>
                          <a:spcPts val="0"/>
                        </a:spcAft>
                      </a:pPr>
                      <a:r>
                        <a:rPr lang="zh-CN" sz="1600" b="1">
                          <a:solidFill>
                            <a:srgbClr val="000000"/>
                          </a:solidFill>
                          <a:latin typeface="Arial" panose="020B0604020202020204" pitchFamily="34" charset="0"/>
                          <a:ea typeface="微软雅黑" panose="020B0503020204020204" pitchFamily="34" charset="-122"/>
                        </a:rPr>
                        <a:t>余数</a:t>
                      </a:r>
                    </a:p>
                  </a:txBody>
                  <a:tcPr marL="68580" marR="68580" marT="0" marB="0" anchor="ctr">
                    <a:lnL>
                      <a:noFill/>
                    </a:lnL>
                    <a:lnR>
                      <a:noFill/>
                    </a:lnR>
                    <a:lnT>
                      <a:noFill/>
                    </a:lnT>
                    <a:lnB>
                      <a:noFill/>
                    </a:lnB>
                  </a:tcPr>
                </a:tc>
                <a:extLst>
                  <a:ext uri="{0D108BD9-81ED-4DB2-BD59-A6C34878D82A}">
                    <a16:rowId xmlns:a16="http://schemas.microsoft.com/office/drawing/2014/main" val="10000"/>
                  </a:ext>
                </a:extLst>
              </a:tr>
              <a:tr h="301625">
                <a:tc>
                  <a:txBody>
                    <a:bodyPr/>
                    <a:lstStyle/>
                    <a:p>
                      <a:pPr algn="just">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a:noFill/>
                    </a:lnT>
                    <a:lnB>
                      <a:noFill/>
                    </a:lnB>
                  </a:tcPr>
                </a:tc>
                <a:tc gridSpan="7">
                  <a:txBody>
                    <a:bodyPr/>
                    <a:lstStyle/>
                    <a:p>
                      <a:pPr algn="just">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125</a:t>
                      </a: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algn="ctr">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a:noFill/>
                    </a:lnL>
                    <a:lnR>
                      <a:noFill/>
                    </a:lnR>
                    <a:lnT>
                      <a:noFill/>
                    </a:lnT>
                    <a:lnB>
                      <a:noFill/>
                    </a:lnB>
                  </a:tcPr>
                </a:tc>
                <a:extLst>
                  <a:ext uri="{0D108BD9-81ED-4DB2-BD59-A6C34878D82A}">
                    <a16:rowId xmlns:a16="http://schemas.microsoft.com/office/drawing/2014/main" val="10001"/>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6">
                  <a:txBody>
                    <a:bodyPr/>
                    <a:lstStyle/>
                    <a:p>
                      <a:pPr algn="just">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62</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algn="ctr">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0</a:t>
                      </a:r>
                    </a:p>
                  </a:txBody>
                  <a:tcPr marL="68580" marR="68580" marT="0" marB="0" anchor="ctr">
                    <a:lnL>
                      <a:noFill/>
                    </a:lnL>
                    <a:lnR>
                      <a:noFill/>
                    </a:lnR>
                    <a:lnT>
                      <a:noFill/>
                    </a:lnT>
                    <a:lnB>
                      <a:noFill/>
                    </a:lnB>
                  </a:tcPr>
                </a:tc>
                <a:extLst>
                  <a:ext uri="{0D108BD9-81ED-4DB2-BD59-A6C34878D82A}">
                    <a16:rowId xmlns:a16="http://schemas.microsoft.com/office/drawing/2014/main" val="10002"/>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5">
                  <a:txBody>
                    <a:bodyPr/>
                    <a:lstStyle/>
                    <a:p>
                      <a:pPr algn="just">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31</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algn="ctr">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a:noFill/>
                    </a:lnL>
                    <a:lnR>
                      <a:noFill/>
                    </a:lnR>
                    <a:lnT>
                      <a:noFill/>
                    </a:lnT>
                    <a:lnB>
                      <a:noFill/>
                    </a:lnB>
                  </a:tcPr>
                </a:tc>
                <a:extLst>
                  <a:ext uri="{0D108BD9-81ED-4DB2-BD59-A6C34878D82A}">
                    <a16:rowId xmlns:a16="http://schemas.microsoft.com/office/drawing/2014/main" val="10003"/>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4">
                  <a:txBody>
                    <a:bodyPr/>
                    <a:lstStyle/>
                    <a:p>
                      <a:pPr algn="just">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15</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algn="ctr">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a:noFill/>
                    </a:lnL>
                    <a:lnR>
                      <a:noFill/>
                    </a:lnR>
                    <a:lnT>
                      <a:noFill/>
                    </a:lnT>
                    <a:lnB>
                      <a:noFill/>
                    </a:lnB>
                  </a:tcPr>
                </a:tc>
                <a:extLst>
                  <a:ext uri="{0D108BD9-81ED-4DB2-BD59-A6C34878D82A}">
                    <a16:rowId xmlns:a16="http://schemas.microsoft.com/office/drawing/2014/main" val="10004"/>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3">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7</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hMerge="1">
                  <a:txBody>
                    <a:bodyPr/>
                    <a:lstStyle/>
                    <a:p>
                      <a:endParaRPr lang="zh-CN"/>
                    </a:p>
                  </a:txBody>
                  <a:tcPr/>
                </a:tc>
                <a:tc>
                  <a:txBody>
                    <a:bodyPr/>
                    <a:lstStyle/>
                    <a:p>
                      <a:pPr algn="ctr">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a:noFill/>
                    </a:lnL>
                    <a:lnR>
                      <a:noFill/>
                    </a:lnR>
                    <a:lnT>
                      <a:noFill/>
                    </a:lnT>
                    <a:lnB>
                      <a:noFill/>
                    </a:lnB>
                  </a:tcPr>
                </a:tc>
                <a:extLst>
                  <a:ext uri="{0D108BD9-81ED-4DB2-BD59-A6C34878D82A}">
                    <a16:rowId xmlns:a16="http://schemas.microsoft.com/office/drawing/2014/main" val="10005"/>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gridSpan="2">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3</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p>
                  </a:txBody>
                  <a:tcPr/>
                </a:tc>
                <a:tc>
                  <a:txBody>
                    <a:bodyPr/>
                    <a:lstStyle/>
                    <a:p>
                      <a:pPr algn="ctr">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a:noFill/>
                    </a:lnL>
                    <a:lnR>
                      <a:noFill/>
                    </a:lnR>
                    <a:lnT>
                      <a:noFill/>
                    </a:lnT>
                    <a:lnB>
                      <a:noFill/>
                    </a:lnB>
                  </a:tcPr>
                </a:tc>
                <a:extLst>
                  <a:ext uri="{0D108BD9-81ED-4DB2-BD59-A6C34878D82A}">
                    <a16:rowId xmlns:a16="http://schemas.microsoft.com/office/drawing/2014/main" val="10006"/>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2</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algn="just">
                        <a:lnSpc>
                          <a:spcPts val="1560"/>
                        </a:lnSpc>
                        <a:spcAft>
                          <a:spcPts val="0"/>
                        </a:spcAft>
                      </a:pPr>
                      <a:r>
                        <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1</a:t>
                      </a:r>
                    </a:p>
                  </a:txBody>
                  <a:tcPr marL="68580" marR="68580" marT="0" marB="0" anchor="ctr">
                    <a:lnL>
                      <a:noFill/>
                    </a:lnL>
                    <a:lnR>
                      <a:noFill/>
                    </a:lnR>
                    <a:lnT>
                      <a:noFill/>
                    </a:lnT>
                    <a:lnB>
                      <a:noFill/>
                    </a:lnB>
                  </a:tcPr>
                </a:tc>
                <a:extLst>
                  <a:ext uri="{0D108BD9-81ED-4DB2-BD59-A6C34878D82A}">
                    <a16:rowId xmlns:a16="http://schemas.microsoft.com/office/drawing/2014/main" val="10007"/>
                  </a:ext>
                </a:extLst>
              </a:tr>
              <a:tr h="301625">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endPar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tc>
                  <a:txBody>
                    <a:bodyPr/>
                    <a:lstStyle/>
                    <a:p>
                      <a:pPr algn="just">
                        <a:lnSpc>
                          <a:spcPts val="1560"/>
                        </a:lnSpc>
                        <a:spcAft>
                          <a:spcPts val="0"/>
                        </a:spcAft>
                      </a:pPr>
                      <a:r>
                        <a:rPr lang="en-US" sz="1600" b="1">
                          <a:solidFill>
                            <a:srgbClr val="000000"/>
                          </a:solidFill>
                          <a:latin typeface="Arial" panose="020B0604020202020204" pitchFamily="34" charset="0"/>
                          <a:ea typeface="微软雅黑" panose="020B0503020204020204" pitchFamily="34" charset="-122"/>
                          <a:cs typeface="Arial" panose="020B0604020202020204" pitchFamily="34" charset="0"/>
                        </a:rPr>
                        <a:t>0</a:t>
                      </a:r>
                    </a:p>
                  </a:txBody>
                  <a:tcPr marL="68580" marR="68580"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ts val="1560"/>
                        </a:lnSpc>
                        <a:spcAft>
                          <a:spcPts val="0"/>
                        </a:spcAft>
                      </a:pPr>
                      <a:endParaRPr lang="en-US" sz="1600" b="1" dirty="0">
                        <a:solidFill>
                          <a:srgbClr val="000000"/>
                        </a:solidFill>
                        <a:latin typeface="Arial" panose="020B0604020202020204" pitchFamily="34" charset="0"/>
                        <a:ea typeface="微软雅黑" panose="020B0503020204020204" pitchFamily="34" charset="-122"/>
                        <a:cs typeface="Arial" panose="020B0604020202020204" pitchFamily="34" charset="0"/>
                      </a:endParaRPr>
                    </a:p>
                  </a:txBody>
                  <a:tcPr marL="68580" marR="68580" marT="0" marB="0" anchor="ctr">
                    <a:lnL>
                      <a:noFill/>
                    </a:lnL>
                    <a:lnR>
                      <a:noFill/>
                    </a:lnR>
                    <a:lnT>
                      <a:noFill/>
                    </a:lnT>
                    <a:lnB>
                      <a:noFill/>
                    </a:lnB>
                  </a:tcPr>
                </a:tc>
                <a:extLst>
                  <a:ext uri="{0D108BD9-81ED-4DB2-BD59-A6C34878D82A}">
                    <a16:rowId xmlns:a16="http://schemas.microsoft.com/office/drawing/2014/main" val="10008"/>
                  </a:ext>
                </a:extLst>
              </a:tr>
            </a:tbl>
          </a:graphicData>
        </a:graphic>
      </p:graphicFrame>
      <p:grpSp>
        <p:nvGrpSpPr>
          <p:cNvPr id="30" name="组合 29"/>
          <p:cNvGrpSpPr/>
          <p:nvPr/>
        </p:nvGrpSpPr>
        <p:grpSpPr>
          <a:xfrm>
            <a:off x="8051165" y="3604895"/>
            <a:ext cx="688975" cy="648335"/>
            <a:chOff x="3011139" y="5284495"/>
            <a:chExt cx="688814" cy="648325"/>
          </a:xfrm>
        </p:grpSpPr>
        <p:pic>
          <p:nvPicPr>
            <p:cNvPr id="31" name="Picture 3" descr="C:\Users\lei.sun.PRD\Desktop\示例.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244" y="5284495"/>
              <a:ext cx="520604" cy="376753"/>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组合 31"/>
            <p:cNvGrpSpPr/>
            <p:nvPr/>
          </p:nvGrpSpPr>
          <p:grpSpPr>
            <a:xfrm>
              <a:off x="3011139" y="5593560"/>
              <a:ext cx="688814" cy="339260"/>
              <a:chOff x="3011139" y="5593560"/>
              <a:chExt cx="688814" cy="339260"/>
            </a:xfrm>
          </p:grpSpPr>
          <p:sp>
            <p:nvSpPr>
              <p:cNvPr id="33" name="矩形 32"/>
              <p:cNvSpPr/>
              <p:nvPr/>
            </p:nvSpPr>
            <p:spPr>
              <a:xfrm>
                <a:off x="3011139" y="5593562"/>
                <a:ext cx="688814" cy="339258"/>
              </a:xfrm>
              <a:prstGeom prst="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 name="文本框 15"/>
              <p:cNvSpPr txBox="1"/>
              <p:nvPr/>
            </p:nvSpPr>
            <p:spPr>
              <a:xfrm>
                <a:off x="3045235" y="5593560"/>
                <a:ext cx="607939" cy="338554"/>
              </a:xfrm>
              <a:prstGeom prst="rect">
                <a:avLst/>
              </a:prstGeom>
              <a:noFill/>
            </p:spPr>
            <p:txBody>
              <a:bodyPr wrap="square" rtlCol="0" anchor="t">
                <a:spAutoFit/>
              </a:bodyPr>
              <a:lstStyle/>
              <a:p>
                <a:r>
                  <a:rPr lang="zh-CN" altLang="en-US" sz="1600" b="1" dirty="0">
                    <a:solidFill>
                      <a:schemeClr val="bg1"/>
                    </a:solidFill>
                    <a:latin typeface="Arial" panose="020B0604020202020204" pitchFamily="34" charset="0"/>
                    <a:ea typeface="微软雅黑" panose="020B0503020204020204" pitchFamily="34" charset="-122"/>
                  </a:rPr>
                  <a:t>示例</a:t>
                </a:r>
              </a:p>
            </p:txBody>
          </p:sp>
        </p:grpSp>
      </p:grpSp>
      <p:sp>
        <p:nvSpPr>
          <p:cNvPr id="22563" name="圆角矩形标注 69"/>
          <p:cNvSpPr>
            <a:spLocks noChangeArrowheads="1"/>
          </p:cNvSpPr>
          <p:nvPr/>
        </p:nvSpPr>
        <p:spPr bwMode="auto">
          <a:xfrm flipH="1">
            <a:off x="5742305" y="5445125"/>
            <a:ext cx="3078480" cy="737870"/>
          </a:xfrm>
          <a:prstGeom prst="wedgeRoundRectCallout">
            <a:avLst>
              <a:gd name="adj1" fmla="val 54352"/>
              <a:gd name="adj2" fmla="val -94406"/>
              <a:gd name="adj3" fmla="val 16667"/>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dirty="0">
                <a:solidFill>
                  <a:schemeClr val="tx1">
                    <a:lumMod val="65000"/>
                    <a:lumOff val="35000"/>
                  </a:schemeClr>
                </a:solidFill>
                <a:latin typeface="Arial" panose="020B0604020202020204" pitchFamily="34" charset="0"/>
                <a:ea typeface="微软雅黑" panose="020B0503020204020204" pitchFamily="34" charset="-122"/>
                <a:cs typeface="Arial" panose="020B0604020202020204" pitchFamily="34" charset="0"/>
                <a:sym typeface="+mn-ea"/>
              </a:rPr>
              <a:t>将十进制数125表示成二进制为</a:t>
            </a:r>
            <a:r>
              <a:rPr lang="zh-CN" altLang="en-US" sz="1600" b="1" dirty="0">
                <a:solidFill>
                  <a:srgbClr val="C00000"/>
                </a:solidFill>
                <a:latin typeface="Arial" panose="020B0604020202020204" pitchFamily="34" charset="0"/>
                <a:ea typeface="微软雅黑" panose="020B0503020204020204" pitchFamily="34" charset="-122"/>
                <a:cs typeface="Arial" panose="020B0604020202020204" pitchFamily="34" charset="0"/>
                <a:sym typeface="+mn-ea"/>
              </a:rPr>
              <a:t>1111101</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5</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2">
                                            <p:txEl>
                                              <p:pRg st="5" end="5"/>
                                            </p:txEl>
                                          </p:spTgt>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0"/>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5362">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362">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2563"/>
                                        </p:tgtEl>
                                        <p:attrNameLst>
                                          <p:attrName>style.visibility</p:attrName>
                                        </p:attrNameLst>
                                      </p:cBhvr>
                                      <p:to>
                                        <p:strVal val="visible"/>
                                      </p:to>
                                    </p:set>
                                    <p:animEffect transition="in" filter="wipe(up)">
                                      <p:cBhvr>
                                        <p:cTn id="29" dur="500"/>
                                        <p:tgtEl>
                                          <p:spTgt spid="225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bldLvl="0" animBg="1"/>
      <p:bldP spid="22563"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子网划分基础</a:t>
            </a:r>
            <a:endParaRPr lang="zh-CN" altLang="en-US"/>
          </a:p>
        </p:txBody>
      </p:sp>
      <p:sp>
        <p:nvSpPr>
          <p:cNvPr id="3" name="内容占位符 2"/>
          <p:cNvSpPr>
            <a:spLocks noGrp="1"/>
          </p:cNvSpPr>
          <p:nvPr>
            <p:ph idx="1"/>
          </p:nvPr>
        </p:nvSpPr>
        <p:spPr/>
        <p:txBody>
          <a:bodyPr/>
          <a:lstStyle/>
          <a:p>
            <a:r>
              <a:rPr lang="zh-CN" altLang="en-US"/>
              <a:t>课堂练习</a:t>
            </a:r>
          </a:p>
          <a:p>
            <a:pPr marL="323850" lvl="1" indent="0">
              <a:buNone/>
            </a:pPr>
            <a:r>
              <a:rPr lang="en-US" altLang="zh-CN"/>
              <a:t>1.</a:t>
            </a:r>
            <a:r>
              <a:rPr lang="zh-CN" altLang="en-US"/>
              <a:t>将二进制数(110010011111)</a:t>
            </a:r>
            <a:r>
              <a:rPr lang="zh-CN" altLang="en-US" baseline="-25000">
                <a:solidFill>
                  <a:srgbClr val="001E7F"/>
                </a:solidFill>
                <a:uFillTx/>
              </a:rPr>
              <a:t>2</a:t>
            </a:r>
            <a:r>
              <a:rPr lang="zh-CN" altLang="en-US"/>
              <a:t>、(10110101110)</a:t>
            </a:r>
            <a:r>
              <a:rPr lang="zh-CN" altLang="en-US" baseline="-25000">
                <a:uFillTx/>
              </a:rPr>
              <a:t>2</a:t>
            </a:r>
            <a:r>
              <a:rPr lang="zh-CN" altLang="en-US"/>
              <a:t> 转换为十进制数</a:t>
            </a:r>
          </a:p>
          <a:p>
            <a:pPr marL="323850" lvl="1" indent="0">
              <a:buNone/>
            </a:pPr>
            <a:r>
              <a:rPr lang="en-US" altLang="zh-CN"/>
              <a:t>2.</a:t>
            </a:r>
            <a:r>
              <a:rPr lang="zh-CN" altLang="en-US"/>
              <a:t>将十进制数 156、2608、1043 转换为二进制数</a:t>
            </a:r>
          </a:p>
        </p:txBody>
      </p:sp>
      <p:grpSp>
        <p:nvGrpSpPr>
          <p:cNvPr id="10" name="组合 9"/>
          <p:cNvGrpSpPr/>
          <p:nvPr/>
        </p:nvGrpSpPr>
        <p:grpSpPr>
          <a:xfrm>
            <a:off x="4782552" y="5515956"/>
            <a:ext cx="2494917" cy="573757"/>
            <a:chOff x="1331640" y="2924944"/>
            <a:chExt cx="2494917" cy="573757"/>
          </a:xfrm>
        </p:grpSpPr>
        <p:sp>
          <p:nvSpPr>
            <p:cNvPr id="18" name="圆角矩形 17"/>
            <p:cNvSpPr/>
            <p:nvPr/>
          </p:nvSpPr>
          <p:spPr>
            <a:xfrm>
              <a:off x="1468226" y="3031802"/>
              <a:ext cx="2358331" cy="360040"/>
            </a:xfrm>
            <a:prstGeom prst="roundRect">
              <a:avLst/>
            </a:prstGeom>
            <a:solidFill>
              <a:srgbClr val="0034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331640" y="2924944"/>
              <a:ext cx="573757" cy="573757"/>
            </a:xfrm>
            <a:prstGeom prst="ellipse">
              <a:avLst/>
            </a:prstGeom>
            <a:solidFill>
              <a:srgbClr val="0034DC"/>
            </a:solidFill>
            <a:ln>
              <a:solidFill>
                <a:srgbClr val="0034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5"/>
            <p:cNvSpPr txBox="1"/>
            <p:nvPr/>
          </p:nvSpPr>
          <p:spPr>
            <a:xfrm>
              <a:off x="1984295" y="3042545"/>
              <a:ext cx="1680188" cy="337185"/>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学生练习5分钟</a:t>
              </a:r>
            </a:p>
          </p:txBody>
        </p:sp>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31220" y="3024540"/>
              <a:ext cx="374597" cy="374565"/>
            </a:xfrm>
            <a:prstGeom prst="rect">
              <a:avLst/>
            </a:prstGeom>
          </p:spPr>
        </p:pic>
      </p:grpSp>
      <p:grpSp>
        <p:nvGrpSpPr>
          <p:cNvPr id="11" name="组合 10"/>
          <p:cNvGrpSpPr/>
          <p:nvPr/>
        </p:nvGrpSpPr>
        <p:grpSpPr>
          <a:xfrm>
            <a:off x="1990223" y="5533736"/>
            <a:ext cx="2199762" cy="573757"/>
            <a:chOff x="1907704" y="2132856"/>
            <a:chExt cx="2199762" cy="573757"/>
          </a:xfrm>
        </p:grpSpPr>
        <p:sp>
          <p:nvSpPr>
            <p:cNvPr id="36" name="圆角矩形 35"/>
            <p:cNvSpPr/>
            <p:nvPr/>
          </p:nvSpPr>
          <p:spPr>
            <a:xfrm>
              <a:off x="2140866" y="2239714"/>
              <a:ext cx="1966600" cy="360040"/>
            </a:xfrm>
            <a:prstGeom prst="round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907704" y="2132856"/>
              <a:ext cx="573757" cy="573757"/>
            </a:xfrm>
            <a:prstGeom prst="ellipse">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15"/>
            <p:cNvSpPr txBox="1"/>
            <p:nvPr/>
          </p:nvSpPr>
          <p:spPr>
            <a:xfrm>
              <a:off x="2544435" y="2250457"/>
              <a:ext cx="1491024" cy="338554"/>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教员讲解思路</a:t>
              </a:r>
            </a:p>
          </p:txBody>
        </p:sp>
        <p:pic>
          <p:nvPicPr>
            <p:cNvPr id="1029" name="Picture 5" descr="C:\Users\lei.sun.PRD\Desktop\等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500" y="2219189"/>
              <a:ext cx="328165" cy="401091"/>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灯片编号占位符 3"/>
          <p:cNvSpPr>
            <a:spLocks noGrp="1"/>
          </p:cNvSpPr>
          <p:nvPr>
            <p:ph type="sldNum" sz="quarter" idx="12"/>
          </p:nvPr>
        </p:nvSpPr>
        <p:spPr/>
        <p:txBody>
          <a:bodyPr/>
          <a:lstStyle/>
          <a:p>
            <a:fld id="{0C913308-F349-4B6D-A68A-DD1791B4A57B}" type="slidenum">
              <a:rPr lang="zh-CN" altLang="en-US" smtClean="0"/>
              <a:t>6</a:t>
            </a:fld>
            <a:r>
              <a:rPr lang="en-US" altLang="zh-CN" dirty="0"/>
              <a:t>/45</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标题 2"/>
          <p:cNvSpPr>
            <a:spLocks noGrp="1"/>
          </p:cNvSpPr>
          <p:nvPr>
            <p:ph type="title"/>
          </p:nvPr>
        </p:nvSpPr>
        <p:spPr/>
        <p:txBody>
          <a:bodyPr/>
          <a:lstStyle/>
          <a:p>
            <a:r>
              <a:rPr lang="zh-CN" altLang="en-US"/>
              <a:t>子网划分基础</a:t>
            </a:r>
          </a:p>
        </p:txBody>
      </p:sp>
      <p:sp>
        <p:nvSpPr>
          <p:cNvPr id="14338" name="内容占位符 1"/>
          <p:cNvSpPr>
            <a:spLocks noGrp="1"/>
          </p:cNvSpPr>
          <p:nvPr>
            <p:ph idx="1"/>
          </p:nvPr>
        </p:nvSpPr>
        <p:spPr/>
        <p:txBody>
          <a:bodyPr/>
          <a:lstStyle/>
          <a:p>
            <a:r>
              <a:rPr lang="en-US" altLang="zh-CN"/>
              <a:t>IP</a:t>
            </a:r>
            <a:r>
              <a:rPr lang="zh-CN" altLang="en-US"/>
              <a:t>地址与子网掩码</a:t>
            </a:r>
            <a:endParaRPr lang="en-US" altLang="zh-CN"/>
          </a:p>
          <a:p>
            <a:pPr lvl="1"/>
            <a:r>
              <a:rPr lang="en-US" altLang="zh-CN"/>
              <a:t>IP</a:t>
            </a:r>
            <a:r>
              <a:rPr lang="zh-CN" altLang="en-US"/>
              <a:t>地址</a:t>
            </a:r>
            <a:endParaRPr lang="en-US" altLang="zh-CN"/>
          </a:p>
          <a:p>
            <a:pPr lvl="2"/>
            <a:r>
              <a:rPr lang="zh-CN" altLang="en-US"/>
              <a:t> 由</a:t>
            </a:r>
            <a:r>
              <a:rPr lang="en-US" altLang="zh-CN"/>
              <a:t>32</a:t>
            </a:r>
            <a:r>
              <a:rPr lang="zh-CN" altLang="en-US"/>
              <a:t>位二进制数组成</a:t>
            </a:r>
            <a:endParaRPr lang="en-US" altLang="zh-CN"/>
          </a:p>
          <a:p>
            <a:pPr lvl="2"/>
            <a:r>
              <a:rPr lang="zh-CN" altLang="en-US"/>
              <a:t>一般用</a:t>
            </a:r>
            <a:r>
              <a:rPr lang="en-US" altLang="zh-CN"/>
              <a:t>“</a:t>
            </a:r>
            <a:r>
              <a:rPr lang="zh-CN" altLang="en-US"/>
              <a:t>点分十进制</a:t>
            </a:r>
            <a:r>
              <a:rPr lang="en-US" altLang="zh-CN"/>
              <a:t>”</a:t>
            </a:r>
            <a:r>
              <a:rPr lang="zh-CN" altLang="en-US"/>
              <a:t>表示</a:t>
            </a:r>
            <a:endParaRPr lang="en-US" altLang="zh-CN"/>
          </a:p>
          <a:p>
            <a:pPr lvl="1"/>
            <a:r>
              <a:rPr lang="en-US" altLang="zh-CN"/>
              <a:t>IP</a:t>
            </a:r>
            <a:r>
              <a:rPr lang="zh-CN" altLang="en-US"/>
              <a:t>地址由两部分组成</a:t>
            </a:r>
          </a:p>
          <a:p>
            <a:pPr lvl="2"/>
            <a:r>
              <a:rPr lang="zh-CN" altLang="en-US"/>
              <a:t>网络部分（</a:t>
            </a:r>
            <a:r>
              <a:rPr lang="en-US" altLang="zh-CN"/>
              <a:t>Net ID</a:t>
            </a:r>
            <a:r>
              <a:rPr lang="zh-CN" altLang="en-US"/>
              <a:t>）：用于标识不同的网络</a:t>
            </a:r>
          </a:p>
          <a:p>
            <a:pPr lvl="2"/>
            <a:r>
              <a:rPr lang="zh-CN" altLang="en-US"/>
              <a:t>主机部分（</a:t>
            </a:r>
            <a:r>
              <a:rPr lang="en-US" altLang="zh-CN"/>
              <a:t>Host ID</a:t>
            </a:r>
            <a:r>
              <a:rPr lang="zh-CN" altLang="en-US"/>
              <a:t>）：用于标识一个网络中的特定主机</a:t>
            </a:r>
          </a:p>
        </p:txBody>
      </p:sp>
      <p:grpSp>
        <p:nvGrpSpPr>
          <p:cNvPr id="4" name="组合 3"/>
          <p:cNvGrpSpPr/>
          <p:nvPr/>
        </p:nvGrpSpPr>
        <p:grpSpPr>
          <a:xfrm>
            <a:off x="2454275" y="4004945"/>
            <a:ext cx="3761105" cy="1605280"/>
            <a:chOff x="4091" y="6335"/>
            <a:chExt cx="5923" cy="2528"/>
          </a:xfrm>
        </p:grpSpPr>
        <p:sp>
          <p:nvSpPr>
            <p:cNvPr id="5" name="Rectangle 3"/>
            <p:cNvSpPr txBox="1">
              <a:spLocks noChangeArrowheads="1"/>
            </p:cNvSpPr>
            <p:nvPr/>
          </p:nvSpPr>
          <p:spPr bwMode="auto">
            <a:xfrm>
              <a:off x="4091" y="6335"/>
              <a:ext cx="5471" cy="905"/>
            </a:xfrm>
            <a:prstGeom prst="rect">
              <a:avLst/>
            </a:prstGeom>
            <a:noFill/>
            <a:ln w="9525">
              <a:noFill/>
              <a:miter lim="800000"/>
            </a:ln>
          </p:spPr>
          <p:txBody>
            <a:bodyPr/>
            <a:lstStyle/>
            <a:p>
              <a:pPr lvl="1" indent="0">
                <a:lnSpc>
                  <a:spcPts val="3000"/>
                </a:lnSpc>
                <a:spcBef>
                  <a:spcPts val="475"/>
                </a:spcBef>
                <a:buClr>
                  <a:schemeClr val="accent1"/>
                </a:buClr>
                <a:buFont typeface="Wingdings" panose="05000000000000000000" pitchFamily="2" charset="2"/>
                <a:buNone/>
                <a:defRPr/>
              </a:pPr>
              <a:r>
                <a:rPr lang="zh-CN" altLang="en-US" sz="3600" b="1" kern="0" dirty="0">
                  <a:solidFill>
                    <a:srgbClr val="0070C0"/>
                  </a:solidFill>
                  <a:latin typeface="Arial" panose="020B0604020202020204" pitchFamily="34" charset="0"/>
                  <a:ea typeface="微软雅黑" panose="020B0503020204020204" pitchFamily="34" charset="-122"/>
                  <a:cs typeface="Arial" panose="020B0604020202020204" pitchFamily="34" charset="0"/>
                </a:rPr>
                <a:t>192.168.0.25</a:t>
              </a:r>
            </a:p>
          </p:txBody>
        </p:sp>
        <p:sp>
          <p:nvSpPr>
            <p:cNvPr id="14341" name="Line 5"/>
            <p:cNvSpPr>
              <a:spLocks noChangeShapeType="1"/>
            </p:cNvSpPr>
            <p:nvPr/>
          </p:nvSpPr>
          <p:spPr bwMode="auto">
            <a:xfrm>
              <a:off x="5062" y="7110"/>
              <a:ext cx="3175" cy="0"/>
            </a:xfrm>
            <a:prstGeom prst="line">
              <a:avLst/>
            </a:prstGeom>
            <a:noFill/>
            <a:ln w="28575">
              <a:solidFill>
                <a:srgbClr val="FF0000"/>
              </a:solidFill>
              <a:round/>
            </a:ln>
            <a:effectLst>
              <a:prstShdw prst="shdw17" dist="17961" dir="2700000">
                <a:srgbClr val="990000">
                  <a:alpha val="50000"/>
                </a:srgbClr>
              </a:prstShdw>
            </a:effectLst>
          </p:spPr>
          <p:txBody>
            <a:bodyPr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4342" name="Line 6"/>
            <p:cNvSpPr>
              <a:spLocks noChangeShapeType="1"/>
            </p:cNvSpPr>
            <p:nvPr/>
          </p:nvSpPr>
          <p:spPr bwMode="auto">
            <a:xfrm>
              <a:off x="6636" y="7110"/>
              <a:ext cx="0" cy="1190"/>
            </a:xfrm>
            <a:prstGeom prst="line">
              <a:avLst/>
            </a:prstGeom>
            <a:noFill/>
            <a:ln w="28575">
              <a:solidFill>
                <a:srgbClr val="FF0000"/>
              </a:solidFill>
              <a:round/>
            </a:ln>
            <a:effectLst>
              <a:prstShdw prst="shdw17" dist="17961" dir="2700000">
                <a:srgbClr val="990000">
                  <a:alpha val="50000"/>
                </a:srgbClr>
              </a:prstShdw>
            </a:effectLst>
          </p:spPr>
          <p:txBody>
            <a:bodyPr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4343" name="Line 7"/>
            <p:cNvSpPr>
              <a:spLocks noChangeShapeType="1"/>
            </p:cNvSpPr>
            <p:nvPr/>
          </p:nvSpPr>
          <p:spPr bwMode="auto">
            <a:xfrm>
              <a:off x="8436" y="7110"/>
              <a:ext cx="853" cy="0"/>
            </a:xfrm>
            <a:prstGeom prst="line">
              <a:avLst/>
            </a:prstGeom>
            <a:noFill/>
            <a:ln w="28575">
              <a:solidFill>
                <a:srgbClr val="FF0000"/>
              </a:solidFill>
              <a:round/>
            </a:ln>
            <a:effectLst>
              <a:prstShdw prst="shdw17" dist="17961" dir="2700000">
                <a:srgbClr val="990000">
                  <a:alpha val="50000"/>
                </a:srgbClr>
              </a:prstShdw>
            </a:effectLst>
          </p:spPr>
          <p:txBody>
            <a:bodyPr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4344" name="Line 8"/>
            <p:cNvSpPr>
              <a:spLocks noChangeShapeType="1"/>
            </p:cNvSpPr>
            <p:nvPr/>
          </p:nvSpPr>
          <p:spPr bwMode="auto">
            <a:xfrm>
              <a:off x="8886" y="7110"/>
              <a:ext cx="0" cy="1190"/>
            </a:xfrm>
            <a:prstGeom prst="line">
              <a:avLst/>
            </a:prstGeom>
            <a:noFill/>
            <a:ln w="28575">
              <a:solidFill>
                <a:srgbClr val="FF0000"/>
              </a:solidFill>
              <a:round/>
            </a:ln>
            <a:effectLst>
              <a:prstShdw prst="shdw17" dist="17961" dir="2700000">
                <a:srgbClr val="990000">
                  <a:alpha val="50000"/>
                </a:srgbClr>
              </a:prstShdw>
            </a:effectLst>
          </p:spPr>
          <p:txBody>
            <a:bodyPr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4345" name="矩形 27"/>
            <p:cNvSpPr>
              <a:spLocks noChangeArrowheads="1"/>
            </p:cNvSpPr>
            <p:nvPr/>
          </p:nvSpPr>
          <p:spPr bwMode="auto">
            <a:xfrm>
              <a:off x="5736" y="8235"/>
              <a:ext cx="1888" cy="628"/>
            </a:xfrm>
            <a:prstGeom prst="rect">
              <a:avLst/>
            </a:prstGeom>
            <a:noFill/>
            <a:ln w="9525">
              <a:noFill/>
              <a:miter lim="800000"/>
            </a:ln>
          </p:spPr>
          <p:txBody>
            <a:bodyPr wrap="none">
              <a:spAutoFit/>
            </a:bodyPr>
            <a:lstStyle/>
            <a:p>
              <a:r>
                <a:rPr lang="zh-CN" altLang="en-US" sz="2000">
                  <a:solidFill>
                    <a:srgbClr val="FF0000"/>
                  </a:solidFill>
                  <a:latin typeface="Arial" panose="020B0604020202020204" pitchFamily="34" charset="0"/>
                  <a:ea typeface="微软雅黑" panose="020B0503020204020204" pitchFamily="34" charset="-122"/>
                  <a:cs typeface="Arial" panose="020B0604020202020204" pitchFamily="34" charset="0"/>
                </a:rPr>
                <a:t>网络部分</a:t>
              </a:r>
            </a:p>
          </p:txBody>
        </p:sp>
        <p:sp>
          <p:nvSpPr>
            <p:cNvPr id="14346" name="矩形 27"/>
            <p:cNvSpPr>
              <a:spLocks noChangeArrowheads="1"/>
            </p:cNvSpPr>
            <p:nvPr/>
          </p:nvSpPr>
          <p:spPr bwMode="auto">
            <a:xfrm>
              <a:off x="8126" y="8235"/>
              <a:ext cx="1888" cy="628"/>
            </a:xfrm>
            <a:prstGeom prst="rect">
              <a:avLst/>
            </a:prstGeom>
            <a:noFill/>
            <a:ln w="9525">
              <a:noFill/>
              <a:miter lim="800000"/>
            </a:ln>
          </p:spPr>
          <p:txBody>
            <a:bodyPr wrap="none">
              <a:spAutoFit/>
            </a:bodyPr>
            <a:lstStyle/>
            <a:p>
              <a:r>
                <a:rPr lang="zh-CN" altLang="en-US" sz="2000">
                  <a:solidFill>
                    <a:srgbClr val="FF0000"/>
                  </a:solidFill>
                  <a:latin typeface="Arial" panose="020B0604020202020204" pitchFamily="34" charset="0"/>
                  <a:ea typeface="微软雅黑" panose="020B0503020204020204" pitchFamily="34" charset="-122"/>
                  <a:cs typeface="Arial" panose="020B0604020202020204" pitchFamily="34" charset="0"/>
                </a:rPr>
                <a:t>主机部分</a:t>
              </a:r>
            </a:p>
          </p:txBody>
        </p:sp>
      </p:grpSp>
      <p:sp>
        <p:nvSpPr>
          <p:cNvPr id="2" name="灯片编号占位符 1"/>
          <p:cNvSpPr>
            <a:spLocks noGrp="1"/>
          </p:cNvSpPr>
          <p:nvPr>
            <p:ph type="sldNum" sz="quarter" idx="12"/>
          </p:nvPr>
        </p:nvSpPr>
        <p:spPr/>
        <p:txBody>
          <a:bodyPr/>
          <a:lstStyle/>
          <a:p>
            <a:fld id="{0C913308-F349-4B6D-A68A-DD1791B4A57B}" type="slidenum">
              <a:rPr lang="zh-CN" altLang="en-US" smtClean="0"/>
              <a:t>7</a:t>
            </a:fld>
            <a:r>
              <a:rPr lang="en-US" altLang="zh-CN" dirty="0"/>
              <a:t>/45</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2"/>
          <p:cNvSpPr>
            <a:spLocks noGrp="1"/>
          </p:cNvSpPr>
          <p:nvPr>
            <p:ph type="title"/>
          </p:nvPr>
        </p:nvSpPr>
        <p:spPr/>
        <p:txBody>
          <a:bodyPr/>
          <a:lstStyle/>
          <a:p>
            <a:r>
              <a:rPr lang="zh-CN" altLang="en-US"/>
              <a:t>子网划分基础</a:t>
            </a:r>
          </a:p>
        </p:txBody>
      </p:sp>
      <p:sp>
        <p:nvSpPr>
          <p:cNvPr id="15362" name="内容占位符 1"/>
          <p:cNvSpPr>
            <a:spLocks noGrp="1"/>
          </p:cNvSpPr>
          <p:nvPr>
            <p:ph idx="1"/>
          </p:nvPr>
        </p:nvSpPr>
        <p:spPr/>
        <p:txBody>
          <a:bodyPr/>
          <a:lstStyle/>
          <a:p>
            <a:r>
              <a:rPr lang="en-US" altLang="zh-CN"/>
              <a:t>IP</a:t>
            </a:r>
            <a:r>
              <a:rPr lang="zh-CN"/>
              <a:t>地址的分类</a:t>
            </a:r>
            <a:r>
              <a:rPr lang="en-US" altLang="zh-CN"/>
              <a:t>3-1</a:t>
            </a:r>
          </a:p>
          <a:p>
            <a:pPr lvl="1"/>
            <a:r>
              <a:rPr lang="en-US" altLang="zh-CN"/>
              <a:t>IP</a:t>
            </a:r>
            <a:r>
              <a:rPr lang="zh-CN" altLang="en-US"/>
              <a:t>地址分为</a:t>
            </a:r>
            <a:r>
              <a:rPr lang="en-US" altLang="zh-CN"/>
              <a:t>A</a:t>
            </a:r>
            <a:r>
              <a:rPr lang="zh-CN" altLang="en-US"/>
              <a:t>、</a:t>
            </a:r>
            <a:r>
              <a:rPr lang="en-US" altLang="zh-CN"/>
              <a:t>B</a:t>
            </a:r>
            <a:r>
              <a:rPr lang="zh-CN" altLang="en-US"/>
              <a:t>、</a:t>
            </a:r>
            <a:r>
              <a:rPr lang="en-US" altLang="zh-CN"/>
              <a:t>C</a:t>
            </a:r>
            <a:r>
              <a:rPr lang="zh-CN" altLang="en-US"/>
              <a:t>、</a:t>
            </a:r>
            <a:r>
              <a:rPr lang="en-US" altLang="zh-CN"/>
              <a:t>D</a:t>
            </a:r>
            <a:r>
              <a:rPr lang="zh-CN" altLang="en-US"/>
              <a:t>、</a:t>
            </a:r>
            <a:r>
              <a:rPr lang="en-US" altLang="zh-CN"/>
              <a:t>E </a:t>
            </a:r>
            <a:r>
              <a:rPr lang="zh-CN" altLang="en-US"/>
              <a:t>五类，每个类别有不同的划分规则</a:t>
            </a:r>
          </a:p>
        </p:txBody>
      </p:sp>
      <p:sp>
        <p:nvSpPr>
          <p:cNvPr id="15426" name="矩形 15"/>
          <p:cNvSpPr>
            <a:spLocks noChangeArrowheads="1"/>
          </p:cNvSpPr>
          <p:nvPr/>
        </p:nvSpPr>
        <p:spPr bwMode="auto">
          <a:xfrm>
            <a:off x="1071880" y="2082800"/>
            <a:ext cx="7143750" cy="3416300"/>
          </a:xfrm>
          <a:prstGeom prst="rect">
            <a:avLst/>
          </a:prstGeom>
          <a:gradFill rotWithShape="1">
            <a:gsLst>
              <a:gs pos="0">
                <a:srgbClr val="CCFFFF"/>
              </a:gs>
              <a:gs pos="100000">
                <a:srgbClr val="FFFFFF"/>
              </a:gs>
            </a:gsLst>
            <a:lin ang="5400000" scaled="1"/>
          </a:gradFill>
          <a:ln w="9525" algn="ctr">
            <a:solidFill>
              <a:srgbClr val="008080"/>
            </a:solidFill>
            <a:round/>
          </a:ln>
        </p:spPr>
        <p:txBody>
          <a:bodyPr anchor="ctr">
            <a:spAutoFit/>
          </a:bodyPr>
          <a:lstStyle/>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95250" algn="ct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5427" name="TextBox 17"/>
          <p:cNvSpPr txBox="1">
            <a:spLocks noChangeArrowheads="1"/>
          </p:cNvSpPr>
          <p:nvPr/>
        </p:nvSpPr>
        <p:spPr bwMode="auto">
          <a:xfrm>
            <a:off x="1285875" y="2153920"/>
            <a:ext cx="714375" cy="369570"/>
          </a:xfrm>
          <a:prstGeom prst="rect">
            <a:avLst/>
          </a:prstGeom>
          <a:noFill/>
          <a:ln w="9525">
            <a:noFill/>
            <a:miter lim="800000"/>
          </a:ln>
        </p:spPr>
        <p:txBody>
          <a:bodyPr>
            <a:spAutoFit/>
          </a:bodyPr>
          <a:lstStyle/>
          <a:p>
            <a:r>
              <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rPr>
              <a:t>位数</a:t>
            </a:r>
          </a:p>
        </p:txBody>
      </p:sp>
      <p:sp>
        <p:nvSpPr>
          <p:cNvPr id="15428" name="TextBox 18"/>
          <p:cNvSpPr txBox="1">
            <a:spLocks noChangeArrowheads="1"/>
          </p:cNvSpPr>
          <p:nvPr/>
        </p:nvSpPr>
        <p:spPr bwMode="auto">
          <a:xfrm>
            <a:off x="2500630" y="2172335"/>
            <a:ext cx="714375" cy="338455"/>
          </a:xfrm>
          <a:prstGeom prst="rect">
            <a:avLst/>
          </a:prstGeom>
          <a:noFill/>
          <a:ln w="9525">
            <a:noFill/>
            <a:miter lim="800000"/>
          </a:ln>
        </p:spPr>
        <p:txBody>
          <a:bodyPr>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0</a:t>
            </a:r>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5429" name="TextBox 19"/>
          <p:cNvSpPr txBox="1">
            <a:spLocks noChangeArrowheads="1"/>
          </p:cNvSpPr>
          <p:nvPr/>
        </p:nvSpPr>
        <p:spPr bwMode="auto">
          <a:xfrm>
            <a:off x="7429500" y="2172335"/>
            <a:ext cx="714375" cy="338455"/>
          </a:xfrm>
          <a:prstGeom prst="rect">
            <a:avLst/>
          </a:prstGeom>
          <a:noFill/>
          <a:ln w="9525">
            <a:noFill/>
            <a:miter lim="800000"/>
          </a:ln>
        </p:spPr>
        <p:txBody>
          <a:bodyPr>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31</a:t>
            </a:r>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5430" name="TextBox 20"/>
          <p:cNvSpPr txBox="1">
            <a:spLocks noChangeArrowheads="1"/>
          </p:cNvSpPr>
          <p:nvPr/>
        </p:nvSpPr>
        <p:spPr bwMode="auto">
          <a:xfrm>
            <a:off x="1285875" y="2582545"/>
            <a:ext cx="1214755" cy="369570"/>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A</a:t>
            </a:r>
            <a:r>
              <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rPr>
              <a:t>类地址</a:t>
            </a:r>
          </a:p>
        </p:txBody>
      </p:sp>
      <p:sp>
        <p:nvSpPr>
          <p:cNvPr id="15431" name="TextBox 21"/>
          <p:cNvSpPr txBox="1">
            <a:spLocks noChangeArrowheads="1"/>
          </p:cNvSpPr>
          <p:nvPr/>
        </p:nvSpPr>
        <p:spPr bwMode="auto">
          <a:xfrm>
            <a:off x="1285875" y="3213100"/>
            <a:ext cx="1214755" cy="369570"/>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B</a:t>
            </a:r>
            <a:r>
              <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rPr>
              <a:t>类地址</a:t>
            </a:r>
          </a:p>
        </p:txBody>
      </p:sp>
      <p:sp>
        <p:nvSpPr>
          <p:cNvPr id="15432" name="TextBox 22"/>
          <p:cNvSpPr txBox="1">
            <a:spLocks noChangeArrowheads="1"/>
          </p:cNvSpPr>
          <p:nvPr/>
        </p:nvSpPr>
        <p:spPr bwMode="auto">
          <a:xfrm>
            <a:off x="1285875" y="3843655"/>
            <a:ext cx="1214755" cy="369570"/>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C</a:t>
            </a:r>
            <a:r>
              <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rPr>
              <a:t>类地址</a:t>
            </a:r>
          </a:p>
        </p:txBody>
      </p:sp>
      <p:sp>
        <p:nvSpPr>
          <p:cNvPr id="15433" name="TextBox 23"/>
          <p:cNvSpPr txBox="1">
            <a:spLocks noChangeArrowheads="1"/>
          </p:cNvSpPr>
          <p:nvPr/>
        </p:nvSpPr>
        <p:spPr bwMode="auto">
          <a:xfrm>
            <a:off x="1285875" y="4486275"/>
            <a:ext cx="1214755" cy="369570"/>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D</a:t>
            </a:r>
            <a:r>
              <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rPr>
              <a:t>类地址</a:t>
            </a:r>
          </a:p>
        </p:txBody>
      </p:sp>
      <p:sp>
        <p:nvSpPr>
          <p:cNvPr id="15434" name="TextBox 24"/>
          <p:cNvSpPr txBox="1">
            <a:spLocks noChangeArrowheads="1"/>
          </p:cNvSpPr>
          <p:nvPr/>
        </p:nvSpPr>
        <p:spPr bwMode="auto">
          <a:xfrm>
            <a:off x="1285875" y="5057775"/>
            <a:ext cx="1214755" cy="369570"/>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E</a:t>
            </a:r>
            <a:r>
              <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rPr>
              <a:t>类地址</a:t>
            </a:r>
          </a:p>
        </p:txBody>
      </p:sp>
      <p:graphicFrame>
        <p:nvGraphicFramePr>
          <p:cNvPr id="29" name="表格 28"/>
          <p:cNvGraphicFramePr>
            <a:graphicFrameLocks noGrp="1"/>
          </p:cNvGraphicFramePr>
          <p:nvPr/>
        </p:nvGraphicFramePr>
        <p:xfrm>
          <a:off x="2500313" y="2582545"/>
          <a:ext cx="5214974" cy="346320"/>
        </p:xfrm>
        <a:graphic>
          <a:graphicData uri="http://schemas.openxmlformats.org/drawingml/2006/table">
            <a:tbl>
              <a:tblPr firstRow="1" bandRow="1">
                <a:tableStyleId>{5C22544A-7EE6-4342-B048-85BDC9FD1C3A}</a:tableStyleId>
              </a:tblPr>
              <a:tblGrid>
                <a:gridCol w="214314">
                  <a:extLst>
                    <a:ext uri="{9D8B030D-6E8A-4147-A177-3AD203B41FA5}">
                      <a16:colId xmlns:a16="http://schemas.microsoft.com/office/drawing/2014/main" val="20000"/>
                    </a:ext>
                  </a:extLst>
                </a:gridCol>
                <a:gridCol w="5000660">
                  <a:extLst>
                    <a:ext uri="{9D8B030D-6E8A-4147-A177-3AD203B41FA5}">
                      <a16:colId xmlns:a16="http://schemas.microsoft.com/office/drawing/2014/main" val="20001"/>
                    </a:ext>
                  </a:extLst>
                </a:gridCol>
              </a:tblGrid>
              <a:tr h="214314">
                <a:tc>
                  <a:txBody>
                    <a:bodyPr/>
                    <a:lstStyle/>
                    <a:p>
                      <a:pPr algn="ctr"/>
                      <a:r>
                        <a:rPr lang="en-US" altLang="zh-CN" sz="1600" dirty="0">
                          <a:solidFill>
                            <a:schemeClr val="tx2"/>
                          </a:solidFill>
                        </a:rPr>
                        <a:t>0</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endParaRPr lang="zh-CN" altLang="en-US" dirty="0"/>
                    </a:p>
                  </a:txBody>
                  <a:tcPr marT="36000" marB="36000">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32" name="表格 31"/>
          <p:cNvGraphicFramePr>
            <a:graphicFrameLocks noGrp="1"/>
          </p:cNvGraphicFramePr>
          <p:nvPr/>
        </p:nvGraphicFramePr>
        <p:xfrm>
          <a:off x="2500313" y="3225483"/>
          <a:ext cx="5214975" cy="315840"/>
        </p:xfrm>
        <a:graphic>
          <a:graphicData uri="http://schemas.openxmlformats.org/drawingml/2006/table">
            <a:tbl>
              <a:tblPr firstRow="1" bandRow="1">
                <a:tableStyleId>{5C22544A-7EE6-4342-B048-85BDC9FD1C3A}</a:tableStyleId>
              </a:tblPr>
              <a:tblGrid>
                <a:gridCol w="214314">
                  <a:extLst>
                    <a:ext uri="{9D8B030D-6E8A-4147-A177-3AD203B41FA5}">
                      <a16:colId xmlns:a16="http://schemas.microsoft.com/office/drawing/2014/main" val="20000"/>
                    </a:ext>
                  </a:extLst>
                </a:gridCol>
                <a:gridCol w="214314">
                  <a:extLst>
                    <a:ext uri="{9D8B030D-6E8A-4147-A177-3AD203B41FA5}">
                      <a16:colId xmlns:a16="http://schemas.microsoft.com/office/drawing/2014/main" val="20001"/>
                    </a:ext>
                  </a:extLst>
                </a:gridCol>
                <a:gridCol w="4786347">
                  <a:extLst>
                    <a:ext uri="{9D8B030D-6E8A-4147-A177-3AD203B41FA5}">
                      <a16:colId xmlns:a16="http://schemas.microsoft.com/office/drawing/2014/main" val="20002"/>
                    </a:ext>
                  </a:extLst>
                </a:gridCol>
              </a:tblGrid>
              <a:tr h="214315">
                <a:tc>
                  <a:txBody>
                    <a:bodyPr/>
                    <a:lstStyle/>
                    <a:p>
                      <a:pPr algn="ctr"/>
                      <a:r>
                        <a:rPr lang="en-US" altLang="zh-CN" sz="1600" dirty="0">
                          <a:solidFill>
                            <a:schemeClr val="tx2"/>
                          </a:solidFill>
                        </a:rPr>
                        <a:t>1</a:t>
                      </a:r>
                      <a:endParaRPr lang="zh-CN" altLang="en-US" sz="1600" dirty="0">
                        <a:solidFill>
                          <a:schemeClr val="tx2"/>
                        </a:solidFill>
                      </a:endParaRPr>
                    </a:p>
                  </a:txBody>
                  <a:tcPr marT="36000" marB="36000">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0</a:t>
                      </a:r>
                      <a:endParaRPr lang="zh-CN" altLang="en-US" sz="1600" dirty="0">
                        <a:solidFill>
                          <a:schemeClr val="tx2"/>
                        </a:solidFill>
                      </a:endParaRPr>
                    </a:p>
                  </a:txBody>
                  <a:tcPr marT="36000" marB="36000">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endParaRPr lang="zh-CN" altLang="en-US" sz="1600" dirty="0">
                        <a:solidFill>
                          <a:schemeClr val="tx2"/>
                        </a:solidFill>
                      </a:endParaRPr>
                    </a:p>
                  </a:txBody>
                  <a:tcPr marT="36000" marB="36000">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33" name="表格 32"/>
          <p:cNvGraphicFramePr>
            <a:graphicFrameLocks noGrp="1"/>
          </p:cNvGraphicFramePr>
          <p:nvPr/>
        </p:nvGraphicFramePr>
        <p:xfrm>
          <a:off x="2500313" y="3877945"/>
          <a:ext cx="5214976" cy="335280"/>
        </p:xfrm>
        <a:graphic>
          <a:graphicData uri="http://schemas.openxmlformats.org/drawingml/2006/table">
            <a:tbl>
              <a:tblPr firstRow="1" bandRow="1">
                <a:tableStyleId>{5C22544A-7EE6-4342-B048-85BDC9FD1C3A}</a:tableStyleId>
              </a:tblPr>
              <a:tblGrid>
                <a:gridCol w="214314">
                  <a:extLst>
                    <a:ext uri="{9D8B030D-6E8A-4147-A177-3AD203B41FA5}">
                      <a16:colId xmlns:a16="http://schemas.microsoft.com/office/drawing/2014/main" val="20000"/>
                    </a:ext>
                  </a:extLst>
                </a:gridCol>
                <a:gridCol w="214314">
                  <a:extLst>
                    <a:ext uri="{9D8B030D-6E8A-4147-A177-3AD203B41FA5}">
                      <a16:colId xmlns:a16="http://schemas.microsoft.com/office/drawing/2014/main" val="20001"/>
                    </a:ext>
                  </a:extLst>
                </a:gridCol>
                <a:gridCol w="214314">
                  <a:extLst>
                    <a:ext uri="{9D8B030D-6E8A-4147-A177-3AD203B41FA5}">
                      <a16:colId xmlns:a16="http://schemas.microsoft.com/office/drawing/2014/main" val="20002"/>
                    </a:ext>
                  </a:extLst>
                </a:gridCol>
                <a:gridCol w="4572034">
                  <a:extLst>
                    <a:ext uri="{9D8B030D-6E8A-4147-A177-3AD203B41FA5}">
                      <a16:colId xmlns:a16="http://schemas.microsoft.com/office/drawing/2014/main" val="20003"/>
                    </a:ext>
                  </a:extLst>
                </a:gridCol>
              </a:tblGrid>
              <a:tr h="192404">
                <a:tc>
                  <a:txBody>
                    <a:bodyPr/>
                    <a:lstStyle/>
                    <a:p>
                      <a:pPr algn="ctr"/>
                      <a:r>
                        <a:rPr lang="en-US" altLang="zh-CN" sz="1600" b="1" dirty="0">
                          <a:solidFill>
                            <a:schemeClr val="tx2"/>
                          </a:solidFill>
                        </a:rPr>
                        <a:t>1</a:t>
                      </a:r>
                      <a:endParaRPr lang="zh-CN" altLang="en-US" sz="1600" b="1"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b="1" dirty="0">
                          <a:solidFill>
                            <a:schemeClr val="tx2"/>
                          </a:solidFill>
                        </a:rPr>
                        <a:t>1</a:t>
                      </a:r>
                      <a:endParaRPr lang="zh-CN" altLang="en-US" sz="1600" b="1"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b="1" dirty="0">
                          <a:solidFill>
                            <a:schemeClr val="tx2"/>
                          </a:solidFill>
                        </a:rPr>
                        <a:t>0</a:t>
                      </a:r>
                      <a:endParaRPr lang="zh-CN" altLang="en-US" sz="1600" b="1"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endParaRPr lang="zh-CN" altLang="en-US" sz="1600" b="1" dirty="0">
                        <a:solidFill>
                          <a:schemeClr val="tx2"/>
                        </a:solidFill>
                      </a:endParaRPr>
                    </a:p>
                  </a:txBody>
                  <a:tcPr marT="36000" marB="36000">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34" name="表格 33"/>
          <p:cNvGraphicFramePr>
            <a:graphicFrameLocks noGrp="1"/>
          </p:cNvGraphicFramePr>
          <p:nvPr/>
        </p:nvGraphicFramePr>
        <p:xfrm>
          <a:off x="2500313" y="4498658"/>
          <a:ext cx="5214975" cy="335280"/>
        </p:xfrm>
        <a:graphic>
          <a:graphicData uri="http://schemas.openxmlformats.org/drawingml/2006/table">
            <a:tbl>
              <a:tblPr firstRow="1" bandRow="1">
                <a:tableStyleId>{5C22544A-7EE6-4342-B048-85BDC9FD1C3A}</a:tableStyleId>
              </a:tblPr>
              <a:tblGrid>
                <a:gridCol w="214314">
                  <a:extLst>
                    <a:ext uri="{9D8B030D-6E8A-4147-A177-3AD203B41FA5}">
                      <a16:colId xmlns:a16="http://schemas.microsoft.com/office/drawing/2014/main" val="20000"/>
                    </a:ext>
                  </a:extLst>
                </a:gridCol>
                <a:gridCol w="214314">
                  <a:extLst>
                    <a:ext uri="{9D8B030D-6E8A-4147-A177-3AD203B41FA5}">
                      <a16:colId xmlns:a16="http://schemas.microsoft.com/office/drawing/2014/main" val="20001"/>
                    </a:ext>
                  </a:extLst>
                </a:gridCol>
                <a:gridCol w="214314">
                  <a:extLst>
                    <a:ext uri="{9D8B030D-6E8A-4147-A177-3AD203B41FA5}">
                      <a16:colId xmlns:a16="http://schemas.microsoft.com/office/drawing/2014/main" val="20002"/>
                    </a:ext>
                  </a:extLst>
                </a:gridCol>
                <a:gridCol w="214314">
                  <a:extLst>
                    <a:ext uri="{9D8B030D-6E8A-4147-A177-3AD203B41FA5}">
                      <a16:colId xmlns:a16="http://schemas.microsoft.com/office/drawing/2014/main" val="20003"/>
                    </a:ext>
                  </a:extLst>
                </a:gridCol>
                <a:gridCol w="4357719">
                  <a:extLst>
                    <a:ext uri="{9D8B030D-6E8A-4147-A177-3AD203B41FA5}">
                      <a16:colId xmlns:a16="http://schemas.microsoft.com/office/drawing/2014/main" val="20004"/>
                    </a:ext>
                  </a:extLst>
                </a:gridCol>
              </a:tblGrid>
              <a:tr h="299402">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0</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graphicFrame>
        <p:nvGraphicFramePr>
          <p:cNvPr id="35" name="表格 34"/>
          <p:cNvGraphicFramePr>
            <a:graphicFrameLocks noGrp="1"/>
          </p:cNvGraphicFramePr>
          <p:nvPr/>
        </p:nvGraphicFramePr>
        <p:xfrm>
          <a:off x="2500313" y="5092383"/>
          <a:ext cx="5214975" cy="335280"/>
        </p:xfrm>
        <a:graphic>
          <a:graphicData uri="http://schemas.openxmlformats.org/drawingml/2006/table">
            <a:tbl>
              <a:tblPr firstRow="1" bandRow="1">
                <a:tableStyleId>{5C22544A-7EE6-4342-B048-85BDC9FD1C3A}</a:tableStyleId>
              </a:tblPr>
              <a:tblGrid>
                <a:gridCol w="214314">
                  <a:extLst>
                    <a:ext uri="{9D8B030D-6E8A-4147-A177-3AD203B41FA5}">
                      <a16:colId xmlns:a16="http://schemas.microsoft.com/office/drawing/2014/main" val="20000"/>
                    </a:ext>
                  </a:extLst>
                </a:gridCol>
                <a:gridCol w="214314">
                  <a:extLst>
                    <a:ext uri="{9D8B030D-6E8A-4147-A177-3AD203B41FA5}">
                      <a16:colId xmlns:a16="http://schemas.microsoft.com/office/drawing/2014/main" val="20001"/>
                    </a:ext>
                  </a:extLst>
                </a:gridCol>
                <a:gridCol w="214314">
                  <a:extLst>
                    <a:ext uri="{9D8B030D-6E8A-4147-A177-3AD203B41FA5}">
                      <a16:colId xmlns:a16="http://schemas.microsoft.com/office/drawing/2014/main" val="20002"/>
                    </a:ext>
                  </a:extLst>
                </a:gridCol>
                <a:gridCol w="214314">
                  <a:extLst>
                    <a:ext uri="{9D8B030D-6E8A-4147-A177-3AD203B41FA5}">
                      <a16:colId xmlns:a16="http://schemas.microsoft.com/office/drawing/2014/main" val="20003"/>
                    </a:ext>
                  </a:extLst>
                </a:gridCol>
                <a:gridCol w="4357719">
                  <a:extLst>
                    <a:ext uri="{9D8B030D-6E8A-4147-A177-3AD203B41FA5}">
                      <a16:colId xmlns:a16="http://schemas.microsoft.com/office/drawing/2014/main" val="20004"/>
                    </a:ext>
                  </a:extLst>
                </a:gridCol>
              </a:tblGrid>
              <a:tr h="299402">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r>
                        <a:rPr lang="en-US" altLang="zh-CN" sz="1600" dirty="0">
                          <a:solidFill>
                            <a:schemeClr val="tx2"/>
                          </a:solidFill>
                        </a:rPr>
                        <a:t>1</a:t>
                      </a: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tc>
                  <a:txBody>
                    <a:bodyPr/>
                    <a:lstStyle/>
                    <a:p>
                      <a:pPr algn="ctr"/>
                      <a:endParaRPr lang="zh-CN" altLang="en-US" sz="1600" dirty="0">
                        <a:solidFill>
                          <a:schemeClr val="tx2"/>
                        </a:solidFill>
                      </a:endParaRPr>
                    </a:p>
                  </a:txBody>
                  <a:tcPr>
                    <a:lnL w="19050" cap="flat" cmpd="sng" algn="ctr">
                      <a:solidFill>
                        <a:schemeClr val="tx2"/>
                      </a:solidFill>
                      <a:prstDash val="solid"/>
                      <a:round/>
                      <a:headEnd type="none" w="med" len="med"/>
                      <a:tailEnd type="none" w="med" len="med"/>
                    </a:lnL>
                    <a:lnR w="190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5423" name="TextBox 36"/>
          <p:cNvSpPr txBox="1">
            <a:spLocks noChangeArrowheads="1"/>
          </p:cNvSpPr>
          <p:nvPr/>
        </p:nvSpPr>
        <p:spPr bwMode="auto">
          <a:xfrm>
            <a:off x="2428875" y="2927033"/>
            <a:ext cx="857250" cy="337185"/>
          </a:xfrm>
          <a:prstGeom prst="rect">
            <a:avLst/>
          </a:prstGeom>
          <a:noFill/>
          <a:ln w="9525">
            <a:noFill/>
            <a:miter lim="800000"/>
          </a:ln>
        </p:spPr>
        <p:txBody>
          <a:bodyPr>
            <a:spAutoFit/>
          </a:bodyPr>
          <a:lstStyle/>
          <a:p>
            <a:r>
              <a:rPr lang="en-US" altLang="zh-CN" sz="1600" b="1">
                <a:solidFill>
                  <a:srgbClr val="FF0000"/>
                </a:solidFill>
                <a:latin typeface="Arial" panose="020B0604020202020204" pitchFamily="34" charset="0"/>
                <a:ea typeface="微软雅黑" panose="020B0503020204020204" pitchFamily="34" charset="-122"/>
                <a:cs typeface="Arial" panose="020B0604020202020204" pitchFamily="34" charset="0"/>
              </a:rPr>
              <a:t>0~126</a:t>
            </a:r>
            <a:endParaRPr lang="zh-CN" altLang="en-US" sz="1600" b="1">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5424" name="TextBox 37"/>
          <p:cNvSpPr txBox="1">
            <a:spLocks noChangeArrowheads="1"/>
          </p:cNvSpPr>
          <p:nvPr/>
        </p:nvSpPr>
        <p:spPr bwMode="auto">
          <a:xfrm>
            <a:off x="2428875" y="3589020"/>
            <a:ext cx="1000125" cy="337185"/>
          </a:xfrm>
          <a:prstGeom prst="rect">
            <a:avLst/>
          </a:prstGeom>
          <a:noFill/>
          <a:ln w="9525">
            <a:noFill/>
            <a:miter lim="800000"/>
          </a:ln>
        </p:spPr>
        <p:txBody>
          <a:bodyPr>
            <a:spAutoFit/>
          </a:bodyPr>
          <a:lstStyle/>
          <a:p>
            <a:r>
              <a:rPr lang="en-US" altLang="zh-CN" sz="1600" b="1">
                <a:solidFill>
                  <a:srgbClr val="FF0000"/>
                </a:solidFill>
                <a:latin typeface="Arial" panose="020B0604020202020204" pitchFamily="34" charset="0"/>
                <a:ea typeface="微软雅黑" panose="020B0503020204020204" pitchFamily="34" charset="-122"/>
                <a:cs typeface="Arial" panose="020B0604020202020204" pitchFamily="34" charset="0"/>
              </a:rPr>
              <a:t>128~191</a:t>
            </a:r>
            <a:endParaRPr lang="zh-CN" altLang="en-US" sz="1600" b="1">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5425" name="TextBox 38"/>
          <p:cNvSpPr txBox="1">
            <a:spLocks noChangeArrowheads="1"/>
          </p:cNvSpPr>
          <p:nvPr/>
        </p:nvSpPr>
        <p:spPr bwMode="auto">
          <a:xfrm>
            <a:off x="2428875" y="4212908"/>
            <a:ext cx="1000125" cy="337185"/>
          </a:xfrm>
          <a:prstGeom prst="rect">
            <a:avLst/>
          </a:prstGeom>
          <a:noFill/>
          <a:ln w="9525">
            <a:noFill/>
            <a:miter lim="800000"/>
          </a:ln>
        </p:spPr>
        <p:txBody>
          <a:bodyPr>
            <a:spAutoFit/>
          </a:bodyPr>
          <a:lstStyle/>
          <a:p>
            <a:r>
              <a:rPr lang="en-US" altLang="zh-CN" sz="1600" b="1">
                <a:solidFill>
                  <a:srgbClr val="FF0000"/>
                </a:solidFill>
                <a:latin typeface="Arial" panose="020B0604020202020204" pitchFamily="34" charset="0"/>
                <a:ea typeface="微软雅黑" panose="020B0503020204020204" pitchFamily="34" charset="-122"/>
                <a:cs typeface="Arial" panose="020B0604020202020204" pitchFamily="34" charset="0"/>
              </a:rPr>
              <a:t>192~223</a:t>
            </a:r>
            <a:endParaRPr lang="zh-CN" altLang="en-US" sz="1600" b="1">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8</a:t>
            </a:fld>
            <a:r>
              <a:rPr lang="en-US" altLang="zh-CN" dirty="0"/>
              <a:t>/45</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标题 2"/>
          <p:cNvSpPr>
            <a:spLocks noGrp="1"/>
          </p:cNvSpPr>
          <p:nvPr>
            <p:ph type="title"/>
          </p:nvPr>
        </p:nvSpPr>
        <p:spPr/>
        <p:txBody>
          <a:bodyPr/>
          <a:lstStyle/>
          <a:p>
            <a:r>
              <a:rPr lang="zh-CN" altLang="en-US" dirty="0">
                <a:sym typeface="+mn-ea"/>
              </a:rPr>
              <a:t>子网划分基础</a:t>
            </a:r>
            <a:endParaRPr lang="en-US" altLang="zh-CN"/>
          </a:p>
        </p:txBody>
      </p:sp>
      <p:sp>
        <p:nvSpPr>
          <p:cNvPr id="16387" name="内容占位符 1"/>
          <p:cNvSpPr>
            <a:spLocks noGrp="1"/>
          </p:cNvSpPr>
          <p:nvPr>
            <p:ph idx="1"/>
          </p:nvPr>
        </p:nvSpPr>
        <p:spPr/>
        <p:txBody>
          <a:bodyPr/>
          <a:lstStyle/>
          <a:p>
            <a:r>
              <a:rPr lang="en-US" altLang="zh-CN">
                <a:sym typeface="+mn-ea"/>
              </a:rPr>
              <a:t>IP</a:t>
            </a:r>
            <a:r>
              <a:rPr lang="zh-CN">
                <a:sym typeface="+mn-ea"/>
              </a:rPr>
              <a:t>地址的分类</a:t>
            </a:r>
            <a:r>
              <a:rPr lang="en-US" altLang="zh-CN">
                <a:sym typeface="+mn-ea"/>
              </a:rPr>
              <a:t>3-2</a:t>
            </a:r>
            <a:endParaRPr lang="en-US" altLang="zh-CN"/>
          </a:p>
          <a:p>
            <a:pPr lvl="1"/>
            <a:r>
              <a:rPr lang="zh-CN" altLang="en-US"/>
              <a:t>A、B、C 类地址的网络部分和主机部分</a:t>
            </a:r>
          </a:p>
        </p:txBody>
      </p:sp>
      <p:grpSp>
        <p:nvGrpSpPr>
          <p:cNvPr id="2" name="组合 55"/>
          <p:cNvGrpSpPr/>
          <p:nvPr/>
        </p:nvGrpSpPr>
        <p:grpSpPr bwMode="auto">
          <a:xfrm>
            <a:off x="1548130" y="2349818"/>
            <a:ext cx="6288088" cy="2357437"/>
            <a:chOff x="1357290" y="2714620"/>
            <a:chExt cx="6288132" cy="2357454"/>
          </a:xfrm>
        </p:grpSpPr>
        <p:sp>
          <p:nvSpPr>
            <p:cNvPr id="16390" name="矩形 5"/>
            <p:cNvSpPr>
              <a:spLocks noChangeArrowheads="1"/>
            </p:cNvSpPr>
            <p:nvPr/>
          </p:nvSpPr>
          <p:spPr bwMode="auto">
            <a:xfrm>
              <a:off x="1357290" y="3143248"/>
              <a:ext cx="1571636" cy="369332"/>
            </a:xfrm>
            <a:prstGeom prst="rect">
              <a:avLst/>
            </a:prstGeom>
            <a:gradFill rotWithShape="1">
              <a:gsLst>
                <a:gs pos="0">
                  <a:srgbClr val="92D05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NETWORK</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1" name="矩形 6"/>
            <p:cNvSpPr>
              <a:spLocks noChangeArrowheads="1"/>
            </p:cNvSpPr>
            <p:nvPr/>
          </p:nvSpPr>
          <p:spPr bwMode="auto">
            <a:xfrm>
              <a:off x="2928926" y="3143248"/>
              <a:ext cx="1571636" cy="369332"/>
            </a:xfrm>
            <a:prstGeom prst="rect">
              <a:avLst/>
            </a:prstGeom>
            <a:gradFill rotWithShape="1">
              <a:gsLst>
                <a:gs pos="0">
                  <a:srgbClr val="FFC00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HOST</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2" name="矩形 7"/>
            <p:cNvSpPr>
              <a:spLocks noChangeArrowheads="1"/>
            </p:cNvSpPr>
            <p:nvPr/>
          </p:nvSpPr>
          <p:spPr bwMode="auto">
            <a:xfrm>
              <a:off x="4500562" y="3143248"/>
              <a:ext cx="1571636" cy="369332"/>
            </a:xfrm>
            <a:prstGeom prst="rect">
              <a:avLst/>
            </a:prstGeom>
            <a:gradFill rotWithShape="1">
              <a:gsLst>
                <a:gs pos="0">
                  <a:srgbClr val="FFC00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HOST</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3" name="矩形 8"/>
            <p:cNvSpPr>
              <a:spLocks noChangeArrowheads="1"/>
            </p:cNvSpPr>
            <p:nvPr/>
          </p:nvSpPr>
          <p:spPr bwMode="auto">
            <a:xfrm>
              <a:off x="6072198" y="3143248"/>
              <a:ext cx="1571636" cy="369332"/>
            </a:xfrm>
            <a:prstGeom prst="rect">
              <a:avLst/>
            </a:prstGeom>
            <a:gradFill rotWithShape="1">
              <a:gsLst>
                <a:gs pos="0">
                  <a:srgbClr val="FFC00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HOST</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4" name="矩形 10"/>
            <p:cNvSpPr>
              <a:spLocks noChangeArrowheads="1"/>
            </p:cNvSpPr>
            <p:nvPr/>
          </p:nvSpPr>
          <p:spPr bwMode="auto">
            <a:xfrm>
              <a:off x="1357290" y="3916924"/>
              <a:ext cx="1571636" cy="369332"/>
            </a:xfrm>
            <a:prstGeom prst="rect">
              <a:avLst/>
            </a:prstGeom>
            <a:gradFill rotWithShape="1">
              <a:gsLst>
                <a:gs pos="0">
                  <a:srgbClr val="92D05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NETWORK</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5" name="矩形 12"/>
            <p:cNvSpPr>
              <a:spLocks noChangeArrowheads="1"/>
            </p:cNvSpPr>
            <p:nvPr/>
          </p:nvSpPr>
          <p:spPr bwMode="auto">
            <a:xfrm>
              <a:off x="4500562" y="3916924"/>
              <a:ext cx="1571636" cy="369332"/>
            </a:xfrm>
            <a:prstGeom prst="rect">
              <a:avLst/>
            </a:prstGeom>
            <a:gradFill rotWithShape="1">
              <a:gsLst>
                <a:gs pos="0">
                  <a:srgbClr val="FFC00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HOST</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6" name="矩形 13"/>
            <p:cNvSpPr>
              <a:spLocks noChangeArrowheads="1"/>
            </p:cNvSpPr>
            <p:nvPr/>
          </p:nvSpPr>
          <p:spPr bwMode="auto">
            <a:xfrm>
              <a:off x="6072198" y="3916924"/>
              <a:ext cx="1571636" cy="369332"/>
            </a:xfrm>
            <a:prstGeom prst="rect">
              <a:avLst/>
            </a:prstGeom>
            <a:gradFill rotWithShape="1">
              <a:gsLst>
                <a:gs pos="0">
                  <a:srgbClr val="FFC00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HOST</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7" name="矩形 14"/>
            <p:cNvSpPr>
              <a:spLocks noChangeArrowheads="1"/>
            </p:cNvSpPr>
            <p:nvPr/>
          </p:nvSpPr>
          <p:spPr bwMode="auto">
            <a:xfrm>
              <a:off x="2928926" y="3916924"/>
              <a:ext cx="1571636" cy="369332"/>
            </a:xfrm>
            <a:prstGeom prst="rect">
              <a:avLst/>
            </a:prstGeom>
            <a:gradFill rotWithShape="1">
              <a:gsLst>
                <a:gs pos="0">
                  <a:srgbClr val="92D05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NETWORK</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8" name="矩形 15"/>
            <p:cNvSpPr>
              <a:spLocks noChangeArrowheads="1"/>
            </p:cNvSpPr>
            <p:nvPr/>
          </p:nvSpPr>
          <p:spPr bwMode="auto">
            <a:xfrm>
              <a:off x="1357290" y="4702742"/>
              <a:ext cx="1571636" cy="369332"/>
            </a:xfrm>
            <a:prstGeom prst="rect">
              <a:avLst/>
            </a:prstGeom>
            <a:gradFill rotWithShape="1">
              <a:gsLst>
                <a:gs pos="0">
                  <a:srgbClr val="92D05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NETWORK</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399" name="矩形 17"/>
            <p:cNvSpPr>
              <a:spLocks noChangeArrowheads="1"/>
            </p:cNvSpPr>
            <p:nvPr/>
          </p:nvSpPr>
          <p:spPr bwMode="auto">
            <a:xfrm>
              <a:off x="6072198" y="4702742"/>
              <a:ext cx="1571636" cy="369332"/>
            </a:xfrm>
            <a:prstGeom prst="rect">
              <a:avLst/>
            </a:prstGeom>
            <a:gradFill rotWithShape="1">
              <a:gsLst>
                <a:gs pos="0">
                  <a:srgbClr val="FFC00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HOST</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400" name="矩形 18"/>
            <p:cNvSpPr>
              <a:spLocks noChangeArrowheads="1"/>
            </p:cNvSpPr>
            <p:nvPr/>
          </p:nvSpPr>
          <p:spPr bwMode="auto">
            <a:xfrm>
              <a:off x="2928926" y="4702742"/>
              <a:ext cx="1571636" cy="369332"/>
            </a:xfrm>
            <a:prstGeom prst="rect">
              <a:avLst/>
            </a:prstGeom>
            <a:gradFill rotWithShape="1">
              <a:gsLst>
                <a:gs pos="0">
                  <a:srgbClr val="92D05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NETWORK</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401" name="矩形 19"/>
            <p:cNvSpPr>
              <a:spLocks noChangeArrowheads="1"/>
            </p:cNvSpPr>
            <p:nvPr/>
          </p:nvSpPr>
          <p:spPr bwMode="auto">
            <a:xfrm>
              <a:off x="4500562" y="4702742"/>
              <a:ext cx="1571636" cy="369332"/>
            </a:xfrm>
            <a:prstGeom prst="rect">
              <a:avLst/>
            </a:prstGeom>
            <a:gradFill rotWithShape="1">
              <a:gsLst>
                <a:gs pos="0">
                  <a:srgbClr val="92D050"/>
                </a:gs>
                <a:gs pos="100000">
                  <a:srgbClr val="FFFFFF"/>
                </a:gs>
              </a:gsLst>
              <a:lin ang="5400000" scaled="1"/>
            </a:gradFill>
            <a:ln w="9525" algn="ctr">
              <a:solidFill>
                <a:srgbClr val="008080"/>
              </a:solidFill>
              <a:round/>
            </a:ln>
          </p:spPr>
          <p:txBody>
            <a:bodyPr anchor="ctr">
              <a:spAutoFit/>
            </a:bodyPr>
            <a:lstStyle/>
            <a:p>
              <a:pPr marL="95250" algn="ctr"/>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NETWORK</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6402" name="直接连接符 21"/>
            <p:cNvCxnSpPr>
              <a:cxnSpLocks noChangeShapeType="1"/>
            </p:cNvCxnSpPr>
            <p:nvPr/>
          </p:nvCxnSpPr>
          <p:spPr bwMode="auto">
            <a:xfrm rot="5400000">
              <a:off x="5857884" y="4500570"/>
              <a:ext cx="428628" cy="1588"/>
            </a:xfrm>
            <a:prstGeom prst="line">
              <a:avLst/>
            </a:prstGeom>
            <a:noFill/>
            <a:ln w="25400" algn="ctr">
              <a:solidFill>
                <a:srgbClr val="FF0000"/>
              </a:solidFill>
              <a:round/>
            </a:ln>
          </p:spPr>
        </p:cxnSp>
        <p:cxnSp>
          <p:nvCxnSpPr>
            <p:cNvPr id="16403" name="直接连接符 23"/>
            <p:cNvCxnSpPr>
              <a:cxnSpLocks noChangeShapeType="1"/>
            </p:cNvCxnSpPr>
            <p:nvPr/>
          </p:nvCxnSpPr>
          <p:spPr bwMode="auto">
            <a:xfrm rot="5400000">
              <a:off x="7430314" y="4499776"/>
              <a:ext cx="428628" cy="1588"/>
            </a:xfrm>
            <a:prstGeom prst="line">
              <a:avLst/>
            </a:prstGeom>
            <a:noFill/>
            <a:ln w="25400" algn="ctr">
              <a:solidFill>
                <a:srgbClr val="FF0000"/>
              </a:solidFill>
              <a:round/>
            </a:ln>
          </p:spPr>
        </p:cxnSp>
        <p:cxnSp>
          <p:nvCxnSpPr>
            <p:cNvPr id="16404" name="直接连接符 24"/>
            <p:cNvCxnSpPr>
              <a:cxnSpLocks noChangeShapeType="1"/>
            </p:cNvCxnSpPr>
            <p:nvPr/>
          </p:nvCxnSpPr>
          <p:spPr bwMode="auto">
            <a:xfrm rot="5400000">
              <a:off x="7430314" y="3713958"/>
              <a:ext cx="428628" cy="1588"/>
            </a:xfrm>
            <a:prstGeom prst="line">
              <a:avLst/>
            </a:prstGeom>
            <a:noFill/>
            <a:ln w="25400" algn="ctr">
              <a:solidFill>
                <a:srgbClr val="FF0000"/>
              </a:solidFill>
              <a:round/>
            </a:ln>
          </p:spPr>
        </p:cxnSp>
        <p:cxnSp>
          <p:nvCxnSpPr>
            <p:cNvPr id="16405" name="直接连接符 25"/>
            <p:cNvCxnSpPr>
              <a:cxnSpLocks noChangeShapeType="1"/>
            </p:cNvCxnSpPr>
            <p:nvPr/>
          </p:nvCxnSpPr>
          <p:spPr bwMode="auto">
            <a:xfrm rot="5400000">
              <a:off x="7430314" y="2928140"/>
              <a:ext cx="428628" cy="1588"/>
            </a:xfrm>
            <a:prstGeom prst="line">
              <a:avLst/>
            </a:prstGeom>
            <a:noFill/>
            <a:ln w="25400" algn="ctr">
              <a:solidFill>
                <a:srgbClr val="FF0000"/>
              </a:solidFill>
              <a:round/>
            </a:ln>
          </p:spPr>
        </p:cxnSp>
        <p:cxnSp>
          <p:nvCxnSpPr>
            <p:cNvPr id="16406" name="直接连接符 26"/>
            <p:cNvCxnSpPr>
              <a:cxnSpLocks noChangeShapeType="1"/>
            </p:cNvCxnSpPr>
            <p:nvPr/>
          </p:nvCxnSpPr>
          <p:spPr bwMode="auto">
            <a:xfrm rot="5400000">
              <a:off x="2715406" y="2928140"/>
              <a:ext cx="428628" cy="1588"/>
            </a:xfrm>
            <a:prstGeom prst="line">
              <a:avLst/>
            </a:prstGeom>
            <a:noFill/>
            <a:ln w="25400" algn="ctr">
              <a:solidFill>
                <a:srgbClr val="FF0000"/>
              </a:solidFill>
              <a:round/>
            </a:ln>
          </p:spPr>
        </p:cxnSp>
        <p:cxnSp>
          <p:nvCxnSpPr>
            <p:cNvPr id="16407" name="直接连接符 27"/>
            <p:cNvCxnSpPr>
              <a:cxnSpLocks noChangeShapeType="1"/>
            </p:cNvCxnSpPr>
            <p:nvPr/>
          </p:nvCxnSpPr>
          <p:spPr bwMode="auto">
            <a:xfrm rot="5400000">
              <a:off x="4287042" y="3713958"/>
              <a:ext cx="428628" cy="1588"/>
            </a:xfrm>
            <a:prstGeom prst="line">
              <a:avLst/>
            </a:prstGeom>
            <a:noFill/>
            <a:ln w="25400" algn="ctr">
              <a:solidFill>
                <a:srgbClr val="FF0000"/>
              </a:solidFill>
              <a:round/>
            </a:ln>
          </p:spPr>
        </p:cxnSp>
        <p:cxnSp>
          <p:nvCxnSpPr>
            <p:cNvPr id="16408" name="直接箭头连接符 30"/>
            <p:cNvCxnSpPr>
              <a:cxnSpLocks noChangeShapeType="1"/>
            </p:cNvCxnSpPr>
            <p:nvPr/>
          </p:nvCxnSpPr>
          <p:spPr bwMode="auto">
            <a:xfrm>
              <a:off x="6643702" y="3714752"/>
              <a:ext cx="857256" cy="1588"/>
            </a:xfrm>
            <a:prstGeom prst="straightConnector1">
              <a:avLst/>
            </a:prstGeom>
            <a:noFill/>
            <a:ln w="25400" algn="ctr">
              <a:solidFill>
                <a:srgbClr val="FF0000"/>
              </a:solidFill>
              <a:round/>
              <a:tailEnd type="arrow" w="med" len="med"/>
            </a:ln>
          </p:spPr>
        </p:cxnSp>
        <p:cxnSp>
          <p:nvCxnSpPr>
            <p:cNvPr id="16409" name="直接箭头连接符 31"/>
            <p:cNvCxnSpPr>
              <a:cxnSpLocks noChangeShapeType="1"/>
            </p:cNvCxnSpPr>
            <p:nvPr/>
          </p:nvCxnSpPr>
          <p:spPr bwMode="auto">
            <a:xfrm>
              <a:off x="7143768" y="4500570"/>
              <a:ext cx="357190" cy="1588"/>
            </a:xfrm>
            <a:prstGeom prst="straightConnector1">
              <a:avLst/>
            </a:prstGeom>
            <a:noFill/>
            <a:ln w="25400" algn="ctr">
              <a:solidFill>
                <a:srgbClr val="FF0000"/>
              </a:solidFill>
              <a:round/>
              <a:tailEnd type="arrow" w="med" len="med"/>
            </a:ln>
          </p:spPr>
        </p:cxnSp>
        <p:cxnSp>
          <p:nvCxnSpPr>
            <p:cNvPr id="16410" name="直接箭头连接符 35"/>
            <p:cNvCxnSpPr>
              <a:cxnSpLocks noChangeShapeType="1"/>
            </p:cNvCxnSpPr>
            <p:nvPr/>
          </p:nvCxnSpPr>
          <p:spPr bwMode="auto">
            <a:xfrm rot="10800000">
              <a:off x="3143240" y="2927345"/>
              <a:ext cx="1571636" cy="1588"/>
            </a:xfrm>
            <a:prstGeom prst="straightConnector1">
              <a:avLst/>
            </a:prstGeom>
            <a:noFill/>
            <a:ln w="25400" algn="ctr">
              <a:solidFill>
                <a:srgbClr val="FF0000"/>
              </a:solidFill>
              <a:round/>
              <a:tailEnd type="arrow" w="med" len="med"/>
            </a:ln>
          </p:spPr>
        </p:cxnSp>
        <p:sp>
          <p:nvSpPr>
            <p:cNvPr id="16411" name="TextBox 41"/>
            <p:cNvSpPr txBox="1">
              <a:spLocks noChangeArrowheads="1"/>
            </p:cNvSpPr>
            <p:nvPr/>
          </p:nvSpPr>
          <p:spPr bwMode="auto">
            <a:xfrm>
              <a:off x="1357290" y="2714620"/>
              <a:ext cx="1357322" cy="369332"/>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Class  A</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6412" name="直接箭头连接符 45"/>
            <p:cNvCxnSpPr>
              <a:cxnSpLocks noChangeShapeType="1"/>
            </p:cNvCxnSpPr>
            <p:nvPr/>
          </p:nvCxnSpPr>
          <p:spPr bwMode="auto">
            <a:xfrm>
              <a:off x="5929322" y="2928934"/>
              <a:ext cx="1571636" cy="1588"/>
            </a:xfrm>
            <a:prstGeom prst="straightConnector1">
              <a:avLst/>
            </a:prstGeom>
            <a:noFill/>
            <a:ln w="25400" algn="ctr">
              <a:solidFill>
                <a:srgbClr val="FF0000"/>
              </a:solidFill>
              <a:round/>
              <a:tailEnd type="arrow" w="med" len="med"/>
            </a:ln>
          </p:spPr>
        </p:cxnSp>
        <p:sp>
          <p:nvSpPr>
            <p:cNvPr id="16413" name="TextBox 47"/>
            <p:cNvSpPr txBox="1">
              <a:spLocks noChangeArrowheads="1"/>
            </p:cNvSpPr>
            <p:nvPr/>
          </p:nvSpPr>
          <p:spPr bwMode="auto">
            <a:xfrm>
              <a:off x="5643570" y="3559734"/>
              <a:ext cx="928694" cy="369332"/>
            </a:xfrm>
            <a:prstGeom prst="rect">
              <a:avLst/>
            </a:prstGeom>
            <a:noFill/>
            <a:ln w="9525">
              <a:noFill/>
              <a:miter lim="800000"/>
            </a:ln>
          </p:spPr>
          <p:txBody>
            <a:bodyPr>
              <a:spAutoFit/>
            </a:bodyPr>
            <a:lstStyle/>
            <a:p>
              <a:r>
                <a:rPr lang="en-US" altLang="zh-CN" b="1">
                  <a:solidFill>
                    <a:srgbClr val="FF0000"/>
                  </a:solidFill>
                  <a:latin typeface="Arial" panose="020B0604020202020204" pitchFamily="34" charset="0"/>
                  <a:ea typeface="微软雅黑" panose="020B0503020204020204" pitchFamily="34" charset="-122"/>
                  <a:cs typeface="Arial" panose="020B0604020202020204" pitchFamily="34" charset="0"/>
                </a:rPr>
                <a:t>16bits</a:t>
              </a:r>
              <a:endParaRPr lang="zh-CN" altLang="en-US" b="1">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6414" name="直接箭头连接符 49"/>
            <p:cNvCxnSpPr>
              <a:cxnSpLocks noChangeShapeType="1"/>
            </p:cNvCxnSpPr>
            <p:nvPr/>
          </p:nvCxnSpPr>
          <p:spPr bwMode="auto">
            <a:xfrm rot="10800000">
              <a:off x="4572000" y="3714752"/>
              <a:ext cx="1000132" cy="1588"/>
            </a:xfrm>
            <a:prstGeom prst="straightConnector1">
              <a:avLst/>
            </a:prstGeom>
            <a:noFill/>
            <a:ln w="25400" algn="ctr">
              <a:solidFill>
                <a:srgbClr val="FF0000"/>
              </a:solidFill>
              <a:round/>
              <a:tailEnd type="arrow" w="med" len="med"/>
            </a:ln>
          </p:spPr>
        </p:cxnSp>
        <p:sp>
          <p:nvSpPr>
            <p:cNvPr id="16415" name="TextBox 52"/>
            <p:cNvSpPr txBox="1">
              <a:spLocks noChangeArrowheads="1"/>
            </p:cNvSpPr>
            <p:nvPr/>
          </p:nvSpPr>
          <p:spPr bwMode="auto">
            <a:xfrm>
              <a:off x="6429388" y="4345552"/>
              <a:ext cx="928694" cy="369332"/>
            </a:xfrm>
            <a:prstGeom prst="rect">
              <a:avLst/>
            </a:prstGeom>
            <a:noFill/>
            <a:ln w="9525">
              <a:noFill/>
              <a:miter lim="800000"/>
            </a:ln>
          </p:spPr>
          <p:txBody>
            <a:bodyPr>
              <a:spAutoFit/>
            </a:bodyPr>
            <a:lstStyle/>
            <a:p>
              <a:r>
                <a:rPr lang="en-US" altLang="zh-CN" b="1">
                  <a:solidFill>
                    <a:srgbClr val="FF0000"/>
                  </a:solidFill>
                  <a:latin typeface="Arial" panose="020B0604020202020204" pitchFamily="34" charset="0"/>
                  <a:ea typeface="微软雅黑" panose="020B0503020204020204" pitchFamily="34" charset="-122"/>
                  <a:cs typeface="Arial" panose="020B0604020202020204" pitchFamily="34" charset="0"/>
                </a:rPr>
                <a:t>8bits</a:t>
              </a:r>
              <a:endParaRPr lang="zh-CN" altLang="en-US" b="1">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16416" name="直接箭头连接符 53"/>
            <p:cNvCxnSpPr>
              <a:cxnSpLocks noChangeShapeType="1"/>
            </p:cNvCxnSpPr>
            <p:nvPr/>
          </p:nvCxnSpPr>
          <p:spPr bwMode="auto">
            <a:xfrm rot="10800000">
              <a:off x="6072199" y="4500570"/>
              <a:ext cx="357190" cy="1588"/>
            </a:xfrm>
            <a:prstGeom prst="straightConnector1">
              <a:avLst/>
            </a:prstGeom>
            <a:noFill/>
            <a:ln w="25400" algn="ctr">
              <a:solidFill>
                <a:srgbClr val="FF0000"/>
              </a:solidFill>
              <a:round/>
              <a:tailEnd type="arrow" w="med" len="med"/>
            </a:ln>
          </p:spPr>
        </p:cxnSp>
        <p:sp>
          <p:nvSpPr>
            <p:cNvPr id="16417" name="TextBox 56"/>
            <p:cNvSpPr txBox="1">
              <a:spLocks noChangeArrowheads="1"/>
            </p:cNvSpPr>
            <p:nvPr/>
          </p:nvSpPr>
          <p:spPr bwMode="auto">
            <a:xfrm>
              <a:off x="1357290" y="3500438"/>
              <a:ext cx="1357322" cy="369332"/>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Class  B</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418" name="TextBox 57"/>
            <p:cNvSpPr txBox="1">
              <a:spLocks noChangeArrowheads="1"/>
            </p:cNvSpPr>
            <p:nvPr/>
          </p:nvSpPr>
          <p:spPr bwMode="auto">
            <a:xfrm>
              <a:off x="1357290" y="4286256"/>
              <a:ext cx="1357322" cy="369332"/>
            </a:xfrm>
            <a:prstGeom prst="rect">
              <a:avLst/>
            </a:prstGeom>
            <a:noFill/>
            <a:ln w="9525">
              <a:noFill/>
              <a:miter lim="800000"/>
            </a:ln>
          </p:spPr>
          <p:txBody>
            <a:bodyPr>
              <a:spAutoFit/>
            </a:bodyPr>
            <a:lstStyle/>
            <a:p>
              <a:r>
                <a:rPr lang="en-US" altLang="zh-CN" b="1">
                  <a:solidFill>
                    <a:schemeClr val="tx2"/>
                  </a:solidFill>
                  <a:latin typeface="Arial" panose="020B0604020202020204" pitchFamily="34" charset="0"/>
                  <a:ea typeface="微软雅黑" panose="020B0503020204020204" pitchFamily="34" charset="-122"/>
                  <a:cs typeface="Arial" panose="020B0604020202020204" pitchFamily="34" charset="0"/>
                </a:rPr>
                <a:t>Class  C</a:t>
              </a:r>
              <a:endParaRPr lang="zh-CN" altLang="en-US"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419" name="TextBox 59"/>
            <p:cNvSpPr txBox="1">
              <a:spLocks noChangeArrowheads="1"/>
            </p:cNvSpPr>
            <p:nvPr/>
          </p:nvSpPr>
          <p:spPr bwMode="auto">
            <a:xfrm>
              <a:off x="4857752" y="2714620"/>
              <a:ext cx="928694" cy="369332"/>
            </a:xfrm>
            <a:prstGeom prst="rect">
              <a:avLst/>
            </a:prstGeom>
            <a:noFill/>
            <a:ln w="9525">
              <a:noFill/>
              <a:miter lim="800000"/>
            </a:ln>
          </p:spPr>
          <p:txBody>
            <a:bodyPr>
              <a:spAutoFit/>
            </a:bodyPr>
            <a:lstStyle/>
            <a:p>
              <a:r>
                <a:rPr lang="en-US" altLang="zh-CN" b="1">
                  <a:solidFill>
                    <a:srgbClr val="FF0000"/>
                  </a:solidFill>
                  <a:latin typeface="Arial" panose="020B0604020202020204" pitchFamily="34" charset="0"/>
                  <a:ea typeface="微软雅黑" panose="020B0503020204020204" pitchFamily="34" charset="-122"/>
                  <a:cs typeface="Arial" panose="020B0604020202020204" pitchFamily="34" charset="0"/>
                </a:rPr>
                <a:t>24bits</a:t>
              </a:r>
              <a:endParaRPr lang="zh-CN" altLang="en-US" b="1">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6" name="AutoShape 4"/>
          <p:cNvSpPr>
            <a:spLocks noChangeArrowheads="1"/>
          </p:cNvSpPr>
          <p:nvPr>
            <p:custDataLst>
              <p:tags r:id="rId1"/>
            </p:custDataLst>
          </p:nvPr>
        </p:nvSpPr>
        <p:spPr bwMode="auto">
          <a:xfrm>
            <a:off x="2823210" y="5347970"/>
            <a:ext cx="3940175" cy="459740"/>
          </a:xfrm>
          <a:prstGeom prst="wedgeRoundRectCallout">
            <a:avLst>
              <a:gd name="adj1" fmla="val 28876"/>
              <a:gd name="adj2" fmla="val -51353"/>
              <a:gd name="adj3" fmla="val 16667"/>
            </a:avLst>
          </a:prstGeom>
          <a:solidFill>
            <a:srgbClr val="FFE9A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600" dirty="0">
                <a:solidFill>
                  <a:srgbClr val="000E3A"/>
                </a:solidFill>
                <a:uFillTx/>
                <a:latin typeface="微软雅黑" panose="020B0503020204020204" pitchFamily="34" charset="-122"/>
                <a:ea typeface="微软雅黑" panose="020B0503020204020204" pitchFamily="34" charset="-122"/>
                <a:sym typeface="+mn-ea"/>
              </a:rPr>
              <a:t> D 类和 E 类不划分网络部分和主机部分</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9</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ppt_w*0.7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标题 2"/>
          <p:cNvSpPr>
            <a:spLocks noGrp="1"/>
          </p:cNvSpPr>
          <p:nvPr>
            <p:ph type="title"/>
          </p:nvPr>
        </p:nvSpPr>
        <p:spPr/>
        <p:txBody>
          <a:bodyPr/>
          <a:lstStyle/>
          <a:p>
            <a:r>
              <a:rPr lang="zh-CN" altLang="en-US" dirty="0">
                <a:sym typeface="+mn-ea"/>
              </a:rPr>
              <a:t>子网划分基础</a:t>
            </a:r>
            <a:endParaRPr lang="en-US" altLang="zh-CN"/>
          </a:p>
        </p:txBody>
      </p:sp>
      <p:sp>
        <p:nvSpPr>
          <p:cNvPr id="17410" name="内容占位符 1"/>
          <p:cNvSpPr>
            <a:spLocks noGrp="1"/>
          </p:cNvSpPr>
          <p:nvPr>
            <p:ph idx="1"/>
          </p:nvPr>
        </p:nvSpPr>
        <p:spPr/>
        <p:txBody>
          <a:bodyPr/>
          <a:lstStyle/>
          <a:p>
            <a:r>
              <a:rPr lang="en-US" altLang="zh-CN">
                <a:sym typeface="+mn-ea"/>
              </a:rPr>
              <a:t>IP</a:t>
            </a:r>
            <a:r>
              <a:rPr lang="zh-CN">
                <a:sym typeface="+mn-ea"/>
              </a:rPr>
              <a:t>地址的分类</a:t>
            </a:r>
            <a:r>
              <a:rPr lang="en-US" altLang="zh-CN">
                <a:sym typeface="+mn-ea"/>
              </a:rPr>
              <a:t>3-3</a:t>
            </a:r>
            <a:endParaRPr lang="zh-CN" altLang="en-US"/>
          </a:p>
          <a:p>
            <a:pPr lvl="1"/>
            <a:r>
              <a:rPr lang="zh-CN" altLang="en-US"/>
              <a:t> Internet上的合法IP地址</a:t>
            </a:r>
          </a:p>
          <a:p>
            <a:pPr lvl="2"/>
            <a:r>
              <a:rPr lang="zh-CN" altLang="en-US"/>
              <a:t>目前 Internet 上只使用A 、B 、C这3类地址</a:t>
            </a:r>
          </a:p>
          <a:p>
            <a:pPr lvl="2"/>
            <a:r>
              <a:rPr lang="zh-CN" altLang="en-US" dirty="0">
                <a:solidFill>
                  <a:srgbClr val="000E3A"/>
                </a:solidFill>
                <a:uFillTx/>
                <a:sym typeface="+mn-ea"/>
              </a:rPr>
              <a:t>D、E 类地址分别用于组播通信和科学研究，不能在</a:t>
            </a:r>
            <a:r>
              <a:rPr lang="zh-CN" altLang="en-US">
                <a:sym typeface="+mn-ea"/>
              </a:rPr>
              <a:t>Internet上使用</a:t>
            </a:r>
            <a:endParaRPr lang="zh-CN" altLang="en-US" dirty="0">
              <a:solidFill>
                <a:srgbClr val="000E3A"/>
              </a:solidFill>
              <a:uFillTx/>
              <a:latin typeface="微软雅黑" panose="020B0503020204020204" pitchFamily="34" charset="-122"/>
              <a:ea typeface="微软雅黑" panose="020B0503020204020204" pitchFamily="34" charset="-122"/>
              <a:sym typeface="+mn-ea"/>
            </a:endParaRPr>
          </a:p>
          <a:p>
            <a:pPr lvl="1"/>
            <a:r>
              <a:rPr lang="zh-CN" altLang="en-US"/>
              <a:t>私有地址</a:t>
            </a:r>
          </a:p>
          <a:p>
            <a:pPr lvl="2"/>
            <a:r>
              <a:rPr lang="zh-CN" altLang="en-US"/>
              <a:t> A 、B 、C 三类地址中分别划出一部分地址</a:t>
            </a:r>
            <a:r>
              <a:rPr lang="zh-CN"/>
              <a:t>，用于</a:t>
            </a:r>
            <a:r>
              <a:rPr lang="zh-CN" altLang="en-US"/>
              <a:t>企业内部网络 </a:t>
            </a:r>
          </a:p>
          <a:p>
            <a:pPr lvl="2"/>
            <a:r>
              <a:rPr lang="zh-CN" altLang="en-US"/>
              <a:t>私有地址不能在</a:t>
            </a:r>
            <a:r>
              <a:rPr lang="en-US" altLang="zh-CN"/>
              <a:t>Internet</a:t>
            </a:r>
            <a:r>
              <a:rPr lang="zh-CN" altLang="en-US"/>
              <a:t>上使用 </a:t>
            </a:r>
          </a:p>
          <a:p>
            <a:pPr lvl="3"/>
            <a:r>
              <a:rPr lang="en-US" altLang="zh-CN"/>
              <a:t>A</a:t>
            </a:r>
            <a:r>
              <a:rPr lang="zh-CN" altLang="en-US"/>
              <a:t>类：</a:t>
            </a:r>
            <a:r>
              <a:rPr lang="en-US" altLang="zh-CN"/>
              <a:t>10.0.0.0~10.255.255.255</a:t>
            </a:r>
          </a:p>
          <a:p>
            <a:pPr lvl="3"/>
            <a:r>
              <a:rPr lang="en-US" altLang="zh-CN"/>
              <a:t>B</a:t>
            </a:r>
            <a:r>
              <a:rPr lang="zh-CN" altLang="en-US"/>
              <a:t>类：</a:t>
            </a:r>
            <a:r>
              <a:rPr lang="en-US" altLang="zh-CN"/>
              <a:t>172.16.0.0~172.31.255.255 </a:t>
            </a:r>
          </a:p>
          <a:p>
            <a:pPr lvl="3"/>
            <a:r>
              <a:rPr lang="en-US" altLang="zh-CN"/>
              <a:t>C</a:t>
            </a:r>
            <a:r>
              <a:rPr lang="zh-CN" altLang="en-US"/>
              <a:t>类：</a:t>
            </a:r>
            <a:r>
              <a:rPr lang="en-US" altLang="zh-CN"/>
              <a:t>192.168.0.0~192.168.255.255 </a:t>
            </a:r>
          </a:p>
          <a:p>
            <a:endParaRPr lang="en-US" altLang="zh-CN"/>
          </a:p>
        </p:txBody>
      </p:sp>
      <p:sp>
        <p:nvSpPr>
          <p:cNvPr id="6" name="AutoShape 4"/>
          <p:cNvSpPr>
            <a:spLocks noChangeArrowheads="1"/>
          </p:cNvSpPr>
          <p:nvPr>
            <p:custDataLst>
              <p:tags r:id="rId1"/>
            </p:custDataLst>
          </p:nvPr>
        </p:nvSpPr>
        <p:spPr bwMode="auto">
          <a:xfrm>
            <a:off x="1974850" y="4796790"/>
            <a:ext cx="5193665" cy="1303020"/>
          </a:xfrm>
          <a:prstGeom prst="wedgeRoundRectCallout">
            <a:avLst>
              <a:gd name="adj1" fmla="val 28876"/>
              <a:gd name="adj2" fmla="val -51353"/>
              <a:gd name="adj3" fmla="val 16667"/>
            </a:avLst>
          </a:prstGeom>
          <a:solidFill>
            <a:srgbClr val="FFE9A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altLang="en-US" sz="1600" dirty="0">
                <a:solidFill>
                  <a:srgbClr val="000E3A"/>
                </a:solidFill>
                <a:uFillTx/>
                <a:latin typeface="微软雅黑" panose="020B0503020204020204" pitchFamily="34" charset="-122"/>
                <a:ea typeface="微软雅黑" panose="020B0503020204020204" pitchFamily="34" charset="-122"/>
                <a:sym typeface="+mn-ea"/>
              </a:rPr>
              <a:t>注意啦：</a:t>
            </a:r>
          </a:p>
          <a:p>
            <a:pPr lvl="0" algn="l">
              <a:buClrTx/>
              <a:buSzTx/>
              <a:buFontTx/>
            </a:pPr>
            <a:r>
              <a:rPr lang="zh-CN" altLang="en-US" sz="1600" dirty="0">
                <a:solidFill>
                  <a:srgbClr val="000E3A"/>
                </a:solidFill>
                <a:uFillTx/>
                <a:latin typeface="微软雅黑" panose="020B0503020204020204" pitchFamily="34" charset="-122"/>
                <a:ea typeface="微软雅黑" panose="020B0503020204020204" pitchFamily="34" charset="-122"/>
                <a:sym typeface="+mn-ea"/>
              </a:rPr>
              <a:t>D 类地址是用于组播通信的地址， E 类地址是用于科学研究的保留地址，它们都不能在互联网上作为节点地址使用</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10</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ppt_w*0.7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标题 2"/>
          <p:cNvSpPr>
            <a:spLocks noGrp="1"/>
          </p:cNvSpPr>
          <p:nvPr>
            <p:ph type="title"/>
          </p:nvPr>
        </p:nvSpPr>
        <p:spPr/>
        <p:txBody>
          <a:bodyPr/>
          <a:lstStyle/>
          <a:p>
            <a:r>
              <a:rPr lang="zh-CN" altLang="en-US" dirty="0">
                <a:sym typeface="+mn-ea"/>
              </a:rPr>
              <a:t>子网划分基础</a:t>
            </a:r>
            <a:endParaRPr lang="en-US" altLang="zh-CN"/>
          </a:p>
        </p:txBody>
      </p:sp>
      <p:sp>
        <p:nvSpPr>
          <p:cNvPr id="17410" name="内容占位符 1"/>
          <p:cNvSpPr>
            <a:spLocks noGrp="1"/>
          </p:cNvSpPr>
          <p:nvPr>
            <p:ph idx="1"/>
          </p:nvPr>
        </p:nvSpPr>
        <p:spPr/>
        <p:txBody>
          <a:bodyPr/>
          <a:lstStyle/>
          <a:p>
            <a:r>
              <a:rPr lang="zh-CN" altLang="en-US">
                <a:sym typeface="+mn-ea"/>
              </a:rPr>
              <a:t>子网掩码</a:t>
            </a:r>
            <a:r>
              <a:rPr lang="en-US" altLang="zh-CN">
                <a:sym typeface="+mn-ea"/>
              </a:rPr>
              <a:t>2-1</a:t>
            </a:r>
            <a:endParaRPr lang="en-US" altLang="zh-CN"/>
          </a:p>
          <a:p>
            <a:pPr lvl="1"/>
            <a:r>
              <a:rPr lang="en-US" altLang="zh-CN"/>
              <a:t>32</a:t>
            </a:r>
            <a:r>
              <a:rPr lang="zh-CN" altLang="en-US"/>
              <a:t>个二进制位</a:t>
            </a:r>
          </a:p>
          <a:p>
            <a:pPr lvl="2"/>
            <a:r>
              <a:rPr lang="zh-CN" altLang="en-US"/>
              <a:t>对应</a:t>
            </a:r>
            <a:r>
              <a:rPr lang="en-US" altLang="zh-CN"/>
              <a:t>IP</a:t>
            </a:r>
            <a:r>
              <a:rPr lang="zh-CN" altLang="en-US"/>
              <a:t>地址的网络部分用</a:t>
            </a:r>
            <a:r>
              <a:rPr lang="en-US" altLang="zh-CN"/>
              <a:t>1</a:t>
            </a:r>
            <a:r>
              <a:rPr lang="zh-CN" altLang="en-US"/>
              <a:t>表示 </a:t>
            </a:r>
          </a:p>
          <a:p>
            <a:pPr lvl="2"/>
            <a:r>
              <a:rPr lang="zh-CN" altLang="en-US"/>
              <a:t>对应</a:t>
            </a:r>
            <a:r>
              <a:rPr lang="en-US" altLang="zh-CN"/>
              <a:t>IP</a:t>
            </a:r>
            <a:r>
              <a:rPr lang="zh-CN" altLang="en-US"/>
              <a:t>地址的主机部分用</a:t>
            </a:r>
            <a:r>
              <a:rPr lang="en-US" altLang="zh-CN"/>
              <a:t>0</a:t>
            </a:r>
            <a:r>
              <a:rPr lang="zh-CN" altLang="en-US"/>
              <a:t>表示 </a:t>
            </a:r>
          </a:p>
          <a:p>
            <a:pPr lvl="1"/>
            <a:r>
              <a:rPr lang="en-US" altLang="zh-CN"/>
              <a:t>IP</a:t>
            </a:r>
            <a:r>
              <a:rPr lang="zh-CN" altLang="en-US"/>
              <a:t>地址和子网掩码作“逻辑与”运算得到网络地址</a:t>
            </a:r>
          </a:p>
          <a:p>
            <a:pPr lvl="2"/>
            <a:r>
              <a:rPr lang="en-US" altLang="zh-CN"/>
              <a:t>0</a:t>
            </a:r>
            <a:r>
              <a:rPr lang="zh-CN" altLang="en-US"/>
              <a:t>和任何数相与都等于</a:t>
            </a:r>
            <a:r>
              <a:rPr lang="en-US" altLang="zh-CN"/>
              <a:t>0</a:t>
            </a:r>
          </a:p>
          <a:p>
            <a:pPr lvl="2"/>
            <a:r>
              <a:rPr lang="en-US" altLang="zh-CN"/>
              <a:t>1</a:t>
            </a:r>
            <a:r>
              <a:rPr lang="zh-CN" altLang="en-US"/>
              <a:t>和任何数相与都等于任何数本身 </a:t>
            </a:r>
          </a:p>
          <a:p>
            <a:endParaRPr lang="zh-CN" altLang="en-US"/>
          </a:p>
        </p:txBody>
      </p:sp>
      <p:pic>
        <p:nvPicPr>
          <p:cNvPr id="4" name="Picture 4" descr="ip"/>
          <p:cNvPicPr>
            <a:picLocks noChangeAspect="1" noChangeArrowheads="1"/>
          </p:cNvPicPr>
          <p:nvPr/>
        </p:nvPicPr>
        <p:blipFill>
          <a:blip r:embed="rId2"/>
          <a:srcRect/>
          <a:stretch>
            <a:fillRect/>
          </a:stretch>
        </p:blipFill>
        <p:spPr bwMode="auto">
          <a:xfrm>
            <a:off x="1566227" y="3788886"/>
            <a:ext cx="6013017" cy="1514157"/>
          </a:xfrm>
          <a:prstGeom prst="rect">
            <a:avLst/>
          </a:prstGeom>
          <a:noFill/>
          <a:ln w="9525">
            <a:noFill/>
            <a:miter lim="800000"/>
            <a:headEnd/>
            <a:tailEnd/>
          </a:ln>
        </p:spPr>
      </p:pic>
      <p:sp>
        <p:nvSpPr>
          <p:cNvPr id="2" name="灯片编号占位符 1"/>
          <p:cNvSpPr>
            <a:spLocks noGrp="1"/>
          </p:cNvSpPr>
          <p:nvPr>
            <p:ph type="sldNum" sz="quarter" idx="12"/>
          </p:nvPr>
        </p:nvSpPr>
        <p:spPr/>
        <p:txBody>
          <a:bodyPr/>
          <a:lstStyle/>
          <a:p>
            <a:fld id="{0C913308-F349-4B6D-A68A-DD1791B4A57B}" type="slidenum">
              <a:rPr lang="zh-CN" altLang="en-US" smtClean="0"/>
              <a:t>11</a:t>
            </a:fld>
            <a:r>
              <a:rPr lang="en-US" altLang="zh-CN" dirty="0"/>
              <a:t>/45</a:t>
            </a: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标题 2"/>
          <p:cNvSpPr>
            <a:spLocks noGrp="1"/>
          </p:cNvSpPr>
          <p:nvPr>
            <p:ph type="title"/>
          </p:nvPr>
        </p:nvSpPr>
        <p:spPr/>
        <p:txBody>
          <a:bodyPr/>
          <a:lstStyle/>
          <a:p>
            <a:r>
              <a:rPr lang="zh-CN" altLang="en-US" dirty="0">
                <a:sym typeface="+mn-ea"/>
              </a:rPr>
              <a:t>子网划分基础</a:t>
            </a:r>
            <a:endParaRPr lang="en-US" altLang="zh-CN"/>
          </a:p>
        </p:txBody>
      </p:sp>
      <p:sp>
        <p:nvSpPr>
          <p:cNvPr id="19458" name="内容占位符 1"/>
          <p:cNvSpPr>
            <a:spLocks noGrp="1"/>
          </p:cNvSpPr>
          <p:nvPr>
            <p:ph idx="1"/>
          </p:nvPr>
        </p:nvSpPr>
        <p:spPr/>
        <p:txBody>
          <a:bodyPr/>
          <a:lstStyle/>
          <a:p>
            <a:r>
              <a:rPr lang="zh-CN">
                <a:sym typeface="+mn-ea"/>
              </a:rPr>
              <a:t>子网掩码</a:t>
            </a:r>
            <a:r>
              <a:rPr lang="en-US" altLang="zh-CN">
                <a:sym typeface="+mn-ea"/>
              </a:rPr>
              <a:t>2-2</a:t>
            </a:r>
            <a:endParaRPr lang="zh-CN" altLang="en-US"/>
          </a:p>
          <a:p>
            <a:pPr lvl="1"/>
            <a:r>
              <a:rPr lang="zh-CN" altLang="en-US"/>
              <a:t>网络中不同主机之间通信</a:t>
            </a:r>
            <a:endParaRPr lang="en-US" altLang="zh-CN"/>
          </a:p>
          <a:p>
            <a:pPr lvl="2"/>
            <a:r>
              <a:rPr lang="zh-CN" altLang="en-US"/>
              <a:t>同网段主机之间的通信，将数据直接发送给另一台主机</a:t>
            </a:r>
          </a:p>
          <a:p>
            <a:pPr lvl="3"/>
            <a:r>
              <a:rPr lang="zh-CN" altLang="en-US"/>
              <a:t>源主机的网络地址</a:t>
            </a:r>
            <a:r>
              <a:rPr lang="en-US" altLang="zh-CN"/>
              <a:t> </a:t>
            </a:r>
            <a:r>
              <a:rPr lang="en-US" altLang="zh-CN" b="1">
                <a:solidFill>
                  <a:srgbClr val="FF0000"/>
                </a:solidFill>
              </a:rPr>
              <a:t>=</a:t>
            </a:r>
            <a:r>
              <a:rPr lang="en-US" altLang="zh-CN" b="1"/>
              <a:t> </a:t>
            </a:r>
            <a:r>
              <a:rPr lang="zh-CN" altLang="en-US"/>
              <a:t>目标主机的网络地址</a:t>
            </a:r>
          </a:p>
          <a:p>
            <a:pPr lvl="2"/>
            <a:r>
              <a:rPr lang="zh-CN" altLang="en-US"/>
              <a:t>不同网段主机之间的通信，将数据发送给网关进行转发</a:t>
            </a:r>
          </a:p>
          <a:p>
            <a:pPr lvl="3"/>
            <a:r>
              <a:rPr lang="zh-CN" altLang="en-US"/>
              <a:t>源主机的网络地址</a:t>
            </a:r>
            <a:r>
              <a:rPr lang="en-US" altLang="zh-CN"/>
              <a:t> </a:t>
            </a:r>
            <a:r>
              <a:rPr lang="zh-CN" altLang="en-US" b="1">
                <a:solidFill>
                  <a:srgbClr val="FF0000"/>
                </a:solidFill>
              </a:rPr>
              <a:t>≠</a:t>
            </a:r>
            <a:r>
              <a:rPr lang="en-US" altLang="zh-CN" b="1"/>
              <a:t> </a:t>
            </a:r>
            <a:r>
              <a:rPr lang="zh-CN" altLang="en-US"/>
              <a:t>目标主机的网络地址</a:t>
            </a:r>
          </a:p>
          <a:p>
            <a:pPr lvl="2"/>
            <a:r>
              <a:rPr lang="zh-CN" altLang="en-US"/>
              <a:t>子网掩码（</a:t>
            </a:r>
            <a:r>
              <a:rPr lang="en-US" altLang="zh-CN"/>
              <a:t>Netmask</a:t>
            </a:r>
            <a:r>
              <a:rPr lang="zh-CN" altLang="en-US"/>
              <a:t>）可区分</a:t>
            </a:r>
            <a:r>
              <a:rPr lang="en-US" altLang="zh-CN"/>
              <a:t>IP</a:t>
            </a:r>
            <a:r>
              <a:rPr lang="zh-CN" altLang="en-US"/>
              <a:t>地址的网络地址部分</a:t>
            </a:r>
          </a:p>
          <a:p>
            <a:pPr lvl="1"/>
            <a:r>
              <a:rPr lang="en-US" altLang="zh-CN"/>
              <a:t>A</a:t>
            </a:r>
            <a:r>
              <a:rPr lang="zh-CN" altLang="en-US"/>
              <a:t>、</a:t>
            </a:r>
            <a:r>
              <a:rPr lang="en-US" altLang="zh-CN"/>
              <a:t>B</a:t>
            </a:r>
            <a:r>
              <a:rPr lang="zh-CN" altLang="en-US"/>
              <a:t>、</a:t>
            </a:r>
            <a:r>
              <a:rPr lang="en-US" altLang="zh-CN"/>
              <a:t>C</a:t>
            </a:r>
            <a:r>
              <a:rPr lang="zh-CN" altLang="en-US"/>
              <a:t>三类地址的默认子网掩码</a:t>
            </a:r>
          </a:p>
          <a:p>
            <a:pPr lvl="2"/>
            <a:r>
              <a:rPr lang="en-US" altLang="zh-CN"/>
              <a:t>A</a:t>
            </a:r>
            <a:r>
              <a:rPr lang="zh-CN" altLang="en-US"/>
              <a:t>类：</a:t>
            </a:r>
            <a:r>
              <a:rPr lang="en-US" altLang="zh-CN"/>
              <a:t>255.0.0.0</a:t>
            </a:r>
          </a:p>
          <a:p>
            <a:pPr lvl="2"/>
            <a:r>
              <a:rPr lang="en-US" altLang="zh-CN"/>
              <a:t>B</a:t>
            </a:r>
            <a:r>
              <a:rPr lang="zh-CN" altLang="en-US"/>
              <a:t>类：</a:t>
            </a:r>
            <a:r>
              <a:rPr lang="en-US" altLang="zh-CN"/>
              <a:t>255.255.0.0</a:t>
            </a:r>
          </a:p>
          <a:p>
            <a:pPr lvl="2"/>
            <a:r>
              <a:rPr lang="en-US" altLang="zh-CN"/>
              <a:t>C</a:t>
            </a:r>
            <a:r>
              <a:rPr lang="zh-CN" altLang="en-US"/>
              <a:t>类：</a:t>
            </a:r>
            <a:r>
              <a:rPr lang="en-US" altLang="zh-CN"/>
              <a:t>255.255.255.0</a:t>
            </a:r>
          </a:p>
          <a:p>
            <a:endParaRPr lang="en-US"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12</a:t>
            </a:fld>
            <a:r>
              <a:rPr lang="en-US" altLang="zh-CN" dirty="0"/>
              <a:t>/45</a:t>
            </a:r>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标题 2"/>
          <p:cNvSpPr>
            <a:spLocks noGrp="1"/>
          </p:cNvSpPr>
          <p:nvPr>
            <p:ph type="title"/>
          </p:nvPr>
        </p:nvSpPr>
        <p:spPr/>
        <p:txBody>
          <a:bodyPr/>
          <a:lstStyle/>
          <a:p>
            <a:r>
              <a:rPr lang="zh-CN" altLang="en-US" dirty="0">
                <a:sym typeface="+mn-ea"/>
              </a:rPr>
              <a:t>子网划分基础</a:t>
            </a:r>
            <a:endParaRPr lang="zh-CN" altLang="en-US"/>
          </a:p>
        </p:txBody>
      </p:sp>
      <p:sp>
        <p:nvSpPr>
          <p:cNvPr id="20482" name="内容占位符 1"/>
          <p:cNvSpPr>
            <a:spLocks noGrp="1"/>
          </p:cNvSpPr>
          <p:nvPr>
            <p:ph idx="1"/>
          </p:nvPr>
        </p:nvSpPr>
        <p:spPr/>
        <p:txBody>
          <a:bodyPr/>
          <a:lstStyle/>
          <a:p>
            <a:r>
              <a:rPr lang="zh-CN">
                <a:sym typeface="+mn-ea"/>
              </a:rPr>
              <a:t>子网划分的原因</a:t>
            </a:r>
            <a:endParaRPr lang="zh-CN" altLang="en-US"/>
          </a:p>
          <a:p>
            <a:pPr lvl="1"/>
            <a:r>
              <a:rPr lang="zh-CN" altLang="en-US"/>
              <a:t>满足不同网络对</a:t>
            </a:r>
            <a:r>
              <a:rPr lang="en-US" altLang="zh-CN"/>
              <a:t>IP</a:t>
            </a:r>
            <a:r>
              <a:rPr lang="zh-CN" altLang="en-US"/>
              <a:t>地址的需求 </a:t>
            </a:r>
          </a:p>
          <a:p>
            <a:pPr lvl="1"/>
            <a:r>
              <a:rPr lang="zh-CN" altLang="en-US"/>
              <a:t>实现网络的层次性</a:t>
            </a:r>
            <a:endParaRPr lang="en-US" altLang="zh-CN"/>
          </a:p>
          <a:p>
            <a:pPr lvl="1"/>
            <a:r>
              <a:rPr lang="zh-CN" altLang="en-US"/>
              <a:t>节省</a:t>
            </a:r>
            <a:r>
              <a:rPr lang="en-US" altLang="zh-CN"/>
              <a:t>IP</a:t>
            </a:r>
            <a:r>
              <a:rPr lang="zh-CN" altLang="en-US"/>
              <a:t>地址</a:t>
            </a:r>
            <a:endParaRPr lang="en-US" altLang="zh-CN"/>
          </a:p>
          <a:p>
            <a:r>
              <a:rPr lang="en-US" altLang="zh-CN"/>
              <a:t>IP</a:t>
            </a:r>
            <a:r>
              <a:rPr lang="zh-CN" altLang="en-US"/>
              <a:t>地址分类 </a:t>
            </a:r>
            <a:endParaRPr lang="en-US" altLang="zh-CN"/>
          </a:p>
          <a:p>
            <a:pPr lvl="1"/>
            <a:r>
              <a:rPr lang="zh-CN" altLang="en-US"/>
              <a:t>有类地址</a:t>
            </a:r>
          </a:p>
          <a:p>
            <a:pPr lvl="1"/>
            <a:r>
              <a:rPr lang="zh-CN" altLang="en-US"/>
              <a:t>无类地址</a:t>
            </a:r>
            <a:endParaRPr lang="en-US" altLang="zh-CN"/>
          </a:p>
          <a:p>
            <a:endParaRPr lang="en-US" altLang="zh-CN"/>
          </a:p>
        </p:txBody>
      </p:sp>
      <p:sp>
        <p:nvSpPr>
          <p:cNvPr id="2" name="灯片编号占位符 1"/>
          <p:cNvSpPr>
            <a:spLocks noGrp="1"/>
          </p:cNvSpPr>
          <p:nvPr>
            <p:ph type="sldNum" sz="quarter" idx="12"/>
          </p:nvPr>
        </p:nvSpPr>
        <p:spPr/>
        <p:txBody>
          <a:bodyPr/>
          <a:lstStyle/>
          <a:p>
            <a:fld id="{0C913308-F349-4B6D-A68A-DD1791B4A57B}" type="slidenum">
              <a:rPr lang="zh-CN" altLang="en-US" smtClean="0"/>
              <a:t>13</a:t>
            </a:fld>
            <a:r>
              <a:rPr lang="en-US" altLang="zh-CN" dirty="0"/>
              <a:t>/45</a:t>
            </a:r>
            <a:endParaRPr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t>小结</a:t>
            </a:r>
          </a:p>
        </p:txBody>
      </p:sp>
      <p:sp>
        <p:nvSpPr>
          <p:cNvPr id="25603" name="Rectangle 3"/>
          <p:cNvSpPr>
            <a:spLocks noGrp="1" noChangeArrowheads="1"/>
          </p:cNvSpPr>
          <p:nvPr>
            <p:ph idx="1"/>
          </p:nvPr>
        </p:nvSpPr>
        <p:spPr/>
        <p:txBody>
          <a:bodyPr/>
          <a:lstStyle/>
          <a:p>
            <a:r>
              <a:rPr lang="zh-CN" altLang="en-US"/>
              <a:t>简述</a:t>
            </a:r>
            <a:r>
              <a:rPr lang="en-US" altLang="zh-CN"/>
              <a:t>ABC</a:t>
            </a:r>
            <a:r>
              <a:rPr lang="zh-CN" altLang="en-US"/>
              <a:t>三类地址的划分依据</a:t>
            </a:r>
            <a:endParaRPr lang="en-US" altLang="zh-CN"/>
          </a:p>
          <a:p>
            <a:r>
              <a:rPr lang="zh-CN" altLang="en-US"/>
              <a:t>简述三类私有地址的地址范围及掩码</a:t>
            </a:r>
          </a:p>
        </p:txBody>
      </p:sp>
      <p:grpSp>
        <p:nvGrpSpPr>
          <p:cNvPr id="5" name="组合 4"/>
          <p:cNvGrpSpPr/>
          <p:nvPr/>
        </p:nvGrpSpPr>
        <p:grpSpPr>
          <a:xfrm>
            <a:off x="2933700" y="2995295"/>
            <a:ext cx="3218180" cy="3455035"/>
            <a:chOff x="4620" y="4717"/>
            <a:chExt cx="5068" cy="5441"/>
          </a:xfrm>
        </p:grpSpPr>
        <p:pic>
          <p:nvPicPr>
            <p:cNvPr id="17" name="图片 16" descr="摄图网_402090509_迷宫中解决问题等距（企业商用）"/>
            <p:cNvPicPr>
              <a:picLocks noChangeAspect="1"/>
            </p:cNvPicPr>
            <p:nvPr/>
          </p:nvPicPr>
          <p:blipFill>
            <a:blip r:embed="rId7"/>
            <a:stretch>
              <a:fillRect/>
            </a:stretch>
          </p:blipFill>
          <p:spPr>
            <a:xfrm>
              <a:off x="4620" y="4717"/>
              <a:ext cx="5068" cy="5068"/>
            </a:xfrm>
            <a:prstGeom prst="rect">
              <a:avLst/>
            </a:prstGeom>
          </p:spPr>
        </p:pic>
        <p:grpSp>
          <p:nvGrpSpPr>
            <p:cNvPr id="8" name="组合 7"/>
            <p:cNvGrpSpPr/>
            <p:nvPr/>
          </p:nvGrpSpPr>
          <p:grpSpPr>
            <a:xfrm>
              <a:off x="5087" y="9254"/>
              <a:ext cx="4279" cy="904"/>
              <a:chOff x="2635654" y="5025223"/>
              <a:chExt cx="2717165" cy="573757"/>
            </a:xfrm>
          </p:grpSpPr>
          <p:sp>
            <p:nvSpPr>
              <p:cNvPr id="9" name="圆角矩形 8"/>
              <p:cNvSpPr/>
              <p:nvPr>
                <p:custDataLst>
                  <p:tags r:id="rId1"/>
                </p:custDataLst>
              </p:nvPr>
            </p:nvSpPr>
            <p:spPr>
              <a:xfrm>
                <a:off x="2796944" y="5131903"/>
                <a:ext cx="2555875" cy="360045"/>
              </a:xfrm>
              <a:prstGeom prst="round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2"/>
                </p:custDataLst>
              </p:nvPr>
            </p:nvSpPr>
            <p:spPr>
              <a:xfrm>
                <a:off x="2635654" y="5025223"/>
                <a:ext cx="573757" cy="573757"/>
              </a:xfrm>
              <a:prstGeom prst="ellipse">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5"/>
              <p:cNvSpPr txBox="1"/>
              <p:nvPr>
                <p:custDataLst>
                  <p:tags r:id="rId3"/>
                </p:custDataLst>
              </p:nvPr>
            </p:nvSpPr>
            <p:spPr>
              <a:xfrm>
                <a:off x="3272559" y="5142698"/>
                <a:ext cx="2079625" cy="337185"/>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教员解决共性问题</a:t>
                </a:r>
              </a:p>
            </p:txBody>
          </p:sp>
          <p:pic>
            <p:nvPicPr>
              <p:cNvPr id="14" name="图片 13" descr="1"/>
              <p:cNvPicPr>
                <a:picLocks noChangeAspect="1"/>
              </p:cNvPicPr>
              <p:nvPr>
                <p:custDataLst>
                  <p:tags r:id="rId4"/>
                </p:custDataLst>
              </p:nvPr>
            </p:nvPicPr>
            <p:blipFill>
              <a:blip r:embed="rId8"/>
              <a:stretch>
                <a:fillRect/>
              </a:stretch>
            </p:blipFill>
            <p:spPr>
              <a:xfrm>
                <a:off x="2770196" y="5125836"/>
                <a:ext cx="348886" cy="372531"/>
              </a:xfrm>
              <a:prstGeom prst="rect">
                <a:avLst/>
              </a:prstGeom>
            </p:spPr>
          </p:pic>
        </p:grpSp>
      </p:grpSp>
      <p:sp>
        <p:nvSpPr>
          <p:cNvPr id="2" name="灯片编号占位符 1"/>
          <p:cNvSpPr>
            <a:spLocks noGrp="1"/>
          </p:cNvSpPr>
          <p:nvPr>
            <p:ph type="sldNum" sz="quarter" idx="12"/>
          </p:nvPr>
        </p:nvSpPr>
        <p:spPr/>
        <p:txBody>
          <a:bodyPr/>
          <a:lstStyle/>
          <a:p>
            <a:fld id="{0C913308-F349-4B6D-A68A-DD1791B4A57B}" type="slidenum">
              <a:rPr lang="zh-CN" altLang="en-US" smtClean="0"/>
              <a:t>14</a:t>
            </a:fld>
            <a:r>
              <a:rPr lang="en-US" altLang="zh-CN" dirty="0"/>
              <a:t>/45</a:t>
            </a:r>
            <a:endParaRPr lang="zh-CN" altLang="en-US" dirty="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2"/>
          <p:cNvSpPr>
            <a:spLocks noGrp="1"/>
          </p:cNvSpPr>
          <p:nvPr>
            <p:ph type="title"/>
          </p:nvPr>
        </p:nvSpPr>
        <p:spPr/>
        <p:txBody>
          <a:bodyPr/>
          <a:lstStyle/>
          <a:p>
            <a:r>
              <a:rPr lang="zh-CN" altLang="en-US"/>
              <a:t>子网划分的原理</a:t>
            </a:r>
            <a:endParaRPr lang="en-US" altLang="zh-CN"/>
          </a:p>
        </p:txBody>
      </p:sp>
      <p:sp>
        <p:nvSpPr>
          <p:cNvPr id="34" name="内容占位符 1"/>
          <p:cNvSpPr>
            <a:spLocks noGrp="1"/>
          </p:cNvSpPr>
          <p:nvPr>
            <p:ph idx="1"/>
          </p:nvPr>
        </p:nvSpPr>
        <p:spPr/>
        <p:txBody>
          <a:bodyPr/>
          <a:lstStyle/>
          <a:p>
            <a:r>
              <a:rPr lang="zh-CN" altLang="en-US"/>
              <a:t>子网划分的理解</a:t>
            </a:r>
          </a:p>
          <a:p>
            <a:endParaRPr lang="zh-CN" altLang="en-US"/>
          </a:p>
        </p:txBody>
      </p:sp>
      <p:sp>
        <p:nvSpPr>
          <p:cNvPr id="21507" name="椭圆 55"/>
          <p:cNvSpPr>
            <a:spLocks noChangeArrowheads="1"/>
          </p:cNvSpPr>
          <p:nvPr/>
        </p:nvSpPr>
        <p:spPr bwMode="auto">
          <a:xfrm>
            <a:off x="2386648" y="4057333"/>
            <a:ext cx="1476375" cy="1533525"/>
          </a:xfrm>
          <a:prstGeom prst="ellipse">
            <a:avLst/>
          </a:prstGeom>
          <a:noFill/>
          <a:ln w="15875" algn="ctr">
            <a:solidFill>
              <a:schemeClr val="tx2"/>
            </a:solidFill>
            <a:round/>
          </a:ln>
        </p:spPr>
        <p:txBody>
          <a:bodyPr wrap="none" anchor="ctr" anchorCtr="1"/>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08" name="椭圆 54"/>
          <p:cNvSpPr>
            <a:spLocks noChangeArrowheads="1"/>
          </p:cNvSpPr>
          <p:nvPr/>
        </p:nvSpPr>
        <p:spPr bwMode="auto">
          <a:xfrm>
            <a:off x="2386648" y="1685608"/>
            <a:ext cx="1476375" cy="1533525"/>
          </a:xfrm>
          <a:prstGeom prst="ellipse">
            <a:avLst/>
          </a:prstGeom>
          <a:noFill/>
          <a:ln w="15875" algn="ctr">
            <a:solidFill>
              <a:schemeClr val="tx2"/>
            </a:solidFill>
            <a:round/>
          </a:ln>
        </p:spPr>
        <p:txBody>
          <a:bodyPr wrap="none" anchor="ctr" anchorCtr="1"/>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nvGrpSpPr>
          <p:cNvPr id="2" name="组合 18"/>
          <p:cNvGrpSpPr/>
          <p:nvPr/>
        </p:nvGrpSpPr>
        <p:grpSpPr bwMode="auto">
          <a:xfrm>
            <a:off x="2377123" y="1676083"/>
            <a:ext cx="1485900" cy="1533525"/>
            <a:chOff x="1139778" y="1822428"/>
            <a:chExt cx="2117754" cy="2117754"/>
          </a:xfrm>
        </p:grpSpPr>
        <p:sp>
          <p:nvSpPr>
            <p:cNvPr id="21535" name="流程图: 或者 8"/>
            <p:cNvSpPr>
              <a:spLocks noChangeArrowheads="1"/>
            </p:cNvSpPr>
            <p:nvPr/>
          </p:nvSpPr>
          <p:spPr bwMode="auto">
            <a:xfrm>
              <a:off x="1139778" y="1822428"/>
              <a:ext cx="2117754" cy="2117754"/>
            </a:xfrm>
            <a:prstGeom prst="flowChartOr">
              <a:avLst/>
            </a:prstGeom>
            <a:noFill/>
            <a:ln w="12700" algn="ctr">
              <a:solidFill>
                <a:schemeClr val="tx2"/>
              </a:solidFill>
              <a:round/>
            </a:ln>
          </p:spPr>
          <p:txBody>
            <a:bodyPr wrap="none" anchor="ctr" anchorCtr="1"/>
            <a:lstStyle/>
            <a:p>
              <a:pPr algn="ctr"/>
              <a:endParaRPr lang="zh-CN" altLang="zh-CN">
                <a:latin typeface="Arial" panose="020B0604020202020204" pitchFamily="34" charset="0"/>
                <a:ea typeface="微软雅黑" panose="020B0503020204020204" pitchFamily="34" charset="-122"/>
                <a:cs typeface="Arial" panose="020B0604020202020204" pitchFamily="34" charset="0"/>
              </a:endParaRPr>
            </a:p>
          </p:txBody>
        </p:sp>
        <p:sp>
          <p:nvSpPr>
            <p:cNvPr id="8" name="饼形 12"/>
            <p:cNvSpPr/>
            <p:nvPr/>
          </p:nvSpPr>
          <p:spPr bwMode="auto">
            <a:xfrm>
              <a:off x="1139778" y="1822428"/>
              <a:ext cx="2117754" cy="2117754"/>
            </a:xfrm>
            <a:prstGeom prst="pie">
              <a:avLst>
                <a:gd name="adj1" fmla="val 10800000"/>
                <a:gd name="adj2" fmla="val 16200000"/>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lgn="ctr">
                <a:defRPr/>
              </a:pPr>
              <a:endParaRPr lang="zh-CN" altLang="zh-CN">
                <a:latin typeface="Arial" panose="020B0604020202020204" pitchFamily="34" charset="0"/>
                <a:ea typeface="微软雅黑" panose="020B0503020204020204" pitchFamily="34" charset="-122"/>
                <a:cs typeface="Arial" panose="020B0604020202020204" pitchFamily="34" charset="0"/>
              </a:endParaRPr>
            </a:p>
          </p:txBody>
        </p:sp>
        <p:sp>
          <p:nvSpPr>
            <p:cNvPr id="21537" name="饼形 13"/>
            <p:cNvSpPr>
              <a:spLocks noChangeArrowheads="1"/>
            </p:cNvSpPr>
            <p:nvPr/>
          </p:nvSpPr>
          <p:spPr bwMode="auto">
            <a:xfrm rot="10800000">
              <a:off x="1139778" y="1822428"/>
              <a:ext cx="2117754" cy="2117754"/>
            </a:xfrm>
            <a:custGeom>
              <a:avLst/>
              <a:gdLst>
                <a:gd name="T0" fmla="*/ 2117754 w 2117754"/>
                <a:gd name="T1" fmla="*/ 1058877 h 2117754"/>
                <a:gd name="T2" fmla="*/ 1058877 w 2117754"/>
                <a:gd name="T3" fmla="*/ 2117754 h 2117754"/>
                <a:gd name="T4" fmla="*/ 0 w 2117754"/>
                <a:gd name="T5" fmla="*/ 1058877 h 2117754"/>
                <a:gd name="T6" fmla="*/ 1058877 w 2117754"/>
                <a:gd name="T7" fmla="*/ 0 h 2117754"/>
                <a:gd name="T8" fmla="*/ 0 60000 65536"/>
                <a:gd name="T9" fmla="*/ 5898240 60000 65536"/>
                <a:gd name="T10" fmla="*/ 11796480 60000 65536"/>
                <a:gd name="T11" fmla="*/ 17694720 60000 65536"/>
                <a:gd name="T12" fmla="*/ 310138 w 2117754"/>
                <a:gd name="T13" fmla="*/ 310138 h 2117754"/>
                <a:gd name="T14" fmla="*/ 1807616 w 2117754"/>
                <a:gd name="T15" fmla="*/ 1807616 h 2117754"/>
              </a:gdLst>
              <a:ahLst/>
              <a:cxnLst>
                <a:cxn ang="T8">
                  <a:pos x="T0" y="T1"/>
                </a:cxn>
                <a:cxn ang="T9">
                  <a:pos x="T2" y="T3"/>
                </a:cxn>
                <a:cxn ang="T10">
                  <a:pos x="T4" y="T5"/>
                </a:cxn>
                <a:cxn ang="T11">
                  <a:pos x="T6" y="T7"/>
                </a:cxn>
              </a:cxnLst>
              <a:rect l="T12" t="T13" r="T14" b="T15"/>
              <a:pathLst>
                <a:path w="2117754" h="2117754">
                  <a:moveTo>
                    <a:pt x="0" y="1058876"/>
                  </a:moveTo>
                  <a:lnTo>
                    <a:pt x="0" y="1058876"/>
                  </a:lnTo>
                  <a:cubicBezTo>
                    <a:pt x="0" y="474074"/>
                    <a:pt x="474075" y="-1"/>
                    <a:pt x="1058877" y="0"/>
                  </a:cubicBezTo>
                  <a:cubicBezTo>
                    <a:pt x="1058877" y="0"/>
                    <a:pt x="1058877" y="0"/>
                    <a:pt x="1058877" y="0"/>
                  </a:cubicBezTo>
                  <a:lnTo>
                    <a:pt x="1058877" y="1058877"/>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sp>
        <p:nvSpPr>
          <p:cNvPr id="21511" name="饼形 14"/>
          <p:cNvSpPr>
            <a:spLocks noChangeArrowheads="1"/>
          </p:cNvSpPr>
          <p:nvPr/>
        </p:nvSpPr>
        <p:spPr bwMode="auto">
          <a:xfrm rot="5400000">
            <a:off x="5104447" y="1774508"/>
            <a:ext cx="1319213" cy="1277938"/>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3 w 2117725"/>
              <a:gd name="T13" fmla="*/ 310133 h 2117725"/>
              <a:gd name="T14" fmla="*/ 1807593 w 2117725"/>
              <a:gd name="T15" fmla="*/ 1807594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13" name="矩形 12"/>
          <p:cNvSpPr/>
          <p:nvPr/>
        </p:nvSpPr>
        <p:spPr>
          <a:xfrm>
            <a:off x="1948498" y="3365183"/>
            <a:ext cx="2263775" cy="460375"/>
          </a:xfrm>
          <a:prstGeom prst="rect">
            <a:avLst/>
          </a:prstGeom>
        </p:spPr>
        <p:txBody>
          <a:bodyPr>
            <a:spAutoFit/>
          </a:bodyPr>
          <a:lstStyle/>
          <a:p>
            <a:pPr>
              <a:defRPr/>
            </a:pP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一个</a:t>
            </a:r>
            <a:r>
              <a:rPr lang="en-US" altLang="zh-CN"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/24</a:t>
            </a: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的网段</a:t>
            </a:r>
            <a:endParaRPr lang="zh-CN" altLang="en-US" sz="2400"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4" name="矩形 13"/>
          <p:cNvSpPr/>
          <p:nvPr/>
        </p:nvSpPr>
        <p:spPr>
          <a:xfrm>
            <a:off x="5448935" y="3328670"/>
            <a:ext cx="2130425" cy="460375"/>
          </a:xfrm>
          <a:prstGeom prst="rect">
            <a:avLst/>
          </a:prstGeom>
        </p:spPr>
        <p:txBody>
          <a:bodyPr wrap="none">
            <a:spAutoFit/>
          </a:bodyPr>
          <a:lstStyle/>
          <a:p>
            <a:pPr>
              <a:defRPr/>
            </a:pP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四个</a:t>
            </a:r>
            <a:r>
              <a:rPr lang="en-US" altLang="zh-CN"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/26</a:t>
            </a: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的网段</a:t>
            </a:r>
          </a:p>
        </p:txBody>
      </p:sp>
      <p:sp>
        <p:nvSpPr>
          <p:cNvPr id="15" name="矩形 14"/>
          <p:cNvSpPr/>
          <p:nvPr/>
        </p:nvSpPr>
        <p:spPr>
          <a:xfrm>
            <a:off x="2021523" y="5701983"/>
            <a:ext cx="2263775" cy="460375"/>
          </a:xfrm>
          <a:prstGeom prst="rect">
            <a:avLst/>
          </a:prstGeom>
        </p:spPr>
        <p:txBody>
          <a:bodyPr>
            <a:spAutoFit/>
          </a:bodyPr>
          <a:lstStyle/>
          <a:p>
            <a:pPr>
              <a:defRPr/>
            </a:pP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一个</a:t>
            </a:r>
            <a:r>
              <a:rPr lang="en-US" altLang="zh-CN"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/24</a:t>
            </a: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的网段</a:t>
            </a:r>
            <a:endParaRPr lang="zh-CN" altLang="en-US" sz="2400"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16" name="矩形 15"/>
          <p:cNvSpPr/>
          <p:nvPr/>
        </p:nvSpPr>
        <p:spPr>
          <a:xfrm>
            <a:off x="5485448" y="5665470"/>
            <a:ext cx="2130425" cy="460375"/>
          </a:xfrm>
          <a:prstGeom prst="rect">
            <a:avLst/>
          </a:prstGeom>
        </p:spPr>
        <p:txBody>
          <a:bodyPr wrap="none">
            <a:spAutoFit/>
          </a:bodyPr>
          <a:lstStyle/>
          <a:p>
            <a:pPr>
              <a:defRPr/>
            </a:pP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八个</a:t>
            </a:r>
            <a:r>
              <a:rPr lang="en-US" altLang="zh-CN"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/27</a:t>
            </a:r>
            <a:r>
              <a:rPr lang="zh-CN" altLang="en-US" sz="24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的网段</a:t>
            </a:r>
          </a:p>
        </p:txBody>
      </p:sp>
      <p:grpSp>
        <p:nvGrpSpPr>
          <p:cNvPr id="3" name="组合 25"/>
          <p:cNvGrpSpPr/>
          <p:nvPr/>
        </p:nvGrpSpPr>
        <p:grpSpPr bwMode="auto">
          <a:xfrm>
            <a:off x="2381885" y="4060508"/>
            <a:ext cx="1497013" cy="1531937"/>
            <a:chOff x="4608513" y="1858941"/>
            <a:chExt cx="2117754" cy="2117754"/>
          </a:xfrm>
        </p:grpSpPr>
        <p:sp>
          <p:nvSpPr>
            <p:cNvPr id="21530" name="流程图: 或者 15"/>
            <p:cNvSpPr>
              <a:spLocks noChangeArrowheads="1"/>
            </p:cNvSpPr>
            <p:nvPr/>
          </p:nvSpPr>
          <p:spPr bwMode="auto">
            <a:xfrm>
              <a:off x="4608513" y="1858941"/>
              <a:ext cx="2117754" cy="2117754"/>
            </a:xfrm>
            <a:prstGeom prst="flowChartOr">
              <a:avLst/>
            </a:prstGeom>
            <a:noFill/>
            <a:ln w="12700" algn="ctr">
              <a:solidFill>
                <a:schemeClr val="tx2"/>
              </a:solidFill>
              <a:round/>
            </a:ln>
          </p:spPr>
          <p:txBody>
            <a:bodyPr wrap="none" anchor="ctr" anchorCtr="1"/>
            <a:lstStyle/>
            <a:p>
              <a:pPr algn="ctr"/>
              <a:endParaRPr lang="zh-CN" altLang="zh-CN">
                <a:latin typeface="Arial" panose="020B0604020202020204" pitchFamily="34" charset="0"/>
                <a:ea typeface="微软雅黑" panose="020B0503020204020204" pitchFamily="34" charset="-122"/>
                <a:cs typeface="Arial" panose="020B0604020202020204" pitchFamily="34" charset="0"/>
              </a:endParaRPr>
            </a:p>
          </p:txBody>
        </p:sp>
        <p:sp>
          <p:nvSpPr>
            <p:cNvPr id="21531" name="饼形 17"/>
            <p:cNvSpPr>
              <a:spLocks noChangeArrowheads="1"/>
            </p:cNvSpPr>
            <p:nvPr/>
          </p:nvSpPr>
          <p:spPr bwMode="auto">
            <a:xfrm rot="10800000">
              <a:off x="4608513" y="1858941"/>
              <a:ext cx="2117754" cy="2117754"/>
            </a:xfrm>
            <a:custGeom>
              <a:avLst/>
              <a:gdLst>
                <a:gd name="T0" fmla="*/ 2117754 w 2117754"/>
                <a:gd name="T1" fmla="*/ 1058877 h 2117754"/>
                <a:gd name="T2" fmla="*/ 1058877 w 2117754"/>
                <a:gd name="T3" fmla="*/ 2117754 h 2117754"/>
                <a:gd name="T4" fmla="*/ 0 w 2117754"/>
                <a:gd name="T5" fmla="*/ 1058877 h 2117754"/>
                <a:gd name="T6" fmla="*/ 1058877 w 2117754"/>
                <a:gd name="T7" fmla="*/ 0 h 2117754"/>
                <a:gd name="T8" fmla="*/ 0 60000 65536"/>
                <a:gd name="T9" fmla="*/ 5898240 60000 65536"/>
                <a:gd name="T10" fmla="*/ 11796480 60000 65536"/>
                <a:gd name="T11" fmla="*/ 17694720 60000 65536"/>
                <a:gd name="T12" fmla="*/ 310138 w 2117754"/>
                <a:gd name="T13" fmla="*/ 310138 h 2117754"/>
                <a:gd name="T14" fmla="*/ 1807616 w 2117754"/>
                <a:gd name="T15" fmla="*/ 1807616 h 2117754"/>
              </a:gdLst>
              <a:ahLst/>
              <a:cxnLst>
                <a:cxn ang="T8">
                  <a:pos x="T0" y="T1"/>
                </a:cxn>
                <a:cxn ang="T9">
                  <a:pos x="T2" y="T3"/>
                </a:cxn>
                <a:cxn ang="T10">
                  <a:pos x="T4" y="T5"/>
                </a:cxn>
                <a:cxn ang="T11">
                  <a:pos x="T6" y="T7"/>
                </a:cxn>
              </a:cxnLst>
              <a:rect l="T12" t="T13" r="T14" b="T15"/>
              <a:pathLst>
                <a:path w="2117754" h="2117754">
                  <a:moveTo>
                    <a:pt x="0" y="1058873"/>
                  </a:moveTo>
                  <a:lnTo>
                    <a:pt x="0" y="1058873"/>
                  </a:lnTo>
                  <a:cubicBezTo>
                    <a:pt x="1" y="776795"/>
                    <a:pt x="112551" y="506377"/>
                    <a:pt x="312687" y="307597"/>
                  </a:cubicBezTo>
                  <a:lnTo>
                    <a:pt x="1058877" y="1058877"/>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0" name="饼形 19"/>
            <p:cNvSpPr/>
            <p:nvPr/>
          </p:nvSpPr>
          <p:spPr bwMode="auto">
            <a:xfrm rot="10800000" flipH="1" flipV="1">
              <a:off x="4608513" y="1858941"/>
              <a:ext cx="2117754" cy="2117754"/>
            </a:xfrm>
            <a:prstGeom prst="pie">
              <a:avLst>
                <a:gd name="adj1" fmla="val 10800010"/>
                <a:gd name="adj2" fmla="val 13511682"/>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lgn="ctr">
                <a:defRPr/>
              </a:pPr>
              <a:endParaRPr lang="zh-CN" altLang="zh-CN">
                <a:latin typeface="Arial" panose="020B0604020202020204" pitchFamily="34" charset="0"/>
                <a:ea typeface="微软雅黑" panose="020B0503020204020204" pitchFamily="34" charset="-122"/>
                <a:cs typeface="Arial" panose="020B0604020202020204" pitchFamily="34" charset="0"/>
              </a:endParaRPr>
            </a:p>
          </p:txBody>
        </p:sp>
        <p:sp>
          <p:nvSpPr>
            <p:cNvPr id="21533" name="饼形 21"/>
            <p:cNvSpPr>
              <a:spLocks noChangeArrowheads="1"/>
            </p:cNvSpPr>
            <p:nvPr/>
          </p:nvSpPr>
          <p:spPr bwMode="auto">
            <a:xfrm rot="5400000">
              <a:off x="4608513" y="1858941"/>
              <a:ext cx="2117754" cy="2117754"/>
            </a:xfrm>
            <a:custGeom>
              <a:avLst/>
              <a:gdLst>
                <a:gd name="T0" fmla="*/ 2117754 w 2117754"/>
                <a:gd name="T1" fmla="*/ 1058877 h 2117754"/>
                <a:gd name="T2" fmla="*/ 1058877 w 2117754"/>
                <a:gd name="T3" fmla="*/ 2117754 h 2117754"/>
                <a:gd name="T4" fmla="*/ 0 w 2117754"/>
                <a:gd name="T5" fmla="*/ 1058877 h 2117754"/>
                <a:gd name="T6" fmla="*/ 1058877 w 2117754"/>
                <a:gd name="T7" fmla="*/ 0 h 2117754"/>
                <a:gd name="T8" fmla="*/ 0 60000 65536"/>
                <a:gd name="T9" fmla="*/ 5898240 60000 65536"/>
                <a:gd name="T10" fmla="*/ 11796480 60000 65536"/>
                <a:gd name="T11" fmla="*/ 17694720 60000 65536"/>
                <a:gd name="T12" fmla="*/ 310138 w 2117754"/>
                <a:gd name="T13" fmla="*/ 310138 h 2117754"/>
                <a:gd name="T14" fmla="*/ 1807616 w 2117754"/>
                <a:gd name="T15" fmla="*/ 1807616 h 2117754"/>
              </a:gdLst>
              <a:ahLst/>
              <a:cxnLst>
                <a:cxn ang="T8">
                  <a:pos x="T0" y="T1"/>
                </a:cxn>
                <a:cxn ang="T9">
                  <a:pos x="T2" y="T3"/>
                </a:cxn>
                <a:cxn ang="T10">
                  <a:pos x="T4" y="T5"/>
                </a:cxn>
                <a:cxn ang="T11">
                  <a:pos x="T6" y="T7"/>
                </a:cxn>
              </a:cxnLst>
              <a:rect l="T12" t="T13" r="T14" b="T15"/>
              <a:pathLst>
                <a:path w="2117754" h="2117754">
                  <a:moveTo>
                    <a:pt x="0" y="1058873"/>
                  </a:moveTo>
                  <a:lnTo>
                    <a:pt x="0" y="1058873"/>
                  </a:lnTo>
                  <a:cubicBezTo>
                    <a:pt x="1" y="776795"/>
                    <a:pt x="112551" y="506377"/>
                    <a:pt x="312687" y="307597"/>
                  </a:cubicBezTo>
                  <a:lnTo>
                    <a:pt x="1058877" y="1058877"/>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34" name="饼形 22"/>
            <p:cNvSpPr>
              <a:spLocks noChangeArrowheads="1"/>
            </p:cNvSpPr>
            <p:nvPr/>
          </p:nvSpPr>
          <p:spPr bwMode="auto">
            <a:xfrm rot="-5400000">
              <a:off x="4608513" y="1858941"/>
              <a:ext cx="2117754" cy="2117754"/>
            </a:xfrm>
            <a:custGeom>
              <a:avLst/>
              <a:gdLst>
                <a:gd name="T0" fmla="*/ 2117754 w 2117754"/>
                <a:gd name="T1" fmla="*/ 1058877 h 2117754"/>
                <a:gd name="T2" fmla="*/ 1058877 w 2117754"/>
                <a:gd name="T3" fmla="*/ 2117754 h 2117754"/>
                <a:gd name="T4" fmla="*/ 0 w 2117754"/>
                <a:gd name="T5" fmla="*/ 1058877 h 2117754"/>
                <a:gd name="T6" fmla="*/ 1058877 w 2117754"/>
                <a:gd name="T7" fmla="*/ 0 h 2117754"/>
                <a:gd name="T8" fmla="*/ 0 60000 65536"/>
                <a:gd name="T9" fmla="*/ 5898240 60000 65536"/>
                <a:gd name="T10" fmla="*/ 11796480 60000 65536"/>
                <a:gd name="T11" fmla="*/ 17694720 60000 65536"/>
                <a:gd name="T12" fmla="*/ 310138 w 2117754"/>
                <a:gd name="T13" fmla="*/ 310138 h 2117754"/>
                <a:gd name="T14" fmla="*/ 1807616 w 2117754"/>
                <a:gd name="T15" fmla="*/ 1807616 h 2117754"/>
              </a:gdLst>
              <a:ahLst/>
              <a:cxnLst>
                <a:cxn ang="T8">
                  <a:pos x="T0" y="T1"/>
                </a:cxn>
                <a:cxn ang="T9">
                  <a:pos x="T2" y="T3"/>
                </a:cxn>
                <a:cxn ang="T10">
                  <a:pos x="T4" y="T5"/>
                </a:cxn>
                <a:cxn ang="T11">
                  <a:pos x="T6" y="T7"/>
                </a:cxn>
              </a:cxnLst>
              <a:rect l="T12" t="T13" r="T14" b="T15"/>
              <a:pathLst>
                <a:path w="2117754" h="2117754">
                  <a:moveTo>
                    <a:pt x="0" y="1058873"/>
                  </a:moveTo>
                  <a:lnTo>
                    <a:pt x="0" y="1058873"/>
                  </a:lnTo>
                  <a:cubicBezTo>
                    <a:pt x="1" y="776795"/>
                    <a:pt x="112551" y="506377"/>
                    <a:pt x="312687" y="307597"/>
                  </a:cubicBezTo>
                  <a:lnTo>
                    <a:pt x="1058877" y="1058877"/>
                  </a:lnTo>
                  <a:close/>
                </a:path>
              </a:pathLst>
            </a:custGeom>
            <a:solidFill>
              <a:srgbClr val="00B0F0"/>
            </a:solidFill>
            <a:ln w="9525" algn="ctr">
              <a:solidFill>
                <a:srgbClr val="808080"/>
              </a:solidFill>
              <a:round/>
            </a:ln>
          </p:spPr>
          <p:txBody>
            <a:bodyPr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sp>
        <p:nvSpPr>
          <p:cNvPr id="21518" name="饼形 24"/>
          <p:cNvSpPr>
            <a:spLocks noChangeArrowheads="1"/>
          </p:cNvSpPr>
          <p:nvPr/>
        </p:nvSpPr>
        <p:spPr bwMode="auto">
          <a:xfrm rot="8100000">
            <a:off x="5290185" y="4236720"/>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0" name="饼形 14"/>
          <p:cNvSpPr>
            <a:spLocks noChangeArrowheads="1"/>
          </p:cNvSpPr>
          <p:nvPr/>
        </p:nvSpPr>
        <p:spPr bwMode="auto">
          <a:xfrm rot="5400000">
            <a:off x="5907722" y="2577783"/>
            <a:ext cx="1319213" cy="1277938"/>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3 w 2117725"/>
              <a:gd name="T13" fmla="*/ 310133 h 2117725"/>
              <a:gd name="T14" fmla="*/ 1807593 w 2117725"/>
              <a:gd name="T15" fmla="*/ 1807594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1" name="饼形 14"/>
          <p:cNvSpPr>
            <a:spLocks noChangeArrowheads="1"/>
          </p:cNvSpPr>
          <p:nvPr/>
        </p:nvSpPr>
        <p:spPr bwMode="auto">
          <a:xfrm rot="5400000">
            <a:off x="5140960" y="2577783"/>
            <a:ext cx="1319213" cy="1277937"/>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3 w 2117725"/>
              <a:gd name="T13" fmla="*/ 310133 h 2117725"/>
              <a:gd name="T14" fmla="*/ 1807593 w 2117725"/>
              <a:gd name="T15" fmla="*/ 1807594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2" name="饼形 14"/>
          <p:cNvSpPr>
            <a:spLocks noChangeArrowheads="1"/>
          </p:cNvSpPr>
          <p:nvPr/>
        </p:nvSpPr>
        <p:spPr bwMode="auto">
          <a:xfrm rot="5400000">
            <a:off x="5871210" y="1774508"/>
            <a:ext cx="1319213" cy="1277937"/>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3 w 2117725"/>
              <a:gd name="T13" fmla="*/ 310133 h 2117725"/>
              <a:gd name="T14" fmla="*/ 1807593 w 2117725"/>
              <a:gd name="T15" fmla="*/ 1807594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3" name="饼形 24"/>
          <p:cNvSpPr>
            <a:spLocks noChangeArrowheads="1"/>
          </p:cNvSpPr>
          <p:nvPr/>
        </p:nvSpPr>
        <p:spPr bwMode="auto">
          <a:xfrm rot="8100000">
            <a:off x="5290185" y="3843020"/>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4" name="饼形 24"/>
          <p:cNvSpPr>
            <a:spLocks noChangeArrowheads="1"/>
          </p:cNvSpPr>
          <p:nvPr/>
        </p:nvSpPr>
        <p:spPr bwMode="auto">
          <a:xfrm rot="8100000">
            <a:off x="5290185" y="4638358"/>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5" name="饼形 24"/>
          <p:cNvSpPr>
            <a:spLocks noChangeArrowheads="1"/>
          </p:cNvSpPr>
          <p:nvPr/>
        </p:nvSpPr>
        <p:spPr bwMode="auto">
          <a:xfrm rot="8100000">
            <a:off x="5290185" y="5039995"/>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6" name="饼形 24"/>
          <p:cNvSpPr>
            <a:spLocks noChangeArrowheads="1"/>
          </p:cNvSpPr>
          <p:nvPr/>
        </p:nvSpPr>
        <p:spPr bwMode="auto">
          <a:xfrm rot="8100000">
            <a:off x="5910898" y="4236720"/>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7" name="饼形 24"/>
          <p:cNvSpPr>
            <a:spLocks noChangeArrowheads="1"/>
          </p:cNvSpPr>
          <p:nvPr/>
        </p:nvSpPr>
        <p:spPr bwMode="auto">
          <a:xfrm rot="8100000">
            <a:off x="5910898" y="3843020"/>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8" name="饼形 24"/>
          <p:cNvSpPr>
            <a:spLocks noChangeArrowheads="1"/>
          </p:cNvSpPr>
          <p:nvPr/>
        </p:nvSpPr>
        <p:spPr bwMode="auto">
          <a:xfrm rot="8100000">
            <a:off x="5910898" y="4638358"/>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1529" name="饼形 24"/>
          <p:cNvSpPr>
            <a:spLocks noChangeArrowheads="1"/>
          </p:cNvSpPr>
          <p:nvPr/>
        </p:nvSpPr>
        <p:spPr bwMode="auto">
          <a:xfrm rot="8100000">
            <a:off x="5910898" y="5039995"/>
            <a:ext cx="1028700" cy="1076325"/>
          </a:xfrm>
          <a:custGeom>
            <a:avLst/>
            <a:gdLst>
              <a:gd name="T0" fmla="*/ 0 w 2117725"/>
              <a:gd name="T1" fmla="*/ 1 h 2117725"/>
              <a:gd name="T2" fmla="*/ 0 w 2117725"/>
              <a:gd name="T3" fmla="*/ 1 h 2117725"/>
              <a:gd name="T4" fmla="*/ 0 w 2117725"/>
              <a:gd name="T5" fmla="*/ 1 h 2117725"/>
              <a:gd name="T6" fmla="*/ 0 w 2117725"/>
              <a:gd name="T7" fmla="*/ 0 h 2117725"/>
              <a:gd name="T8" fmla="*/ 0 60000 65536"/>
              <a:gd name="T9" fmla="*/ 5898240 60000 65536"/>
              <a:gd name="T10" fmla="*/ 11796480 60000 65536"/>
              <a:gd name="T11" fmla="*/ 17694720 60000 65536"/>
              <a:gd name="T12" fmla="*/ 310134 w 2117725"/>
              <a:gd name="T13" fmla="*/ 310131 h 2117725"/>
              <a:gd name="T14" fmla="*/ 1807595 w 2117725"/>
              <a:gd name="T15" fmla="*/ 1807594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5" name="AutoShape 8"/>
          <p:cNvSpPr>
            <a:spLocks noChangeArrowheads="1"/>
          </p:cNvSpPr>
          <p:nvPr/>
        </p:nvSpPr>
        <p:spPr bwMode="auto">
          <a:xfrm>
            <a:off x="4212272" y="2125345"/>
            <a:ext cx="1223963" cy="576263"/>
          </a:xfrm>
          <a:prstGeom prst="rightArrow">
            <a:avLst>
              <a:gd name="adj1" fmla="val 49861"/>
              <a:gd name="adj2" fmla="val 53168"/>
            </a:avLst>
          </a:prstGeom>
          <a:gradFill rotWithShape="1">
            <a:gsLst>
              <a:gs pos="0">
                <a:srgbClr val="3399FF"/>
              </a:gs>
              <a:gs pos="100000">
                <a:schemeClr val="bg1"/>
              </a:gs>
            </a:gsLst>
            <a:lin ang="5400000" scaled="1"/>
          </a:gradFill>
          <a:ln w="12700" cap="rnd" algn="ctr">
            <a:solidFill>
              <a:srgbClr val="3399FF"/>
            </a:solidFill>
            <a:miter lim="800000"/>
          </a:ln>
          <a:effectLst>
            <a:outerShdw dist="71842" dir="2700000" algn="ctr" rotWithShape="0">
              <a:srgbClr val="808080">
                <a:alpha val="50000"/>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36" name="AutoShape 8"/>
          <p:cNvSpPr>
            <a:spLocks noChangeArrowheads="1"/>
          </p:cNvSpPr>
          <p:nvPr/>
        </p:nvSpPr>
        <p:spPr bwMode="auto">
          <a:xfrm>
            <a:off x="4212273" y="4580909"/>
            <a:ext cx="1223963" cy="576263"/>
          </a:xfrm>
          <a:prstGeom prst="rightArrow">
            <a:avLst>
              <a:gd name="adj1" fmla="val 49861"/>
              <a:gd name="adj2" fmla="val 53168"/>
            </a:avLst>
          </a:prstGeom>
          <a:gradFill rotWithShape="1">
            <a:gsLst>
              <a:gs pos="0">
                <a:srgbClr val="3399FF"/>
              </a:gs>
              <a:gs pos="100000">
                <a:schemeClr val="bg1"/>
              </a:gs>
            </a:gsLst>
            <a:lin ang="5400000" scaled="1"/>
          </a:gradFill>
          <a:ln w="12700" cap="rnd" algn="ctr">
            <a:solidFill>
              <a:srgbClr val="3399FF"/>
            </a:solidFill>
            <a:miter lim="800000"/>
          </a:ln>
          <a:effectLst>
            <a:outerShdw dist="71842" dir="2700000" algn="ctr" rotWithShape="0">
              <a:srgbClr val="808080">
                <a:alpha val="50000"/>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8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Arial" panose="020B0604020202020204" pitchFamily="34" charset="0"/>
              <a:ea typeface="微软雅黑" panose="020B0503020204020204" pitchFamily="34" charset="-122"/>
              <a:cs typeface="Arial" panose="020B0604020202020204" pitchFamily="34" charset="0"/>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t>15</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left)">
                                      <p:cBhvr>
                                        <p:cTn id="7" dur="500"/>
                                        <p:tgtEl>
                                          <p:spTgt spid="35"/>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wipe(left)">
                                      <p:cBhvr>
                                        <p:cTn id="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标题 2"/>
          <p:cNvSpPr>
            <a:spLocks noGrp="1"/>
          </p:cNvSpPr>
          <p:nvPr>
            <p:ph type="title"/>
          </p:nvPr>
        </p:nvSpPr>
        <p:spPr/>
        <p:txBody>
          <a:bodyPr/>
          <a:lstStyle/>
          <a:p>
            <a:r>
              <a:rPr lang="zh-CN" altLang="en-US"/>
              <a:t>子网划分的原理</a:t>
            </a:r>
            <a:endParaRPr lang="en-US" altLang="zh-CN"/>
          </a:p>
        </p:txBody>
      </p:sp>
      <p:sp>
        <p:nvSpPr>
          <p:cNvPr id="16" name="内容占位符 15"/>
          <p:cNvSpPr>
            <a:spLocks noGrp="1"/>
          </p:cNvSpPr>
          <p:nvPr>
            <p:ph idx="1"/>
          </p:nvPr>
        </p:nvSpPr>
        <p:spPr/>
        <p:txBody>
          <a:bodyPr/>
          <a:lstStyle/>
          <a:p>
            <a:r>
              <a:rPr lang="zh-CN" altLang="en-US"/>
              <a:t>将192.168.1.0/24 划分为4个小网段</a:t>
            </a:r>
          </a:p>
          <a:p>
            <a:pPr lvl="1"/>
            <a:r>
              <a:rPr lang="zh-CN" altLang="en-US"/>
              <a:t>将主机位划到网络位</a:t>
            </a:r>
            <a:endParaRPr lang="en-US"/>
          </a:p>
          <a:p>
            <a:endParaRPr lang="en-US" altLang="en-US"/>
          </a:p>
        </p:txBody>
      </p:sp>
      <p:sp>
        <p:nvSpPr>
          <p:cNvPr id="4" name="Rectangle 4"/>
          <p:cNvSpPr>
            <a:spLocks noChangeArrowheads="1"/>
          </p:cNvSpPr>
          <p:nvPr/>
        </p:nvSpPr>
        <p:spPr bwMode="auto">
          <a:xfrm>
            <a:off x="3382963" y="3808095"/>
            <a:ext cx="4608512" cy="2012950"/>
          </a:xfrm>
          <a:prstGeom prst="rect">
            <a:avLst/>
          </a:prstGeom>
          <a:noFill/>
          <a:ln w="9525">
            <a:noFill/>
            <a:miter lim="800000"/>
          </a:ln>
          <a:effectLst/>
        </p:spPr>
        <p:txBody>
          <a:bodyPr/>
          <a:lstStyle/>
          <a:p>
            <a:pPr marL="342900" indent="-342900">
              <a:spcBef>
                <a:spcPts val="0"/>
              </a:spcBef>
              <a:buClr>
                <a:srgbClr val="6699FF"/>
              </a:buClr>
              <a:defRPr/>
            </a:pPr>
            <a:r>
              <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    每段可用的</a:t>
            </a: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IP</a:t>
            </a:r>
            <a:r>
              <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地址是</a:t>
            </a:r>
          </a:p>
          <a:p>
            <a:pPr marL="742950" lvl="1" indent="-285750">
              <a:spcBef>
                <a:spcPts val="0"/>
              </a:spcBef>
              <a:buClr>
                <a:schemeClr val="tx2"/>
              </a:buClr>
              <a:buFont typeface="Wingdings" panose="05000000000000000000" pitchFamily="2" charset="2"/>
              <a:buNone/>
              <a:defRPr/>
            </a:pP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192.168.1.1 </a:t>
            </a:r>
            <a:r>
              <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192.168.1.62</a:t>
            </a:r>
            <a:endPar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marL="742950" lvl="1" indent="-285750">
              <a:spcBef>
                <a:spcPts val="0"/>
              </a:spcBef>
              <a:buClr>
                <a:schemeClr val="tx2"/>
              </a:buClr>
              <a:buFont typeface="Wingdings" panose="05000000000000000000" pitchFamily="2" charset="2"/>
              <a:buNone/>
              <a:defRPr/>
            </a:pP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192.168.1.65 </a:t>
            </a:r>
            <a:r>
              <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192.168.1.126</a:t>
            </a:r>
          </a:p>
          <a:p>
            <a:pPr marL="742950" lvl="1" indent="-285750">
              <a:spcBef>
                <a:spcPts val="0"/>
              </a:spcBef>
              <a:buClr>
                <a:schemeClr val="tx2"/>
              </a:buClr>
              <a:buFont typeface="Wingdings" panose="05000000000000000000" pitchFamily="2" charset="2"/>
              <a:buNone/>
              <a:defRPr/>
            </a:pP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192.168.1.129</a:t>
            </a:r>
            <a:r>
              <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 192.168.1.191</a:t>
            </a:r>
          </a:p>
          <a:p>
            <a:pPr marL="742950" lvl="1" indent="-285750">
              <a:spcBef>
                <a:spcPts val="0"/>
              </a:spcBef>
              <a:buClr>
                <a:schemeClr val="tx2"/>
              </a:buClr>
              <a:buFont typeface="Wingdings" panose="05000000000000000000" pitchFamily="2" charset="2"/>
              <a:buNone/>
              <a:defRPr/>
            </a:pP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192.168.1.193 </a:t>
            </a:r>
            <a:r>
              <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sz="2000" b="1" dirty="0">
                <a:solidFill>
                  <a:schemeClr val="tx2"/>
                </a:solidFill>
                <a:latin typeface="Arial" panose="020B0604020202020204" pitchFamily="34" charset="0"/>
                <a:ea typeface="微软雅黑" panose="020B0503020204020204" pitchFamily="34" charset="-122"/>
                <a:cs typeface="Arial" panose="020B0604020202020204" pitchFamily="34" charset="0"/>
              </a:rPr>
              <a:t>192.168.1.254</a:t>
            </a:r>
            <a:endParaRPr lang="zh-CN" altLang="en-US" sz="20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5" name="Rectangle 3"/>
          <p:cNvSpPr txBox="1">
            <a:spLocks noChangeArrowheads="1"/>
          </p:cNvSpPr>
          <p:nvPr/>
        </p:nvSpPr>
        <p:spPr bwMode="auto">
          <a:xfrm>
            <a:off x="3463925" y="3762375"/>
            <a:ext cx="2847975" cy="1998663"/>
          </a:xfrm>
          <a:prstGeom prst="rect">
            <a:avLst/>
          </a:prstGeom>
          <a:noFill/>
          <a:ln w="9525">
            <a:noFill/>
            <a:miter lim="800000"/>
          </a:ln>
          <a:effectLst/>
        </p:spPr>
        <p:txBody>
          <a:bodyPr/>
          <a:lstStyle/>
          <a:p>
            <a:pPr marL="342900" indent="-342900" eaLnBrk="0" hangingPunct="0">
              <a:spcBef>
                <a:spcPts val="0"/>
              </a:spcBef>
              <a:buClr>
                <a:schemeClr val="tx1"/>
              </a:buClr>
              <a:defRPr/>
            </a:pPr>
            <a:r>
              <a:rPr lang="zh-CN" altLang="en-US" sz="20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可用的网段是</a:t>
            </a:r>
          </a:p>
          <a:p>
            <a:pPr marL="742950" lvl="1" indent="-285750" eaLnBrk="0" hangingPunct="0">
              <a:spcBef>
                <a:spcPts val="0"/>
              </a:spcBef>
              <a:buClr>
                <a:schemeClr val="tx1"/>
              </a:buClr>
              <a:buFont typeface="Wingdings" panose="05000000000000000000" pitchFamily="2" charset="2"/>
              <a:buNone/>
              <a:defRPr/>
            </a:pPr>
            <a:r>
              <a:rPr lang="en-US" altLang="zh-CN"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192.168.1.0</a:t>
            </a:r>
          </a:p>
          <a:p>
            <a:pPr marL="742950" lvl="1" indent="-285750" eaLnBrk="0" hangingPunct="0">
              <a:spcBef>
                <a:spcPts val="0"/>
              </a:spcBef>
              <a:buClr>
                <a:schemeClr val="tx1"/>
              </a:buClr>
              <a:buFont typeface="Wingdings" panose="05000000000000000000" pitchFamily="2" charset="2"/>
              <a:buNone/>
              <a:defRPr/>
            </a:pPr>
            <a:r>
              <a:rPr lang="en-US" altLang="zh-CN"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192.168.1.64</a:t>
            </a:r>
          </a:p>
          <a:p>
            <a:pPr marL="742950" lvl="1" indent="-285750" eaLnBrk="0" hangingPunct="0">
              <a:spcBef>
                <a:spcPts val="0"/>
              </a:spcBef>
              <a:buClr>
                <a:schemeClr val="tx1"/>
              </a:buClr>
              <a:buFont typeface="Wingdings" panose="05000000000000000000" pitchFamily="2" charset="2"/>
              <a:buNone/>
              <a:defRPr/>
            </a:pPr>
            <a:r>
              <a:rPr lang="en-US" altLang="zh-CN"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192.168.1.128</a:t>
            </a:r>
          </a:p>
          <a:p>
            <a:pPr marL="742950" lvl="1" indent="-285750" eaLnBrk="0" hangingPunct="0">
              <a:spcBef>
                <a:spcPts val="0"/>
              </a:spcBef>
              <a:buClr>
                <a:schemeClr val="tx1"/>
              </a:buClr>
              <a:buFont typeface="Wingdings" panose="05000000000000000000" pitchFamily="2" charset="2"/>
              <a:buNone/>
              <a:defRPr/>
            </a:pPr>
            <a:r>
              <a:rPr lang="en-US" altLang="zh-CN"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192.168.1.192</a:t>
            </a:r>
          </a:p>
          <a:p>
            <a:pPr marL="342900" indent="-342900" eaLnBrk="0" hangingPunct="0">
              <a:spcBef>
                <a:spcPts val="0"/>
              </a:spcBef>
              <a:buClr>
                <a:schemeClr val="tx1"/>
              </a:buClr>
              <a:defRPr/>
            </a:pPr>
            <a:r>
              <a:rPr lang="zh-CN" altLang="en-US" sz="2000"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子网掩码是</a:t>
            </a:r>
            <a:r>
              <a:rPr lang="en-US" altLang="zh-CN" b="1" kern="0" dirty="0">
                <a:solidFill>
                  <a:schemeClr val="tx2"/>
                </a:solidFill>
                <a:latin typeface="Arial" panose="020B0604020202020204" pitchFamily="34" charset="0"/>
                <a:ea typeface="微软雅黑" panose="020B0503020204020204" pitchFamily="34" charset="-122"/>
                <a:cs typeface="Arial" panose="020B0604020202020204" pitchFamily="34" charset="0"/>
              </a:rPr>
              <a:t>255.255.255.192(/26)</a:t>
            </a:r>
          </a:p>
        </p:txBody>
      </p:sp>
      <p:grpSp>
        <p:nvGrpSpPr>
          <p:cNvPr id="2" name="组合 78"/>
          <p:cNvGrpSpPr/>
          <p:nvPr/>
        </p:nvGrpSpPr>
        <p:grpSpPr bwMode="auto">
          <a:xfrm>
            <a:off x="550863" y="3789363"/>
            <a:ext cx="2536272" cy="1446722"/>
            <a:chOff x="892798" y="3976694"/>
            <a:chExt cx="2534877" cy="1447382"/>
          </a:xfrm>
        </p:grpSpPr>
        <p:sp>
          <p:nvSpPr>
            <p:cNvPr id="22588" name="TextBox 57"/>
            <p:cNvSpPr txBox="1">
              <a:spLocks noChangeArrowheads="1"/>
            </p:cNvSpPr>
            <p:nvPr/>
          </p:nvSpPr>
          <p:spPr bwMode="auto">
            <a:xfrm>
              <a:off x="892798" y="3976694"/>
              <a:ext cx="2534877" cy="400293"/>
            </a:xfrm>
            <a:prstGeom prst="rect">
              <a:avLst/>
            </a:prstGeom>
            <a:noFill/>
            <a:ln w="9525">
              <a:noFill/>
              <a:miter lim="800000"/>
            </a:ln>
          </p:spPr>
          <p:txBody>
            <a:bodyPr wrap="none">
              <a:spAutoFit/>
            </a:bodyPr>
            <a:lstStyle/>
            <a:p>
              <a:r>
                <a:rPr lang="en-US" altLang="zh-CN" sz="20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192.168.1.00000000</a:t>
              </a:r>
            </a:p>
          </p:txBody>
        </p:sp>
        <p:cxnSp>
          <p:nvCxnSpPr>
            <p:cNvPr id="22589" name="直接连接符 18"/>
            <p:cNvCxnSpPr>
              <a:cxnSpLocks noChangeShapeType="1"/>
            </p:cNvCxnSpPr>
            <p:nvPr/>
          </p:nvCxnSpPr>
          <p:spPr bwMode="auto">
            <a:xfrm rot="16200000" flipH="1">
              <a:off x="1674415" y="4723325"/>
              <a:ext cx="1243058" cy="950"/>
            </a:xfrm>
            <a:prstGeom prst="line">
              <a:avLst/>
            </a:prstGeom>
            <a:noFill/>
            <a:ln w="15875" algn="ctr">
              <a:solidFill>
                <a:srgbClr val="FF3300"/>
              </a:solidFill>
              <a:prstDash val="dash"/>
              <a:round/>
            </a:ln>
          </p:spPr>
        </p:cxnSp>
        <p:cxnSp>
          <p:nvCxnSpPr>
            <p:cNvPr id="22590" name="直接连接符 18"/>
            <p:cNvCxnSpPr>
              <a:cxnSpLocks noChangeShapeType="1"/>
            </p:cNvCxnSpPr>
            <p:nvPr/>
          </p:nvCxnSpPr>
          <p:spPr bwMode="auto">
            <a:xfrm rot="5400000">
              <a:off x="1883759" y="4737508"/>
              <a:ext cx="1285103" cy="14626"/>
            </a:xfrm>
            <a:prstGeom prst="line">
              <a:avLst/>
            </a:prstGeom>
            <a:noFill/>
            <a:ln w="15875" algn="ctr">
              <a:solidFill>
                <a:srgbClr val="FF3300"/>
              </a:solidFill>
              <a:prstDash val="dash"/>
              <a:round/>
            </a:ln>
          </p:spPr>
        </p:cxnSp>
        <p:sp>
          <p:nvSpPr>
            <p:cNvPr id="22591" name="TextBox 77"/>
            <p:cNvSpPr txBox="1">
              <a:spLocks noChangeArrowheads="1"/>
            </p:cNvSpPr>
            <p:nvPr/>
          </p:nvSpPr>
          <p:spPr bwMode="auto">
            <a:xfrm>
              <a:off x="2186304" y="4305311"/>
              <a:ext cx="444108" cy="1118765"/>
            </a:xfrm>
            <a:prstGeom prst="rect">
              <a:avLst/>
            </a:prstGeom>
            <a:noFill/>
            <a:ln w="9525">
              <a:noFill/>
              <a:miter lim="800000"/>
            </a:ln>
          </p:spPr>
          <p:txBody>
            <a:bodyPr wrap="none" anchor="ctr">
              <a:spAutoFit/>
            </a:bodyPr>
            <a:lstStyle/>
            <a:p>
              <a:pPr algn="dist">
                <a:lnSpc>
                  <a:spcPts val="2000"/>
                </a:lnSpc>
              </a:pPr>
              <a:r>
                <a:rPr lang="en-US" altLang="zh-CN" sz="2000" b="1" dirty="0">
                  <a:solidFill>
                    <a:schemeClr val="tx2"/>
                  </a:solidFill>
                  <a:latin typeface="宋体" panose="02010600030101010101" pitchFamily="2" charset="-122"/>
                  <a:ea typeface="宋体" panose="02010600030101010101" pitchFamily="2" charset="-122"/>
                  <a:cs typeface="Arial" panose="020B0604020202020204" pitchFamily="34" charset="0"/>
                </a:rPr>
                <a:t>00</a:t>
              </a:r>
            </a:p>
            <a:p>
              <a:pPr algn="dist">
                <a:lnSpc>
                  <a:spcPts val="2000"/>
                </a:lnSpc>
              </a:pPr>
              <a:r>
                <a:rPr lang="en-US" altLang="zh-CN" sz="2000" b="1" dirty="0">
                  <a:solidFill>
                    <a:schemeClr val="tx2"/>
                  </a:solidFill>
                  <a:latin typeface="宋体" panose="02010600030101010101" pitchFamily="2" charset="-122"/>
                  <a:ea typeface="宋体" panose="02010600030101010101" pitchFamily="2" charset="-122"/>
                  <a:cs typeface="Arial" panose="020B0604020202020204" pitchFamily="34" charset="0"/>
                </a:rPr>
                <a:t>01</a:t>
              </a:r>
            </a:p>
            <a:p>
              <a:pPr algn="dist">
                <a:lnSpc>
                  <a:spcPts val="2000"/>
                </a:lnSpc>
              </a:pPr>
              <a:r>
                <a:rPr lang="en-US" altLang="zh-CN" sz="2000" b="1" dirty="0">
                  <a:solidFill>
                    <a:schemeClr val="tx2"/>
                  </a:solidFill>
                  <a:latin typeface="宋体" panose="02010600030101010101" pitchFamily="2" charset="-122"/>
                  <a:ea typeface="宋体" panose="02010600030101010101" pitchFamily="2" charset="-122"/>
                  <a:cs typeface="Arial" panose="020B0604020202020204" pitchFamily="34" charset="0"/>
                </a:rPr>
                <a:t>10</a:t>
              </a:r>
            </a:p>
            <a:p>
              <a:pPr algn="dist">
                <a:lnSpc>
                  <a:spcPts val="2000"/>
                </a:lnSpc>
              </a:pPr>
              <a:r>
                <a:rPr lang="en-US" altLang="zh-CN" sz="2000" b="1" dirty="0">
                  <a:solidFill>
                    <a:schemeClr val="tx2"/>
                  </a:solidFill>
                  <a:latin typeface="宋体" panose="02010600030101010101" pitchFamily="2" charset="-122"/>
                  <a:ea typeface="宋体" panose="02010600030101010101" pitchFamily="2" charset="-122"/>
                  <a:cs typeface="Arial" panose="020B0604020202020204" pitchFamily="34" charset="0"/>
                </a:rPr>
                <a:t>11</a:t>
              </a:r>
            </a:p>
          </p:txBody>
        </p:sp>
      </p:grpSp>
      <p:grpSp>
        <p:nvGrpSpPr>
          <p:cNvPr id="3" name="组合 112"/>
          <p:cNvGrpSpPr/>
          <p:nvPr/>
        </p:nvGrpSpPr>
        <p:grpSpPr bwMode="auto">
          <a:xfrm>
            <a:off x="3144838" y="3906839"/>
            <a:ext cx="5420074" cy="2308324"/>
            <a:chOff x="2052603" y="8650360"/>
            <a:chExt cx="5420531" cy="2308423"/>
          </a:xfrm>
        </p:grpSpPr>
        <p:grpSp>
          <p:nvGrpSpPr>
            <p:cNvPr id="6" name="组合 75"/>
            <p:cNvGrpSpPr/>
            <p:nvPr/>
          </p:nvGrpSpPr>
          <p:grpSpPr bwMode="auto">
            <a:xfrm>
              <a:off x="2052603" y="8650360"/>
              <a:ext cx="5420531" cy="2308423"/>
              <a:chOff x="2637249" y="6388438"/>
              <a:chExt cx="5418904" cy="2309568"/>
            </a:xfrm>
          </p:grpSpPr>
          <p:grpSp>
            <p:nvGrpSpPr>
              <p:cNvPr id="7" name="组合 64"/>
              <p:cNvGrpSpPr/>
              <p:nvPr/>
            </p:nvGrpSpPr>
            <p:grpSpPr bwMode="auto">
              <a:xfrm>
                <a:off x="2637249" y="6388438"/>
                <a:ext cx="5418904" cy="2309568"/>
                <a:chOff x="2819814" y="6826594"/>
                <a:chExt cx="5418904" cy="2309568"/>
              </a:xfrm>
            </p:grpSpPr>
            <p:sp>
              <p:nvSpPr>
                <p:cNvPr id="22586" name="TextBox 105"/>
                <p:cNvSpPr txBox="1">
                  <a:spLocks noChangeArrowheads="1"/>
                </p:cNvSpPr>
                <p:nvPr/>
              </p:nvSpPr>
              <p:spPr bwMode="auto">
                <a:xfrm>
                  <a:off x="2819814" y="6826594"/>
                  <a:ext cx="5418904" cy="2309568"/>
                </a:xfrm>
                <a:prstGeom prst="rect">
                  <a:avLst/>
                </a:prstGeom>
                <a:noFill/>
                <a:ln w="9525">
                  <a:solidFill>
                    <a:schemeClr val="tx2"/>
                  </a:solidFill>
                  <a:miter lim="800000"/>
                </a:ln>
              </p:spPr>
              <p:txBody>
                <a:bodyPr wrap="none">
                  <a:spAutoFit/>
                </a:bodyPr>
                <a:lstStyle/>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192.168.1.00000000=192.168.1.0</a:t>
                  </a:r>
                  <a:r>
                    <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zh-CN" altLang="en-US"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子网号</a:t>
                  </a:r>
                  <a:r>
                    <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a:t>
                  </a:r>
                  <a:r>
                    <a:rPr lang="zh-CN" altLang="en-US"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子网地址</a:t>
                  </a:r>
                  <a:r>
                    <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a:t>
                  </a: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192.168.1.00000001=192.168.1.1</a:t>
                  </a: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192.168.1.00000010=192.168.1.2</a:t>
                  </a: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192.168.1.00000011=192.168.1.3</a:t>
                  </a:r>
                </a:p>
                <a:p>
                  <a:r>
                    <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zh-CN" altLang="en-US"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有效主机地址</a:t>
                  </a:r>
                  <a:endPar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192.168.1.00111100=192.168.1.60</a:t>
                  </a: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192.168.1.00111101=192.168.1.61</a:t>
                  </a: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192.168.1.00111110=192.168.1.62</a:t>
                  </a:r>
                </a:p>
                <a:p>
                  <a:r>
                    <a:rPr lang="en-US" altLang="zh-CN" sz="1600" b="1" dirty="0">
                      <a:solidFill>
                        <a:schemeClr val="tx2"/>
                      </a:solidFill>
                      <a:latin typeface="宋体" panose="02010600030101010101" pitchFamily="2" charset="-122"/>
                      <a:ea typeface="宋体" panose="02010600030101010101" pitchFamily="2" charset="-122"/>
                      <a:cs typeface="Arial" panose="020B0604020202020204" pitchFamily="34" charset="0"/>
                    </a:rPr>
                    <a:t>192.168.1.00111111=192.168.1.63</a:t>
                  </a:r>
                  <a:r>
                    <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zh-CN" altLang="en-US" sz="1600" b="1" dirty="0">
                      <a:solidFill>
                        <a:schemeClr val="tx2"/>
                      </a:solidFill>
                      <a:latin typeface="Arial" panose="020B0604020202020204" pitchFamily="34" charset="0"/>
                      <a:ea typeface="微软雅黑" panose="020B0503020204020204" pitchFamily="34" charset="-122"/>
                      <a:cs typeface="Arial" panose="020B0604020202020204" pitchFamily="34" charset="0"/>
                    </a:rPr>
                    <a:t>广播地址</a:t>
                  </a:r>
                  <a:endParaRPr lang="en-US" altLang="zh-CN" sz="16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22587" name="直接连接符 57"/>
                <p:cNvCxnSpPr>
                  <a:cxnSpLocks noChangeShapeType="1"/>
                </p:cNvCxnSpPr>
                <p:nvPr/>
              </p:nvCxnSpPr>
              <p:spPr bwMode="auto">
                <a:xfrm rot="16200000" flipH="1">
                  <a:off x="3081741" y="7966806"/>
                  <a:ext cx="2155339" cy="1"/>
                </a:xfrm>
                <a:prstGeom prst="line">
                  <a:avLst/>
                </a:prstGeom>
                <a:noFill/>
                <a:ln w="19050" algn="ctr">
                  <a:solidFill>
                    <a:srgbClr val="FF0000"/>
                  </a:solidFill>
                  <a:round/>
                </a:ln>
              </p:spPr>
            </p:cxnSp>
          </p:grpSp>
          <p:sp>
            <p:nvSpPr>
              <p:cNvPr id="15" name="右中括号 14"/>
              <p:cNvSpPr/>
              <p:nvPr/>
            </p:nvSpPr>
            <p:spPr bwMode="auto">
              <a:xfrm>
                <a:off x="5886160" y="6790290"/>
                <a:ext cx="109514" cy="1531175"/>
              </a:xfrm>
              <a:prstGeom prst="rightBracket">
                <a:avLst>
                  <a:gd name="adj" fmla="val 60506"/>
                </a:avLst>
              </a:prstGeom>
              <a:noFill/>
              <a:ln w="12700" cap="flat" cmpd="sng" algn="ctr">
                <a:solidFill>
                  <a:schemeClr val="tx2"/>
                </a:solidFill>
                <a:prstDash val="solid"/>
                <a:round/>
                <a:headEnd type="none" w="med" len="med"/>
                <a:tailEnd type="none" w="med" len="med"/>
              </a:ln>
              <a:effectLst/>
            </p:spPr>
            <p:txBody>
              <a:bodyPr wrap="none" anchor="ctr" anchorCtr="1"/>
              <a:lstStyle/>
              <a:p>
                <a:pPr>
                  <a:defRPr/>
                </a:pPr>
                <a:endParaRPr lang="zh-CN" altLang="en-US" sz="16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cxnSp>
            <p:nvCxnSpPr>
              <p:cNvPr id="22584" name="直接箭头连接符 72"/>
              <p:cNvCxnSpPr>
                <a:cxnSpLocks noChangeShapeType="1"/>
              </p:cNvCxnSpPr>
              <p:nvPr/>
            </p:nvCxnSpPr>
            <p:spPr bwMode="auto">
              <a:xfrm rot="10800000" flipV="1">
                <a:off x="5922433" y="8507236"/>
                <a:ext cx="438155" cy="1588"/>
              </a:xfrm>
              <a:prstGeom prst="straightConnector1">
                <a:avLst/>
              </a:prstGeom>
              <a:noFill/>
              <a:ln w="12700" algn="ctr">
                <a:solidFill>
                  <a:schemeClr val="tx2"/>
                </a:solidFill>
                <a:round/>
                <a:tailEnd type="arrow" w="med" len="med"/>
              </a:ln>
            </p:spPr>
          </p:cxnSp>
          <p:cxnSp>
            <p:nvCxnSpPr>
              <p:cNvPr id="22585" name="直接箭头连接符 74"/>
              <p:cNvCxnSpPr>
                <a:cxnSpLocks noChangeShapeType="1"/>
              </p:cNvCxnSpPr>
              <p:nvPr/>
            </p:nvCxnSpPr>
            <p:spPr bwMode="auto">
              <a:xfrm rot="10800000" flipV="1">
                <a:off x="5885930" y="6571087"/>
                <a:ext cx="438155" cy="1588"/>
              </a:xfrm>
              <a:prstGeom prst="straightConnector1">
                <a:avLst/>
              </a:prstGeom>
              <a:noFill/>
              <a:ln w="12700" algn="ctr">
                <a:solidFill>
                  <a:schemeClr val="tx2"/>
                </a:solidFill>
                <a:round/>
                <a:tailEnd type="arrow" w="med" len="med"/>
              </a:ln>
            </p:spPr>
          </p:cxnSp>
        </p:grpSp>
        <p:cxnSp>
          <p:nvCxnSpPr>
            <p:cNvPr id="22581" name="直接连接符 57"/>
            <p:cNvCxnSpPr>
              <a:cxnSpLocks noChangeShapeType="1"/>
            </p:cNvCxnSpPr>
            <p:nvPr/>
          </p:nvCxnSpPr>
          <p:spPr bwMode="auto">
            <a:xfrm rot="16200000" flipH="1">
              <a:off x="2103763" y="9790554"/>
              <a:ext cx="2154270" cy="1"/>
            </a:xfrm>
            <a:prstGeom prst="line">
              <a:avLst/>
            </a:prstGeom>
            <a:noFill/>
            <a:ln w="19050" algn="ctr">
              <a:solidFill>
                <a:srgbClr val="FF0000"/>
              </a:solidFill>
              <a:round/>
            </a:ln>
          </p:spPr>
        </p:cxnSp>
      </p:grpSp>
      <p:grpSp>
        <p:nvGrpSpPr>
          <p:cNvPr id="8" name="组合 71"/>
          <p:cNvGrpSpPr/>
          <p:nvPr/>
        </p:nvGrpSpPr>
        <p:grpSpPr bwMode="auto">
          <a:xfrm>
            <a:off x="1109663" y="2122488"/>
            <a:ext cx="6462712" cy="1971675"/>
            <a:chOff x="701622" y="1858941"/>
            <a:chExt cx="6462801" cy="1971702"/>
          </a:xfrm>
        </p:grpSpPr>
        <p:grpSp>
          <p:nvGrpSpPr>
            <p:cNvPr id="9" name="组合 36"/>
            <p:cNvGrpSpPr/>
            <p:nvPr/>
          </p:nvGrpSpPr>
          <p:grpSpPr bwMode="auto">
            <a:xfrm>
              <a:off x="2016090" y="1858943"/>
              <a:ext cx="3833866" cy="1692298"/>
              <a:chOff x="2052638" y="4264027"/>
              <a:chExt cx="4819650" cy="2127431"/>
            </a:xfrm>
          </p:grpSpPr>
          <p:grpSp>
            <p:nvGrpSpPr>
              <p:cNvPr id="10" name="组合 18"/>
              <p:cNvGrpSpPr/>
              <p:nvPr/>
            </p:nvGrpSpPr>
            <p:grpSpPr bwMode="auto">
              <a:xfrm>
                <a:off x="4754835" y="4268016"/>
                <a:ext cx="2117453" cy="2119449"/>
                <a:chOff x="1140050" y="1821656"/>
                <a:chExt cx="2117482" cy="2119478"/>
              </a:xfrm>
            </p:grpSpPr>
            <p:sp>
              <p:nvSpPr>
                <p:cNvPr id="37" name="流程图: 或者 22"/>
                <p:cNvSpPr/>
                <p:nvPr/>
              </p:nvSpPr>
              <p:spPr bwMode="auto">
                <a:xfrm>
                  <a:off x="1140050" y="1821656"/>
                  <a:ext cx="2117481" cy="2119477"/>
                </a:xfrm>
                <a:prstGeom prst="flowChartOr">
                  <a:avLst/>
                </a:prstGeom>
                <a:noFill/>
                <a:ln w="12700" cap="flat" cmpd="sng" algn="ctr">
                  <a:solidFill>
                    <a:schemeClr val="tx2"/>
                  </a:solidFill>
                  <a:prstDash val="solid"/>
                  <a:round/>
                  <a:headEnd type="none" w="med" len="med"/>
                  <a:tailEnd type="none" w="med" len="med"/>
                </a:ln>
                <a:effectLst/>
              </p:spPr>
              <p:txBody>
                <a:bodyPr wrap="none" anchor="ctr" anchorCtr="1"/>
                <a:lstStyle/>
                <a:p>
                  <a:pPr>
                    <a:defRPr/>
                  </a:pPr>
                  <a:endParaRPr lang="zh-CN" altLang="en-US" sz="24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8" name="饼形 23"/>
                <p:cNvSpPr/>
                <p:nvPr/>
              </p:nvSpPr>
              <p:spPr bwMode="auto">
                <a:xfrm>
                  <a:off x="1140050" y="1821656"/>
                  <a:ext cx="2117481" cy="2119477"/>
                </a:xfrm>
                <a:prstGeom prst="pie">
                  <a:avLst>
                    <a:gd name="adj1" fmla="val 10800000"/>
                    <a:gd name="adj2" fmla="val 16200000"/>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defRPr/>
                  </a:pPr>
                  <a:endParaRPr lang="zh-CN" altLang="en-US" sz="24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9" name="饼形 38"/>
                <p:cNvSpPr/>
                <p:nvPr/>
              </p:nvSpPr>
              <p:spPr bwMode="auto">
                <a:xfrm rot="10800000">
                  <a:off x="1140050" y="1821656"/>
                  <a:ext cx="2117481" cy="2119477"/>
                </a:xfrm>
                <a:prstGeom prst="pie">
                  <a:avLst>
                    <a:gd name="adj1" fmla="val 10800000"/>
                    <a:gd name="adj2" fmla="val 16200000"/>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defRPr/>
                  </a:pPr>
                  <a:endParaRPr lang="zh-CN" altLang="en-US" sz="24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grpSp>
            <p:nvGrpSpPr>
              <p:cNvPr id="11" name="组合 34"/>
              <p:cNvGrpSpPr/>
              <p:nvPr/>
            </p:nvGrpSpPr>
            <p:grpSpPr bwMode="auto">
              <a:xfrm>
                <a:off x="2052638" y="4264027"/>
                <a:ext cx="2123442" cy="2127431"/>
                <a:chOff x="2052603" y="4264024"/>
                <a:chExt cx="2123457" cy="2127460"/>
              </a:xfrm>
            </p:grpSpPr>
            <p:sp>
              <p:nvSpPr>
                <p:cNvPr id="33" name="椭圆 32"/>
                <p:cNvSpPr/>
                <p:nvPr/>
              </p:nvSpPr>
              <p:spPr bwMode="auto">
                <a:xfrm>
                  <a:off x="2052603" y="4268013"/>
                  <a:ext cx="2119463" cy="2119477"/>
                </a:xfrm>
                <a:prstGeom prst="ellipse">
                  <a:avLst/>
                </a:prstGeom>
                <a:noFill/>
                <a:ln w="12700" cap="flat" cmpd="sng" algn="ctr">
                  <a:solidFill>
                    <a:schemeClr val="tx2"/>
                  </a:solidFill>
                  <a:prstDash val="solid"/>
                  <a:round/>
                  <a:headEnd type="none" w="med" len="med"/>
                  <a:tailEnd type="none" w="med" len="med"/>
                </a:ln>
                <a:effectLst/>
              </p:spPr>
              <p:txBody>
                <a:bodyPr wrap="none" anchor="ctr" anchorCtr="1"/>
                <a:lstStyle/>
                <a:p>
                  <a:pPr>
                    <a:defRPr/>
                  </a:pPr>
                  <a:endParaRPr lang="zh-CN" altLang="en-US" sz="24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nvGrpSpPr>
                <p:cNvPr id="12" name="组合 33"/>
                <p:cNvGrpSpPr/>
                <p:nvPr/>
              </p:nvGrpSpPr>
              <p:grpSpPr bwMode="auto">
                <a:xfrm rot="5400000">
                  <a:off x="2052598" y="4268021"/>
                  <a:ext cx="2127460" cy="2119465"/>
                  <a:chOff x="253939" y="4267847"/>
                  <a:chExt cx="2127460" cy="2119465"/>
                </a:xfrm>
              </p:grpSpPr>
              <p:sp>
                <p:nvSpPr>
                  <p:cNvPr id="35" name="饼形 34"/>
                  <p:cNvSpPr/>
                  <p:nvPr/>
                </p:nvSpPr>
                <p:spPr bwMode="auto">
                  <a:xfrm>
                    <a:off x="263914" y="4267850"/>
                    <a:ext cx="2117482" cy="2119462"/>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6" name="饼形 35"/>
                  <p:cNvSpPr/>
                  <p:nvPr/>
                </p:nvSpPr>
                <p:spPr bwMode="auto">
                  <a:xfrm rot="5400000">
                    <a:off x="252946" y="4268842"/>
                    <a:ext cx="2119462" cy="2117481"/>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grpSp>
          <p:sp>
            <p:nvSpPr>
              <p:cNvPr id="22567" name="TextBox 35"/>
              <p:cNvSpPr txBox="1">
                <a:spLocks noChangeArrowheads="1"/>
              </p:cNvSpPr>
              <p:nvPr/>
            </p:nvSpPr>
            <p:spPr bwMode="auto">
              <a:xfrm>
                <a:off x="3351214" y="4973637"/>
                <a:ext cx="447779" cy="580379"/>
              </a:xfrm>
              <a:prstGeom prst="rect">
                <a:avLst/>
              </a:prstGeom>
              <a:noFill/>
              <a:ln w="9525">
                <a:noFill/>
                <a:miter lim="800000"/>
              </a:ln>
            </p:spPr>
            <p:txBody>
              <a:bodyPr wrap="none">
                <a:spAutoFit/>
              </a:bodyPr>
              <a:lstStyle/>
              <a:p>
                <a:r>
                  <a:rPr lang="en-US" altLang="zh-CN" sz="2400" b="1">
                    <a:solidFill>
                      <a:schemeClr val="tx2"/>
                    </a:solidFill>
                    <a:latin typeface="Arial" panose="020B0604020202020204" pitchFamily="34" charset="0"/>
                    <a:ea typeface="微软雅黑" panose="020B0503020204020204" pitchFamily="34" charset="-122"/>
                    <a:cs typeface="Arial" panose="020B0604020202020204" pitchFamily="34" charset="0"/>
                  </a:rPr>
                  <a:t>0</a:t>
                </a:r>
              </a:p>
            </p:txBody>
          </p:sp>
          <p:sp>
            <p:nvSpPr>
              <p:cNvPr id="22568" name="TextBox 36"/>
              <p:cNvSpPr txBox="1">
                <a:spLocks noChangeArrowheads="1"/>
              </p:cNvSpPr>
              <p:nvPr/>
            </p:nvSpPr>
            <p:spPr bwMode="auto">
              <a:xfrm>
                <a:off x="2511425" y="4962526"/>
                <a:ext cx="447779" cy="580379"/>
              </a:xfrm>
              <a:prstGeom prst="rect">
                <a:avLst/>
              </a:prstGeom>
              <a:noFill/>
              <a:ln w="9525">
                <a:noFill/>
                <a:miter lim="800000"/>
              </a:ln>
            </p:spPr>
            <p:txBody>
              <a:bodyPr wrap="none">
                <a:spAutoFit/>
              </a:bodyPr>
              <a:lstStyle/>
              <a:p>
                <a:r>
                  <a:rPr lang="en-US" altLang="zh-CN" sz="2400" b="1">
                    <a:solidFill>
                      <a:schemeClr val="tx2"/>
                    </a:solidFill>
                    <a:latin typeface="Arial" panose="020B0604020202020204" pitchFamily="34" charset="0"/>
                    <a:ea typeface="微软雅黑" panose="020B0503020204020204" pitchFamily="34" charset="-122"/>
                    <a:cs typeface="Arial" panose="020B0604020202020204" pitchFamily="34" charset="0"/>
                  </a:rPr>
                  <a:t>1</a:t>
                </a:r>
              </a:p>
            </p:txBody>
          </p:sp>
          <p:sp>
            <p:nvSpPr>
              <p:cNvPr id="22569" name="TextBox 37"/>
              <p:cNvSpPr txBox="1">
                <a:spLocks noChangeArrowheads="1"/>
              </p:cNvSpPr>
              <p:nvPr/>
            </p:nvSpPr>
            <p:spPr bwMode="auto">
              <a:xfrm>
                <a:off x="5922963" y="4597400"/>
                <a:ext cx="663406" cy="580379"/>
              </a:xfrm>
              <a:prstGeom prst="rect">
                <a:avLst/>
              </a:prstGeom>
              <a:noFill/>
              <a:ln w="9525">
                <a:noFill/>
                <a:miter lim="800000"/>
              </a:ln>
            </p:spPr>
            <p:txBody>
              <a:bodyPr wrap="none">
                <a:spAutoFit/>
              </a:bodyPr>
              <a:lstStyle/>
              <a:p>
                <a:r>
                  <a:rPr lang="en-US" altLang="zh-CN" sz="2400" b="1">
                    <a:solidFill>
                      <a:schemeClr val="tx2"/>
                    </a:solidFill>
                    <a:latin typeface="Arial" panose="020B0604020202020204" pitchFamily="34" charset="0"/>
                    <a:ea typeface="微软雅黑" panose="020B0503020204020204" pitchFamily="34" charset="-122"/>
                    <a:cs typeface="Arial" panose="020B0604020202020204" pitchFamily="34" charset="0"/>
                  </a:rPr>
                  <a:t>00</a:t>
                </a:r>
              </a:p>
            </p:txBody>
          </p:sp>
          <p:sp>
            <p:nvSpPr>
              <p:cNvPr id="22570" name="TextBox 38"/>
              <p:cNvSpPr txBox="1">
                <a:spLocks noChangeArrowheads="1"/>
              </p:cNvSpPr>
              <p:nvPr/>
            </p:nvSpPr>
            <p:spPr bwMode="auto">
              <a:xfrm>
                <a:off x="5922963" y="5473700"/>
                <a:ext cx="663406" cy="580379"/>
              </a:xfrm>
              <a:prstGeom prst="rect">
                <a:avLst/>
              </a:prstGeom>
              <a:noFill/>
              <a:ln w="9525">
                <a:noFill/>
                <a:miter lim="800000"/>
              </a:ln>
            </p:spPr>
            <p:txBody>
              <a:bodyPr wrap="none">
                <a:spAutoFit/>
              </a:bodyPr>
              <a:lstStyle/>
              <a:p>
                <a:r>
                  <a:rPr lang="en-US" altLang="zh-CN" sz="2400" b="1">
                    <a:solidFill>
                      <a:schemeClr val="tx2"/>
                    </a:solidFill>
                    <a:latin typeface="Arial" panose="020B0604020202020204" pitchFamily="34" charset="0"/>
                    <a:ea typeface="微软雅黑" panose="020B0503020204020204" pitchFamily="34" charset="-122"/>
                    <a:cs typeface="Arial" panose="020B0604020202020204" pitchFamily="34" charset="0"/>
                  </a:rPr>
                  <a:t>01</a:t>
                </a:r>
              </a:p>
            </p:txBody>
          </p:sp>
          <p:sp>
            <p:nvSpPr>
              <p:cNvPr id="22571" name="TextBox 39"/>
              <p:cNvSpPr txBox="1">
                <a:spLocks noChangeArrowheads="1"/>
              </p:cNvSpPr>
              <p:nvPr/>
            </p:nvSpPr>
            <p:spPr bwMode="auto">
              <a:xfrm>
                <a:off x="5083174" y="4597400"/>
                <a:ext cx="642044" cy="580379"/>
              </a:xfrm>
              <a:prstGeom prst="rect">
                <a:avLst/>
              </a:prstGeom>
              <a:noFill/>
              <a:ln w="9525">
                <a:noFill/>
                <a:miter lim="800000"/>
              </a:ln>
            </p:spPr>
            <p:txBody>
              <a:bodyPr wrap="none">
                <a:spAutoFit/>
              </a:bodyPr>
              <a:lstStyle/>
              <a:p>
                <a:r>
                  <a:rPr lang="en-US" altLang="zh-CN" sz="2400" b="1">
                    <a:solidFill>
                      <a:schemeClr val="tx2"/>
                    </a:solidFill>
                    <a:latin typeface="Arial" panose="020B0604020202020204" pitchFamily="34" charset="0"/>
                    <a:ea typeface="微软雅黑" panose="020B0503020204020204" pitchFamily="34" charset="-122"/>
                    <a:cs typeface="Arial" panose="020B0604020202020204" pitchFamily="34" charset="0"/>
                  </a:rPr>
                  <a:t>11</a:t>
                </a:r>
              </a:p>
            </p:txBody>
          </p:sp>
          <p:sp>
            <p:nvSpPr>
              <p:cNvPr id="22572" name="TextBox 40"/>
              <p:cNvSpPr txBox="1">
                <a:spLocks noChangeArrowheads="1"/>
              </p:cNvSpPr>
              <p:nvPr/>
            </p:nvSpPr>
            <p:spPr bwMode="auto">
              <a:xfrm>
                <a:off x="5054600" y="5473700"/>
                <a:ext cx="663406" cy="580379"/>
              </a:xfrm>
              <a:prstGeom prst="rect">
                <a:avLst/>
              </a:prstGeom>
              <a:noFill/>
              <a:ln w="9525">
                <a:noFill/>
                <a:miter lim="800000"/>
              </a:ln>
            </p:spPr>
            <p:txBody>
              <a:bodyPr wrap="none">
                <a:spAutoFit/>
              </a:bodyPr>
              <a:lstStyle/>
              <a:p>
                <a:r>
                  <a:rPr lang="en-US" altLang="zh-CN" sz="2400" b="1">
                    <a:solidFill>
                      <a:schemeClr val="tx2"/>
                    </a:solidFill>
                    <a:latin typeface="Arial" panose="020B0604020202020204" pitchFamily="34" charset="0"/>
                    <a:ea typeface="微软雅黑" panose="020B0503020204020204" pitchFamily="34" charset="-122"/>
                    <a:cs typeface="Arial" panose="020B0604020202020204" pitchFamily="34" charset="0"/>
                  </a:rPr>
                  <a:t>10</a:t>
                </a:r>
              </a:p>
            </p:txBody>
          </p:sp>
        </p:grpSp>
        <p:sp>
          <p:nvSpPr>
            <p:cNvPr id="22563" name="圆角矩形标注 69"/>
            <p:cNvSpPr>
              <a:spLocks noChangeArrowheads="1"/>
            </p:cNvSpPr>
            <p:nvPr/>
          </p:nvSpPr>
          <p:spPr bwMode="auto">
            <a:xfrm flipH="1">
              <a:off x="701622" y="3437073"/>
              <a:ext cx="1424007" cy="393570"/>
            </a:xfrm>
            <a:prstGeom prst="wedgeRoundRectCallout">
              <a:avLst>
                <a:gd name="adj1" fmla="val -48958"/>
                <a:gd name="adj2" fmla="val -130287"/>
                <a:gd name="adj3" fmla="val 16667"/>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rPr>
                <a:t>借位一位</a:t>
              </a:r>
            </a:p>
          </p:txBody>
        </p:sp>
        <p:sp>
          <p:nvSpPr>
            <p:cNvPr id="22564" name="圆角矩形标注 70"/>
            <p:cNvSpPr>
              <a:spLocks noChangeArrowheads="1"/>
            </p:cNvSpPr>
            <p:nvPr/>
          </p:nvSpPr>
          <p:spPr bwMode="auto">
            <a:xfrm>
              <a:off x="5740416" y="3429000"/>
              <a:ext cx="1424007" cy="393570"/>
            </a:xfrm>
            <a:prstGeom prst="wedgeRoundRectCallout">
              <a:avLst>
                <a:gd name="adj1" fmla="val -48958"/>
                <a:gd name="adj2" fmla="val -130287"/>
                <a:gd name="adj3" fmla="val 16667"/>
              </a:avLst>
            </a:prstGeom>
            <a:solidFill>
              <a:schemeClr val="bg1"/>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sz="1400" dirty="0">
                  <a:solidFill>
                    <a:schemeClr val="tx1">
                      <a:lumMod val="65000"/>
                      <a:lumOff val="35000"/>
                    </a:schemeClr>
                  </a:solidFill>
                  <a:latin typeface="微软雅黑" panose="020B0503020204020204" pitchFamily="34" charset="-122"/>
                  <a:ea typeface="微软雅黑" panose="020B0503020204020204" pitchFamily="34" charset="-122"/>
                  <a:sym typeface="+mn-ea"/>
                </a:rPr>
                <a:t>借位两位</a:t>
              </a:r>
            </a:p>
          </p:txBody>
        </p:sp>
      </p:grpSp>
      <p:grpSp>
        <p:nvGrpSpPr>
          <p:cNvPr id="13" name="组合 73"/>
          <p:cNvGrpSpPr/>
          <p:nvPr/>
        </p:nvGrpSpPr>
        <p:grpSpPr bwMode="auto">
          <a:xfrm>
            <a:off x="881063" y="1900238"/>
            <a:ext cx="7512265" cy="1539875"/>
            <a:chOff x="446031" y="1895454"/>
            <a:chExt cx="7513025" cy="1540428"/>
          </a:xfrm>
        </p:grpSpPr>
        <p:grpSp>
          <p:nvGrpSpPr>
            <p:cNvPr id="14" name="组合 65"/>
            <p:cNvGrpSpPr/>
            <p:nvPr/>
          </p:nvGrpSpPr>
          <p:grpSpPr bwMode="auto">
            <a:xfrm>
              <a:off x="446031" y="2370123"/>
              <a:ext cx="7513025" cy="1065759"/>
              <a:chOff x="665109" y="2248412"/>
              <a:chExt cx="7513025" cy="1065759"/>
            </a:xfrm>
          </p:grpSpPr>
          <p:sp>
            <p:nvSpPr>
              <p:cNvPr id="22543" name="AutoShape 8"/>
              <p:cNvSpPr>
                <a:spLocks noChangeArrowheads="1"/>
              </p:cNvSpPr>
              <p:nvPr/>
            </p:nvSpPr>
            <p:spPr bwMode="auto">
              <a:xfrm>
                <a:off x="4098454" y="2650055"/>
                <a:ext cx="620721" cy="255591"/>
              </a:xfrm>
              <a:prstGeom prst="rightArrow">
                <a:avLst>
                  <a:gd name="adj1" fmla="val 49861"/>
                  <a:gd name="adj2" fmla="val 70957"/>
                </a:avLst>
              </a:prstGeom>
              <a:gradFill rotWithShape="1">
                <a:gsLst>
                  <a:gs pos="0">
                    <a:srgbClr val="3399FF"/>
                  </a:gs>
                  <a:gs pos="100000">
                    <a:schemeClr val="bg1"/>
                  </a:gs>
                </a:gsLst>
                <a:lin ang="5400000" scaled="1"/>
              </a:gradFill>
              <a:ln w="12700" cap="rnd" algn="ctr">
                <a:solidFill>
                  <a:srgbClr val="3399FF"/>
                </a:solidFill>
                <a:miter lim="800000"/>
              </a:ln>
            </p:spPr>
            <p:txBody>
              <a:bodyPr/>
              <a:lstStyle/>
              <a:p>
                <a:endParaRPr lang="zh-CN" altLang="en-US" sz="14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2544" name="TextBox 38"/>
              <p:cNvSpPr txBox="1">
                <a:spLocks noChangeArrowheads="1"/>
              </p:cNvSpPr>
              <p:nvPr/>
            </p:nvSpPr>
            <p:spPr bwMode="auto">
              <a:xfrm>
                <a:off x="665109" y="2324144"/>
                <a:ext cx="3504584" cy="738930"/>
              </a:xfrm>
              <a:prstGeom prst="rect">
                <a:avLst/>
              </a:prstGeom>
              <a:noFill/>
              <a:ln w="9525">
                <a:noFill/>
                <a:miter lim="800000"/>
              </a:ln>
            </p:spPr>
            <p:txBody>
              <a:bodyPr wrap="none">
                <a:spAutoFit/>
              </a:bodyPr>
              <a:lstStyle/>
              <a:p>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     192.             168.               1.              0</a:t>
                </a:r>
              </a:p>
              <a:p>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11000000.10101000.00000001.00000000</a:t>
                </a:r>
              </a:p>
              <a:p>
                <a:endPar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2545" name="TextBox 39"/>
              <p:cNvSpPr txBox="1">
                <a:spLocks noChangeArrowheads="1"/>
              </p:cNvSpPr>
              <p:nvPr/>
            </p:nvSpPr>
            <p:spPr bwMode="auto">
              <a:xfrm>
                <a:off x="4673550" y="2324144"/>
                <a:ext cx="3504584" cy="738930"/>
              </a:xfrm>
              <a:prstGeom prst="rect">
                <a:avLst/>
              </a:prstGeom>
              <a:noFill/>
              <a:ln w="9525">
                <a:noFill/>
                <a:miter lim="800000"/>
              </a:ln>
            </p:spPr>
            <p:txBody>
              <a:bodyPr wrap="none">
                <a:spAutoFit/>
              </a:bodyPr>
              <a:lstStyle/>
              <a:p>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     192.              168.               1.00000000</a:t>
                </a:r>
              </a:p>
              <a:p>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11000000.10101000.00000001.00000000</a:t>
                </a:r>
              </a:p>
              <a:p>
                <a:endPar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22546" name="直接箭头连接符 15"/>
              <p:cNvCxnSpPr>
                <a:cxnSpLocks noChangeShapeType="1"/>
              </p:cNvCxnSpPr>
              <p:nvPr/>
            </p:nvCxnSpPr>
            <p:spPr bwMode="auto">
              <a:xfrm>
                <a:off x="2656719" y="3062451"/>
                <a:ext cx="614294" cy="2501"/>
              </a:xfrm>
              <a:prstGeom prst="straightConnector1">
                <a:avLst/>
              </a:prstGeom>
              <a:noFill/>
              <a:ln w="12700" algn="ctr">
                <a:solidFill>
                  <a:schemeClr val="tx2"/>
                </a:solidFill>
                <a:round/>
                <a:tailEnd type="arrow" w="med" len="med"/>
              </a:ln>
            </p:spPr>
          </p:cxnSp>
          <p:cxnSp>
            <p:nvCxnSpPr>
              <p:cNvPr id="22547" name="直接箭头连接符 17"/>
              <p:cNvCxnSpPr>
                <a:cxnSpLocks noChangeShapeType="1"/>
              </p:cNvCxnSpPr>
              <p:nvPr/>
            </p:nvCxnSpPr>
            <p:spPr bwMode="auto">
              <a:xfrm rot="10800000" flipV="1">
                <a:off x="753111" y="3062451"/>
                <a:ext cx="626373" cy="2501"/>
              </a:xfrm>
              <a:prstGeom prst="straightConnector1">
                <a:avLst/>
              </a:prstGeom>
              <a:noFill/>
              <a:ln w="12700" algn="ctr">
                <a:solidFill>
                  <a:schemeClr val="tx2"/>
                </a:solidFill>
                <a:round/>
                <a:tailEnd type="arrow" w="med" len="med"/>
              </a:ln>
            </p:spPr>
          </p:cxnSp>
          <p:cxnSp>
            <p:nvCxnSpPr>
              <p:cNvPr id="22548" name="直接连接符 18"/>
              <p:cNvCxnSpPr>
                <a:cxnSpLocks noChangeShapeType="1"/>
              </p:cNvCxnSpPr>
              <p:nvPr/>
            </p:nvCxnSpPr>
            <p:spPr bwMode="auto">
              <a:xfrm rot="5400000">
                <a:off x="217787" y="2776756"/>
                <a:ext cx="1053586" cy="3259"/>
              </a:xfrm>
              <a:prstGeom prst="line">
                <a:avLst/>
              </a:prstGeom>
              <a:noFill/>
              <a:ln w="12700" algn="ctr">
                <a:solidFill>
                  <a:schemeClr val="tx2"/>
                </a:solidFill>
                <a:prstDash val="dash"/>
                <a:round/>
              </a:ln>
            </p:spPr>
          </p:cxnSp>
          <p:sp>
            <p:nvSpPr>
              <p:cNvPr id="22549" name="TextBox 48"/>
              <p:cNvSpPr txBox="1">
                <a:spLocks noChangeArrowheads="1"/>
              </p:cNvSpPr>
              <p:nvPr/>
            </p:nvSpPr>
            <p:spPr bwMode="auto">
              <a:xfrm>
                <a:off x="1800969" y="2859803"/>
                <a:ext cx="563032" cy="307888"/>
              </a:xfrm>
              <a:prstGeom prst="rect">
                <a:avLst/>
              </a:prstGeom>
              <a:noFill/>
              <a:ln w="9525">
                <a:noFill/>
                <a:miter lim="800000"/>
              </a:ln>
            </p:spPr>
            <p:txBody>
              <a:bodyPr wrap="none">
                <a:spAutoFit/>
              </a:bodyPr>
              <a:lstStyle/>
              <a:p>
                <a:r>
                  <a:rPr lang="en-US" altLang="zh-CN" sz="1400" b="1">
                    <a:solidFill>
                      <a:schemeClr val="tx2"/>
                    </a:solidFill>
                    <a:latin typeface="Arial" panose="020B0604020202020204" pitchFamily="34" charset="0"/>
                    <a:ea typeface="微软雅黑" panose="020B0503020204020204" pitchFamily="34" charset="-122"/>
                    <a:cs typeface="Arial" panose="020B0604020202020204" pitchFamily="34" charset="0"/>
                  </a:rPr>
                  <a:t>24</a:t>
                </a:r>
                <a:r>
                  <a:rPr lang="zh-CN" altLang="en-US" sz="1400" b="1">
                    <a:solidFill>
                      <a:schemeClr val="tx2"/>
                    </a:solidFill>
                    <a:latin typeface="Arial" panose="020B0604020202020204" pitchFamily="34" charset="0"/>
                    <a:ea typeface="微软雅黑" panose="020B0503020204020204" pitchFamily="34" charset="-122"/>
                    <a:cs typeface="Arial" panose="020B0604020202020204" pitchFamily="34" charset="0"/>
                  </a:rPr>
                  <a:t>位</a:t>
                </a:r>
                <a:endParaRPr lang="en-US" altLang="zh-CN" sz="14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2550" name="TextBox 49"/>
              <p:cNvSpPr txBox="1">
                <a:spLocks noChangeArrowheads="1"/>
              </p:cNvSpPr>
              <p:nvPr/>
            </p:nvSpPr>
            <p:spPr bwMode="auto">
              <a:xfrm>
                <a:off x="3413610" y="2872840"/>
                <a:ext cx="474858" cy="307888"/>
              </a:xfrm>
              <a:prstGeom prst="rect">
                <a:avLst/>
              </a:prstGeom>
              <a:noFill/>
              <a:ln w="9525">
                <a:noFill/>
                <a:miter lim="800000"/>
              </a:ln>
            </p:spPr>
            <p:txBody>
              <a:bodyPr wrap="none">
                <a:spAutoFit/>
              </a:bodyPr>
              <a:lstStyle/>
              <a:p>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8</a:t>
                </a: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位</a:t>
                </a:r>
                <a:endPar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22551" name="直接箭头连接符 26"/>
              <p:cNvCxnSpPr>
                <a:cxnSpLocks noChangeShapeType="1"/>
              </p:cNvCxnSpPr>
              <p:nvPr/>
            </p:nvCxnSpPr>
            <p:spPr bwMode="auto">
              <a:xfrm>
                <a:off x="3885334" y="3062451"/>
                <a:ext cx="177731" cy="2501"/>
              </a:xfrm>
              <a:prstGeom prst="straightConnector1">
                <a:avLst/>
              </a:prstGeom>
              <a:noFill/>
              <a:ln w="12700" algn="ctr">
                <a:solidFill>
                  <a:schemeClr val="tx2"/>
                </a:solidFill>
                <a:round/>
                <a:tailEnd type="arrow" w="med" len="med"/>
              </a:ln>
            </p:spPr>
          </p:cxnSp>
          <p:cxnSp>
            <p:nvCxnSpPr>
              <p:cNvPr id="22552" name="直接箭头连接符 30"/>
              <p:cNvCxnSpPr>
                <a:cxnSpLocks noChangeShapeType="1"/>
              </p:cNvCxnSpPr>
              <p:nvPr/>
            </p:nvCxnSpPr>
            <p:spPr bwMode="auto">
              <a:xfrm flipH="1">
                <a:off x="3271014" y="3062451"/>
                <a:ext cx="177731" cy="2501"/>
              </a:xfrm>
              <a:prstGeom prst="straightConnector1">
                <a:avLst/>
              </a:prstGeom>
              <a:noFill/>
              <a:ln w="12700" algn="ctr">
                <a:solidFill>
                  <a:schemeClr val="tx2"/>
                </a:solidFill>
                <a:round/>
                <a:tailEnd type="arrow" w="med" len="med"/>
              </a:ln>
            </p:spPr>
          </p:cxnSp>
          <p:sp>
            <p:nvSpPr>
              <p:cNvPr id="22553" name="TextBox 52"/>
              <p:cNvSpPr txBox="1">
                <a:spLocks noChangeArrowheads="1"/>
              </p:cNvSpPr>
              <p:nvPr/>
            </p:nvSpPr>
            <p:spPr bwMode="auto">
              <a:xfrm>
                <a:off x="5675470" y="2844792"/>
                <a:ext cx="563032" cy="307888"/>
              </a:xfrm>
              <a:prstGeom prst="rect">
                <a:avLst/>
              </a:prstGeom>
              <a:noFill/>
              <a:ln w="9525">
                <a:noFill/>
                <a:miter lim="800000"/>
              </a:ln>
            </p:spPr>
            <p:txBody>
              <a:bodyPr wrap="none">
                <a:spAutoFit/>
              </a:bodyPr>
              <a:lstStyle/>
              <a:p>
                <a:r>
                  <a:rPr lang="en-US" altLang="zh-CN" sz="1400" b="1">
                    <a:solidFill>
                      <a:schemeClr val="tx2"/>
                    </a:solidFill>
                    <a:latin typeface="Arial" panose="020B0604020202020204" pitchFamily="34" charset="0"/>
                    <a:ea typeface="微软雅黑" panose="020B0503020204020204" pitchFamily="34" charset="-122"/>
                    <a:cs typeface="Arial" panose="020B0604020202020204" pitchFamily="34" charset="0"/>
                  </a:rPr>
                  <a:t>26</a:t>
                </a:r>
                <a:r>
                  <a:rPr lang="zh-CN" altLang="en-US" sz="1400" b="1">
                    <a:solidFill>
                      <a:schemeClr val="tx2"/>
                    </a:solidFill>
                    <a:latin typeface="Arial" panose="020B0604020202020204" pitchFamily="34" charset="0"/>
                    <a:ea typeface="微软雅黑" panose="020B0503020204020204" pitchFamily="34" charset="-122"/>
                    <a:cs typeface="Arial" panose="020B0604020202020204" pitchFamily="34" charset="0"/>
                  </a:rPr>
                  <a:t>位</a:t>
                </a:r>
                <a:endParaRPr lang="en-US" altLang="zh-CN" sz="14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2554" name="TextBox 53"/>
              <p:cNvSpPr txBox="1">
                <a:spLocks noChangeArrowheads="1"/>
              </p:cNvSpPr>
              <p:nvPr/>
            </p:nvSpPr>
            <p:spPr bwMode="auto">
              <a:xfrm>
                <a:off x="7513837" y="2860859"/>
                <a:ext cx="474858" cy="307888"/>
              </a:xfrm>
              <a:prstGeom prst="rect">
                <a:avLst/>
              </a:prstGeom>
              <a:noFill/>
              <a:ln w="9525">
                <a:noFill/>
                <a:miter lim="800000"/>
              </a:ln>
            </p:spPr>
            <p:txBody>
              <a:bodyPr wrap="none">
                <a:spAutoFit/>
              </a:bodyPr>
              <a:lstStyle/>
              <a:p>
                <a:r>
                  <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6</a:t>
                </a:r>
                <a:r>
                  <a:rPr lang="zh-CN" altLang="en-US" sz="1400" b="1" dirty="0">
                    <a:solidFill>
                      <a:schemeClr val="tx2"/>
                    </a:solidFill>
                    <a:latin typeface="Arial" panose="020B0604020202020204" pitchFamily="34" charset="0"/>
                    <a:ea typeface="微软雅黑" panose="020B0503020204020204" pitchFamily="34" charset="-122"/>
                    <a:cs typeface="Arial" panose="020B0604020202020204" pitchFamily="34" charset="0"/>
                  </a:rPr>
                  <a:t>位</a:t>
                </a:r>
                <a:endParaRPr lang="en-US" altLang="zh-CN" sz="1400"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22555" name="直接箭头连接符 40"/>
              <p:cNvCxnSpPr>
                <a:cxnSpLocks noChangeShapeType="1"/>
              </p:cNvCxnSpPr>
              <p:nvPr/>
            </p:nvCxnSpPr>
            <p:spPr bwMode="auto">
              <a:xfrm>
                <a:off x="6513549" y="3063987"/>
                <a:ext cx="969446" cy="0"/>
              </a:xfrm>
              <a:prstGeom prst="straightConnector1">
                <a:avLst/>
              </a:prstGeom>
              <a:noFill/>
              <a:ln w="12700" algn="ctr">
                <a:solidFill>
                  <a:schemeClr val="tx2"/>
                </a:solidFill>
                <a:round/>
                <a:tailEnd type="arrow" w="med" len="med"/>
              </a:ln>
            </p:spPr>
          </p:cxnSp>
          <p:cxnSp>
            <p:nvCxnSpPr>
              <p:cNvPr id="22556" name="直接箭头连接符 42"/>
              <p:cNvCxnSpPr>
                <a:cxnSpLocks noChangeShapeType="1"/>
              </p:cNvCxnSpPr>
              <p:nvPr/>
            </p:nvCxnSpPr>
            <p:spPr bwMode="auto">
              <a:xfrm flipH="1">
                <a:off x="4761553" y="3066490"/>
                <a:ext cx="833438" cy="2501"/>
              </a:xfrm>
              <a:prstGeom prst="straightConnector1">
                <a:avLst/>
              </a:prstGeom>
              <a:noFill/>
              <a:ln w="12700" algn="ctr">
                <a:solidFill>
                  <a:schemeClr val="tx2"/>
                </a:solidFill>
                <a:round/>
                <a:tailEnd type="arrow" w="med" len="med"/>
              </a:ln>
            </p:spPr>
          </p:cxnSp>
          <p:cxnSp>
            <p:nvCxnSpPr>
              <p:cNvPr id="22557" name="直接连接符 18"/>
              <p:cNvCxnSpPr>
                <a:cxnSpLocks noChangeShapeType="1"/>
              </p:cNvCxnSpPr>
              <p:nvPr/>
            </p:nvCxnSpPr>
            <p:spPr bwMode="auto">
              <a:xfrm rot="5400000">
                <a:off x="2745849" y="2785748"/>
                <a:ext cx="1053586" cy="3259"/>
              </a:xfrm>
              <a:prstGeom prst="line">
                <a:avLst/>
              </a:prstGeom>
              <a:noFill/>
              <a:ln w="12700" algn="ctr">
                <a:solidFill>
                  <a:schemeClr val="tx2"/>
                </a:solidFill>
                <a:prstDash val="dash"/>
                <a:round/>
              </a:ln>
            </p:spPr>
          </p:cxnSp>
          <p:cxnSp>
            <p:nvCxnSpPr>
              <p:cNvPr id="22558" name="直接连接符 18"/>
              <p:cNvCxnSpPr>
                <a:cxnSpLocks noChangeShapeType="1"/>
              </p:cNvCxnSpPr>
              <p:nvPr/>
            </p:nvCxnSpPr>
            <p:spPr bwMode="auto">
              <a:xfrm rot="5400000">
                <a:off x="7561586" y="2773575"/>
                <a:ext cx="1053586" cy="3259"/>
              </a:xfrm>
              <a:prstGeom prst="line">
                <a:avLst/>
              </a:prstGeom>
              <a:noFill/>
              <a:ln w="12700" algn="ctr">
                <a:solidFill>
                  <a:schemeClr val="tx2"/>
                </a:solidFill>
                <a:prstDash val="dash"/>
                <a:round/>
              </a:ln>
            </p:spPr>
          </p:cxnSp>
          <p:cxnSp>
            <p:nvCxnSpPr>
              <p:cNvPr id="22559" name="直接连接符 18"/>
              <p:cNvCxnSpPr>
                <a:cxnSpLocks noChangeShapeType="1"/>
              </p:cNvCxnSpPr>
              <p:nvPr/>
            </p:nvCxnSpPr>
            <p:spPr bwMode="auto">
              <a:xfrm rot="5400000">
                <a:off x="6934894" y="2773575"/>
                <a:ext cx="1053586" cy="3259"/>
              </a:xfrm>
              <a:prstGeom prst="line">
                <a:avLst/>
              </a:prstGeom>
              <a:noFill/>
              <a:ln w="12700" algn="ctr">
                <a:solidFill>
                  <a:schemeClr val="tx2"/>
                </a:solidFill>
                <a:prstDash val="dash"/>
                <a:round/>
              </a:ln>
            </p:spPr>
          </p:cxnSp>
          <p:cxnSp>
            <p:nvCxnSpPr>
              <p:cNvPr id="22560" name="直接连接符 18"/>
              <p:cNvCxnSpPr>
                <a:cxnSpLocks noChangeShapeType="1"/>
              </p:cNvCxnSpPr>
              <p:nvPr/>
            </p:nvCxnSpPr>
            <p:spPr bwMode="auto">
              <a:xfrm rot="5400000">
                <a:off x="4229401" y="2776223"/>
                <a:ext cx="1053586" cy="3259"/>
              </a:xfrm>
              <a:prstGeom prst="line">
                <a:avLst/>
              </a:prstGeom>
              <a:noFill/>
              <a:ln w="12700" algn="ctr">
                <a:solidFill>
                  <a:schemeClr val="tx2"/>
                </a:solidFill>
                <a:prstDash val="dash"/>
                <a:round/>
              </a:ln>
            </p:spPr>
          </p:cxnSp>
          <p:cxnSp>
            <p:nvCxnSpPr>
              <p:cNvPr id="22561" name="直接连接符 18"/>
              <p:cNvCxnSpPr>
                <a:cxnSpLocks noChangeShapeType="1"/>
              </p:cNvCxnSpPr>
              <p:nvPr/>
            </p:nvCxnSpPr>
            <p:spPr bwMode="auto">
              <a:xfrm rot="5400000">
                <a:off x="3537901" y="2776223"/>
                <a:ext cx="1053586" cy="3259"/>
              </a:xfrm>
              <a:prstGeom prst="line">
                <a:avLst/>
              </a:prstGeom>
              <a:noFill/>
              <a:ln w="12700" algn="ctr">
                <a:solidFill>
                  <a:schemeClr val="tx2"/>
                </a:solidFill>
                <a:prstDash val="dash"/>
                <a:round/>
              </a:ln>
            </p:spPr>
          </p:cxnSp>
        </p:grpSp>
        <p:sp>
          <p:nvSpPr>
            <p:cNvPr id="22542" name="TextBox 72"/>
            <p:cNvSpPr txBox="1">
              <a:spLocks noChangeArrowheads="1"/>
            </p:cNvSpPr>
            <p:nvPr/>
          </p:nvSpPr>
          <p:spPr bwMode="auto">
            <a:xfrm>
              <a:off x="6416748" y="1895454"/>
              <a:ext cx="1112805" cy="461665"/>
            </a:xfrm>
            <a:prstGeom prst="rect">
              <a:avLst/>
            </a:prstGeom>
            <a:noFill/>
            <a:ln w="9525">
              <a:noFill/>
              <a:miter lim="800000"/>
            </a:ln>
          </p:spPr>
          <p:txBody>
            <a:bodyPr wrap="none">
              <a:spAutoFit/>
            </a:bodyPr>
            <a:lstStyle/>
            <a:p>
              <a:r>
                <a:rPr lang="zh-CN" altLang="en-US" sz="2400" b="1">
                  <a:solidFill>
                    <a:schemeClr val="tx2"/>
                  </a:solidFill>
                  <a:latin typeface="Arial" panose="020B0604020202020204" pitchFamily="34" charset="0"/>
                  <a:ea typeface="微软雅黑" panose="020B0503020204020204" pitchFamily="34" charset="-122"/>
                  <a:cs typeface="Arial" panose="020B0604020202020204" pitchFamily="34" charset="0"/>
                </a:rPr>
                <a:t>借两位</a:t>
              </a:r>
            </a:p>
          </p:txBody>
        </p:sp>
      </p:grpSp>
      <p:sp>
        <p:nvSpPr>
          <p:cNvPr id="62" name="AutoShape 8"/>
          <p:cNvSpPr>
            <a:spLocks noChangeArrowheads="1"/>
          </p:cNvSpPr>
          <p:nvPr/>
        </p:nvSpPr>
        <p:spPr bwMode="auto">
          <a:xfrm>
            <a:off x="2149475" y="4159250"/>
            <a:ext cx="912813" cy="219075"/>
          </a:xfrm>
          <a:prstGeom prst="rightArrow">
            <a:avLst>
              <a:gd name="adj1" fmla="val 49861"/>
              <a:gd name="adj2" fmla="val 70949"/>
            </a:avLst>
          </a:prstGeom>
          <a:gradFill rotWithShape="1">
            <a:gsLst>
              <a:gs pos="0">
                <a:srgbClr val="3399FF"/>
              </a:gs>
              <a:gs pos="100000">
                <a:schemeClr val="bg1"/>
              </a:gs>
            </a:gsLst>
            <a:lin ang="5400000" scaled="1"/>
          </a:gradFill>
          <a:ln w="12700" cap="rnd" algn="ctr">
            <a:solidFill>
              <a:srgbClr val="3399FF"/>
            </a:solidFill>
            <a:miter lim="800000"/>
          </a:ln>
        </p:spPr>
        <p:txBody>
          <a:bodyPr/>
          <a:lstStyle/>
          <a:p>
            <a:endParaRPr lang="zh-CN" altLang="en-US" sz="1400" b="1">
              <a:latin typeface="Arial" panose="020B0604020202020204" pitchFamily="34" charset="0"/>
              <a:ea typeface="微软雅黑" panose="020B0503020204020204" pitchFamily="34" charset="-122"/>
              <a:cs typeface="Arial" panose="020B0604020202020204" pitchFamily="34" charset="0"/>
            </a:endParaRPr>
          </a:p>
        </p:txBody>
      </p:sp>
      <p:sp>
        <p:nvSpPr>
          <p:cNvPr id="63" name="AutoShape 8"/>
          <p:cNvSpPr>
            <a:spLocks noChangeArrowheads="1"/>
          </p:cNvSpPr>
          <p:nvPr/>
        </p:nvSpPr>
        <p:spPr bwMode="auto">
          <a:xfrm>
            <a:off x="2498725" y="4529138"/>
            <a:ext cx="1058863" cy="219075"/>
          </a:xfrm>
          <a:prstGeom prst="rightArrow">
            <a:avLst>
              <a:gd name="adj1" fmla="val 49861"/>
              <a:gd name="adj2" fmla="val 70956"/>
            </a:avLst>
          </a:prstGeom>
          <a:gradFill rotWithShape="1">
            <a:gsLst>
              <a:gs pos="0">
                <a:srgbClr val="3399FF"/>
              </a:gs>
              <a:gs pos="100000">
                <a:schemeClr val="bg1"/>
              </a:gs>
            </a:gsLst>
            <a:lin ang="5400000" scaled="1"/>
          </a:gradFill>
          <a:ln w="12700" cap="rnd" algn="ctr">
            <a:solidFill>
              <a:srgbClr val="3399FF"/>
            </a:solidFill>
            <a:miter lim="800000"/>
          </a:ln>
        </p:spPr>
        <p:txBody>
          <a:bodyPr/>
          <a:lstStyle/>
          <a:p>
            <a:endParaRPr lang="zh-CN" altLang="en-US" sz="1400" b="1">
              <a:latin typeface="Arial" panose="020B0604020202020204" pitchFamily="34" charset="0"/>
              <a:ea typeface="微软雅黑" panose="020B0503020204020204" pitchFamily="34" charset="-122"/>
              <a:cs typeface="Arial" panose="020B0604020202020204" pitchFamily="34" charset="0"/>
            </a:endParaRPr>
          </a:p>
        </p:txBody>
      </p:sp>
      <p:sp>
        <p:nvSpPr>
          <p:cNvPr id="17" name="灯片编号占位符 16"/>
          <p:cNvSpPr>
            <a:spLocks noGrp="1"/>
          </p:cNvSpPr>
          <p:nvPr>
            <p:ph type="sldNum" sz="quarter" idx="12"/>
          </p:nvPr>
        </p:nvSpPr>
        <p:spPr/>
        <p:txBody>
          <a:bodyPr/>
          <a:lstStyle/>
          <a:p>
            <a:fld id="{0C913308-F349-4B6D-A68A-DD1791B4A57B}" type="slidenum">
              <a:rPr lang="zh-CN" altLang="en-US" smtClean="0"/>
              <a:t>16</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63"/>
                                        </p:tgtEl>
                                        <p:attrNameLst>
                                          <p:attrName>style.visibility</p:attrName>
                                        </p:attrNameLst>
                                      </p:cBhvr>
                                      <p:to>
                                        <p:strVal val="visible"/>
                                      </p:to>
                                    </p:set>
                                    <p:anim calcmode="lin" valueType="num">
                                      <p:cBhvr additive="base">
                                        <p:cTn id="24" dur="500" fill="hold"/>
                                        <p:tgtEl>
                                          <p:spTgt spid="63"/>
                                        </p:tgtEl>
                                        <p:attrNameLst>
                                          <p:attrName>ppt_x</p:attrName>
                                        </p:attrNameLst>
                                      </p:cBhvr>
                                      <p:tavLst>
                                        <p:tav tm="0">
                                          <p:val>
                                            <p:strVal val="#ppt_x"/>
                                          </p:val>
                                        </p:tav>
                                        <p:tav tm="100000">
                                          <p:val>
                                            <p:strVal val="#ppt_x"/>
                                          </p:val>
                                        </p:tav>
                                      </p:tavLst>
                                    </p:anim>
                                    <p:anim calcmode="lin" valueType="num">
                                      <p:cBhvr additive="base">
                                        <p:cTn id="25" dur="500" fill="hold"/>
                                        <p:tgtEl>
                                          <p:spTgt spid="63"/>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 calcmode="lin" valueType="num">
                                      <p:cBhvr additive="base">
                                        <p:cTn id="28" dur="500" fill="hold"/>
                                        <p:tgtEl>
                                          <p:spTgt spid="5"/>
                                        </p:tgtEl>
                                        <p:attrNameLst>
                                          <p:attrName>ppt_x</p:attrName>
                                        </p:attrNameLst>
                                      </p:cBhvr>
                                      <p:tavLst>
                                        <p:tav tm="0">
                                          <p:val>
                                            <p:strVal val="#ppt_x"/>
                                          </p:val>
                                        </p:tav>
                                        <p:tav tm="100000">
                                          <p:val>
                                            <p:strVal val="#ppt_x"/>
                                          </p:val>
                                        </p:tav>
                                      </p:tavLst>
                                    </p:anim>
                                    <p:anim calcmode="lin" valueType="num">
                                      <p:cBhvr additive="base">
                                        <p:cTn id="2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2"/>
                                        </p:tgtEl>
                                      </p:cBhvr>
                                    </p:animEffect>
                                    <p:set>
                                      <p:cBhvr>
                                        <p:cTn id="34" dur="1" fill="hold">
                                          <p:stCondLst>
                                            <p:cond delay="499"/>
                                          </p:stCondLst>
                                        </p:cTn>
                                        <p:tgtEl>
                                          <p:spTgt spid="2"/>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63"/>
                                        </p:tgtEl>
                                      </p:cBhvr>
                                    </p:animEffect>
                                    <p:set>
                                      <p:cBhvr>
                                        <p:cTn id="37" dur="1" fill="hold">
                                          <p:stCondLst>
                                            <p:cond delay="499"/>
                                          </p:stCondLst>
                                        </p:cTn>
                                        <p:tgtEl>
                                          <p:spTgt spid="63"/>
                                        </p:tgtEl>
                                        <p:attrNameLst>
                                          <p:attrName>style.visibility</p:attrName>
                                        </p:attrNameLst>
                                      </p:cBhvr>
                                      <p:to>
                                        <p:strVal val="hidden"/>
                                      </p:to>
                                    </p:set>
                                  </p:childTnLst>
                                </p:cTn>
                              </p:par>
                              <p:par>
                                <p:cTn id="38" presetID="0" presetClass="path" presetSubtype="0" accel="50000" decel="50000" fill="hold" grpId="1" nodeType="withEffect">
                                  <p:stCondLst>
                                    <p:cond delay="0"/>
                                  </p:stCondLst>
                                  <p:childTnLst>
                                    <p:animMotion origin="layout" path="M 1.38889E-6 -2.96296E-6 L -0.34948 0.00533 " pathEditMode="relative" rAng="0" ptsTypes="AA">
                                      <p:cBhvr>
                                        <p:cTn id="39" dur="500" fill="hold"/>
                                        <p:tgtEl>
                                          <p:spTgt spid="5"/>
                                        </p:tgtEl>
                                        <p:attrNameLst>
                                          <p:attrName>ppt_x</p:attrName>
                                          <p:attrName>ppt_y</p:attrName>
                                        </p:attrNameLst>
                                      </p:cBhvr>
                                      <p:rCtr x="-17500" y="300"/>
                                    </p:animMotion>
                                  </p:childTnLst>
                                </p:cTn>
                              </p:par>
                              <p:par>
                                <p:cTn id="40" presetID="2" presetClass="entr" presetSubtype="2" fill="hold" grpId="0" nodeType="withEffect">
                                  <p:stCondLst>
                                    <p:cond delay="0"/>
                                  </p:stCondLst>
                                  <p:childTnLst>
                                    <p:set>
                                      <p:cBhvr>
                                        <p:cTn id="41" dur="1" fill="hold">
                                          <p:stCondLst>
                                            <p:cond delay="0"/>
                                          </p:stCondLst>
                                        </p:cTn>
                                        <p:tgtEl>
                                          <p:spTgt spid="62"/>
                                        </p:tgtEl>
                                        <p:attrNameLst>
                                          <p:attrName>style.visibility</p:attrName>
                                        </p:attrNameLst>
                                      </p:cBhvr>
                                      <p:to>
                                        <p:strVal val="visible"/>
                                      </p:to>
                                    </p:set>
                                    <p:anim calcmode="lin" valueType="num">
                                      <p:cBhvr additive="base">
                                        <p:cTn id="42" dur="500" fill="hold"/>
                                        <p:tgtEl>
                                          <p:spTgt spid="62"/>
                                        </p:tgtEl>
                                        <p:attrNameLst>
                                          <p:attrName>ppt_x</p:attrName>
                                        </p:attrNameLst>
                                      </p:cBhvr>
                                      <p:tavLst>
                                        <p:tav tm="0">
                                          <p:val>
                                            <p:strVal val="1+#ppt_w/2"/>
                                          </p:val>
                                        </p:tav>
                                        <p:tav tm="100000">
                                          <p:val>
                                            <p:strVal val="#ppt_x"/>
                                          </p:val>
                                        </p:tav>
                                      </p:tavLst>
                                    </p:anim>
                                    <p:anim calcmode="lin" valueType="num">
                                      <p:cBhvr additive="base">
                                        <p:cTn id="43" dur="500" fill="hold"/>
                                        <p:tgtEl>
                                          <p:spTgt spid="62"/>
                                        </p:tgtEl>
                                        <p:attrNameLst>
                                          <p:attrName>ppt_y</p:attrName>
                                        </p:attrNameLst>
                                      </p:cBhvr>
                                      <p:tavLst>
                                        <p:tav tm="0">
                                          <p:val>
                                            <p:strVal val="#ppt_y"/>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3"/>
                                        </p:tgtEl>
                                        <p:attrNameLst>
                                          <p:attrName>style.visibility</p:attrName>
                                        </p:attrNameLst>
                                      </p:cBhvr>
                                      <p:to>
                                        <p:strVal val="visible"/>
                                      </p:to>
                                    </p:set>
                                    <p:anim calcmode="lin" valueType="num">
                                      <p:cBhvr additive="base">
                                        <p:cTn id="46" dur="500" fill="hold"/>
                                        <p:tgtEl>
                                          <p:spTgt spid="3"/>
                                        </p:tgtEl>
                                        <p:attrNameLst>
                                          <p:attrName>ppt_x</p:attrName>
                                        </p:attrNameLst>
                                      </p:cBhvr>
                                      <p:tavLst>
                                        <p:tav tm="0">
                                          <p:val>
                                            <p:strVal val="#ppt_x"/>
                                          </p:val>
                                        </p:tav>
                                        <p:tav tm="100000">
                                          <p:val>
                                            <p:strVal val="#ppt_x"/>
                                          </p:val>
                                        </p:tav>
                                      </p:tavLst>
                                    </p:anim>
                                    <p:anim calcmode="lin" valueType="num">
                                      <p:cBhvr additive="base">
                                        <p:cTn id="47"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0" presetClass="exit" presetSubtype="0" fill="hold" grpId="1" nodeType="clickEffect">
                                  <p:stCondLst>
                                    <p:cond delay="0"/>
                                  </p:stCondLst>
                                  <p:childTnLst>
                                    <p:animEffect transition="out" filter="fade">
                                      <p:cBhvr>
                                        <p:cTn id="51" dur="500"/>
                                        <p:tgtEl>
                                          <p:spTgt spid="62"/>
                                        </p:tgtEl>
                                      </p:cBhvr>
                                    </p:animEffect>
                                    <p:set>
                                      <p:cBhvr>
                                        <p:cTn id="52" dur="1" fill="hold">
                                          <p:stCondLst>
                                            <p:cond delay="499"/>
                                          </p:stCondLst>
                                        </p:cTn>
                                        <p:tgtEl>
                                          <p:spTgt spid="62"/>
                                        </p:tgtEl>
                                        <p:attrNameLst>
                                          <p:attrName>style.visibility</p:attrName>
                                        </p:attrNameLst>
                                      </p:cBhvr>
                                      <p:to>
                                        <p:strVal val="hidden"/>
                                      </p:to>
                                    </p:set>
                                  </p:childTnLst>
                                </p:cTn>
                              </p:par>
                              <p:par>
                                <p:cTn id="53" presetID="10" presetClass="exit" presetSubtype="0" fill="hold" nodeType="withEffect">
                                  <p:stCondLst>
                                    <p:cond delay="0"/>
                                  </p:stCondLst>
                                  <p:childTnLst>
                                    <p:animEffect transition="out" filter="fade">
                                      <p:cBhvr>
                                        <p:cTn id="54" dur="500"/>
                                        <p:tgtEl>
                                          <p:spTgt spid="3"/>
                                        </p:tgtEl>
                                      </p:cBhvr>
                                    </p:animEffect>
                                    <p:set>
                                      <p:cBhvr>
                                        <p:cTn id="55" dur="1" fill="hold">
                                          <p:stCondLst>
                                            <p:cond delay="499"/>
                                          </p:stCondLst>
                                        </p:cTn>
                                        <p:tgtEl>
                                          <p:spTgt spid="3"/>
                                        </p:tgtEl>
                                        <p:attrNameLst>
                                          <p:attrName>style.visibility</p:attrName>
                                        </p:attrNameLst>
                                      </p:cBhvr>
                                      <p:to>
                                        <p:strVal val="hidden"/>
                                      </p:to>
                                    </p:set>
                                  </p:childTnLst>
                                </p:cTn>
                              </p:par>
                              <p:par>
                                <p:cTn id="56" presetID="2" presetClass="entr" presetSubtype="4" fill="hold" grpId="0" nodeType="withEffect">
                                  <p:stCondLst>
                                    <p:cond delay="0"/>
                                  </p:stCondLst>
                                  <p:childTnLst>
                                    <p:set>
                                      <p:cBhvr>
                                        <p:cTn id="57" dur="1" fill="hold">
                                          <p:stCondLst>
                                            <p:cond delay="0"/>
                                          </p:stCondLst>
                                        </p:cTn>
                                        <p:tgtEl>
                                          <p:spTgt spid="4"/>
                                        </p:tgtEl>
                                        <p:attrNameLst>
                                          <p:attrName>style.visibility</p:attrName>
                                        </p:attrNameLst>
                                      </p:cBhvr>
                                      <p:to>
                                        <p:strVal val="visible"/>
                                      </p:to>
                                    </p:set>
                                    <p:anim calcmode="lin" valueType="num">
                                      <p:cBhvr additive="base">
                                        <p:cTn id="58" dur="500" fill="hold"/>
                                        <p:tgtEl>
                                          <p:spTgt spid="4"/>
                                        </p:tgtEl>
                                        <p:attrNameLst>
                                          <p:attrName>ppt_x</p:attrName>
                                        </p:attrNameLst>
                                      </p:cBhvr>
                                      <p:tavLst>
                                        <p:tav tm="0">
                                          <p:val>
                                            <p:strVal val="#ppt_x"/>
                                          </p:val>
                                        </p:tav>
                                        <p:tav tm="100000">
                                          <p:val>
                                            <p:strVal val="#ppt_x"/>
                                          </p:val>
                                        </p:tav>
                                      </p:tavLst>
                                    </p:anim>
                                    <p:anim calcmode="lin" valueType="num">
                                      <p:cBhvr additive="base">
                                        <p:cTn id="5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5" grpId="1" bldLvl="0" animBg="1"/>
      <p:bldP spid="62" grpId="0" bldLvl="0" animBg="1"/>
      <p:bldP spid="62" grpId="1" bldLvl="0" animBg="1"/>
      <p:bldP spid="63" grpId="0" bldLvl="0" animBg="1"/>
      <p:bldP spid="63" grpId="1"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标题 1"/>
          <p:cNvSpPr>
            <a:spLocks noGrp="1"/>
          </p:cNvSpPr>
          <p:nvPr>
            <p:ph type="title"/>
          </p:nvPr>
        </p:nvSpPr>
        <p:spPr/>
        <p:txBody>
          <a:bodyPr/>
          <a:lstStyle/>
          <a:p>
            <a:r>
              <a:rPr lang="zh-CN" altLang="en-US"/>
              <a:t>子网划分的应用</a:t>
            </a:r>
            <a:endParaRPr lang="en-US" altLang="zh-CN"/>
          </a:p>
        </p:txBody>
      </p:sp>
      <p:sp>
        <p:nvSpPr>
          <p:cNvPr id="23554" name="内容占位符 13"/>
          <p:cNvSpPr>
            <a:spLocks noGrp="1"/>
          </p:cNvSpPr>
          <p:nvPr>
            <p:ph idx="1"/>
          </p:nvPr>
        </p:nvSpPr>
        <p:spPr/>
        <p:txBody>
          <a:bodyPr/>
          <a:lstStyle/>
          <a:p>
            <a:r>
              <a:rPr lang="en-US" altLang="zh-CN"/>
              <a:t>C</a:t>
            </a:r>
            <a:r>
              <a:rPr lang="zh-CN" altLang="en-US"/>
              <a:t>类地址划分</a:t>
            </a:r>
            <a:r>
              <a:rPr lang="en-US" altLang="zh-CN"/>
              <a:t>5-1</a:t>
            </a:r>
            <a:endParaRPr lang="zh-CN" altLang="en-US"/>
          </a:p>
          <a:p>
            <a:pPr lvl="1"/>
            <a:r>
              <a:rPr lang="en-US" altLang="zh-CN"/>
              <a:t>IP</a:t>
            </a:r>
            <a:r>
              <a:rPr lang="zh-CN" altLang="en-US"/>
              <a:t>地址经过一次子网划分后，被分成</a:t>
            </a:r>
            <a:r>
              <a:rPr lang="en-US" altLang="zh-CN"/>
              <a:t>3</a:t>
            </a:r>
            <a:r>
              <a:rPr lang="zh-CN" altLang="en-US"/>
              <a:t>个部分</a:t>
            </a:r>
            <a:endParaRPr lang="en-US" altLang="zh-CN"/>
          </a:p>
          <a:p>
            <a:pPr lvl="2"/>
            <a:r>
              <a:rPr lang="zh-CN" altLang="en-US"/>
              <a:t>网络位、子网位和主机位</a:t>
            </a:r>
          </a:p>
          <a:p>
            <a:endParaRPr lang="zh-CN" altLang="en-US"/>
          </a:p>
        </p:txBody>
      </p:sp>
      <p:grpSp>
        <p:nvGrpSpPr>
          <p:cNvPr id="2" name="组合 22"/>
          <p:cNvGrpSpPr/>
          <p:nvPr/>
        </p:nvGrpSpPr>
        <p:grpSpPr bwMode="auto">
          <a:xfrm>
            <a:off x="1500188" y="2500313"/>
            <a:ext cx="6144260" cy="3137535"/>
            <a:chOff x="1139778" y="2260584"/>
            <a:chExt cx="6144405" cy="3137553"/>
          </a:xfrm>
        </p:grpSpPr>
        <p:sp>
          <p:nvSpPr>
            <p:cNvPr id="16" name="TextBox 15"/>
            <p:cNvSpPr txBox="1"/>
            <p:nvPr/>
          </p:nvSpPr>
          <p:spPr bwMode="auto">
            <a:xfrm>
              <a:off x="1139778" y="2844787"/>
              <a:ext cx="6144405" cy="2553350"/>
            </a:xfrm>
            <a:prstGeom prst="rect">
              <a:avLst/>
            </a:prstGeom>
            <a:noFill/>
            <a:ln>
              <a:noFill/>
            </a:ln>
          </p:spPr>
          <p:txBody>
            <a:bodyPr wrap="none">
              <a:spAutoFit/>
            </a:bodyPr>
            <a:lstStyle/>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11111111.11111111.11111111</a:t>
              </a:r>
              <a:r>
                <a:rPr lang="en-US" altLang="zh-CN" sz="1050" b="1" dirty="0">
                  <a:solidFill>
                    <a:schemeClr val="tx2"/>
                  </a:solidFill>
                  <a:latin typeface="宋体" panose="02010600030101010101" pitchFamily="2" charset="-122"/>
                  <a:ea typeface="宋体" panose="02010600030101010101" pitchFamily="2" charset="-122"/>
                  <a:cs typeface="Arial" panose="020B0604020202020204" pitchFamily="34" charset="0"/>
                </a:rPr>
                <a:t>.</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111 00000=255.255.255.224</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11000000.10101000.00000001</a:t>
              </a:r>
              <a:r>
                <a:rPr lang="en-US" altLang="zh-CN" sz="1050" b="1" dirty="0">
                  <a:solidFill>
                    <a:schemeClr val="tx2"/>
                  </a:solidFill>
                  <a:latin typeface="宋体" panose="02010600030101010101" pitchFamily="2" charset="-122"/>
                  <a:ea typeface="宋体" panose="02010600030101010101" pitchFamily="2" charset="-122"/>
                  <a:cs typeface="Arial" panose="020B0604020202020204" pitchFamily="34" charset="0"/>
                </a:rPr>
                <a:t>.</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000 00000=192.168.1.0</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p>
            <a:p>
              <a:pPr>
                <a:lnSpc>
                  <a:spcPts val="1920"/>
                </a:lnSpc>
                <a:defRPr/>
              </a:pP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rPr>
                <a:t>子网</a:t>
              </a:r>
              <a:endPar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a:lnSpc>
                  <a:spcPts val="1920"/>
                </a:lnSpc>
                <a:defRPr/>
              </a:pP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rPr>
                <a:t>地址</a:t>
              </a:r>
              <a:endPar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a:lnSpc>
                  <a:spcPts val="1920"/>
                </a:lnSpc>
                <a:defRPr/>
              </a:pP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zh-CN" altLang="en-US" b="1" dirty="0">
                  <a:solidFill>
                    <a:schemeClr val="tx2"/>
                  </a:solidFill>
                  <a:latin typeface="Arial" panose="020B0604020202020204" pitchFamily="34" charset="0"/>
                  <a:ea typeface="微软雅黑" panose="020B0503020204020204" pitchFamily="34" charset="-122"/>
                  <a:cs typeface="Arial" panose="020B0604020202020204" pitchFamily="34" charset="0"/>
                </a:rPr>
                <a:t>部分</a:t>
              </a:r>
              <a:endPar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endParaRP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a:t>
              </a:r>
            </a:p>
          </p:txBody>
        </p:sp>
        <p:sp>
          <p:nvSpPr>
            <p:cNvPr id="23559" name="AutoShape 8"/>
            <p:cNvSpPr/>
            <p:nvPr/>
          </p:nvSpPr>
          <p:spPr bwMode="auto">
            <a:xfrm rot="5400000">
              <a:off x="2678237" y="1245968"/>
              <a:ext cx="228577" cy="2988071"/>
            </a:xfrm>
            <a:prstGeom prst="leftBrace">
              <a:avLst>
                <a:gd name="adj1" fmla="val 49022"/>
                <a:gd name="adj2" fmla="val 50000"/>
              </a:avLst>
            </a:prstGeom>
            <a:noFill/>
            <a:ln w="28575">
              <a:solidFill>
                <a:srgbClr val="000000"/>
              </a:solidFill>
              <a:round/>
            </a:ln>
          </p:spPr>
          <p:txBody>
            <a:bodyPr wrap="none" anchor="ct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3560" name="AutoShape 9"/>
            <p:cNvSpPr/>
            <p:nvPr/>
          </p:nvSpPr>
          <p:spPr bwMode="auto">
            <a:xfrm rot="5400000">
              <a:off x="4903013" y="2469341"/>
              <a:ext cx="307975" cy="547695"/>
            </a:xfrm>
            <a:prstGeom prst="leftBrace">
              <a:avLst>
                <a:gd name="adj1" fmla="val 22254"/>
                <a:gd name="adj2" fmla="val 50000"/>
              </a:avLst>
            </a:prstGeom>
            <a:noFill/>
            <a:ln w="28575">
              <a:solidFill>
                <a:srgbClr val="000000"/>
              </a:solidFill>
              <a:round/>
            </a:ln>
          </p:spPr>
          <p:txBody>
            <a:bodyPr wrap="none" anchor="ct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3561" name="Text Box 10"/>
            <p:cNvSpPr txBox="1">
              <a:spLocks noChangeArrowheads="1"/>
            </p:cNvSpPr>
            <p:nvPr/>
          </p:nvSpPr>
          <p:spPr bwMode="auto">
            <a:xfrm>
              <a:off x="2284443" y="2260584"/>
              <a:ext cx="996950" cy="396875"/>
            </a:xfrm>
            <a:prstGeom prst="rect">
              <a:avLst/>
            </a:prstGeom>
            <a:noFill/>
            <a:ln w="9525">
              <a:noFill/>
              <a:miter lim="800000"/>
            </a:ln>
          </p:spPr>
          <p:txBody>
            <a:bodyPr>
              <a:spAutoFit/>
            </a:bodyPr>
            <a:lstStyle/>
            <a:p>
              <a:pPr>
                <a:spcBef>
                  <a:spcPct val="50000"/>
                </a:spcBef>
              </a:pPr>
              <a:r>
                <a:rPr lang="zh-CN" altLang="en-US" sz="2000" b="1">
                  <a:solidFill>
                    <a:schemeClr val="tx2"/>
                  </a:solidFill>
                  <a:latin typeface="Arial" panose="020B0604020202020204" pitchFamily="34" charset="0"/>
                  <a:ea typeface="微软雅黑" panose="020B0503020204020204" pitchFamily="34" charset="-122"/>
                  <a:cs typeface="Arial" panose="020B0604020202020204" pitchFamily="34" charset="0"/>
                </a:rPr>
                <a:t>网络位</a:t>
              </a:r>
            </a:p>
          </p:txBody>
        </p:sp>
        <p:sp>
          <p:nvSpPr>
            <p:cNvPr id="23562" name="Text Box 11"/>
            <p:cNvSpPr txBox="1">
              <a:spLocks noChangeArrowheads="1"/>
            </p:cNvSpPr>
            <p:nvPr/>
          </p:nvSpPr>
          <p:spPr bwMode="auto">
            <a:xfrm>
              <a:off x="4564076" y="2260584"/>
              <a:ext cx="993775" cy="396875"/>
            </a:xfrm>
            <a:prstGeom prst="rect">
              <a:avLst/>
            </a:prstGeom>
            <a:noFill/>
            <a:ln w="9525">
              <a:noFill/>
              <a:miter lim="800000"/>
            </a:ln>
          </p:spPr>
          <p:txBody>
            <a:bodyPr>
              <a:spAutoFit/>
            </a:bodyPr>
            <a:lstStyle/>
            <a:p>
              <a:pPr>
                <a:spcBef>
                  <a:spcPct val="50000"/>
                </a:spcBef>
              </a:pPr>
              <a:r>
                <a:rPr lang="zh-CN" altLang="en-US" sz="2000" b="1">
                  <a:solidFill>
                    <a:schemeClr val="tx2"/>
                  </a:solidFill>
                  <a:latin typeface="Arial" panose="020B0604020202020204" pitchFamily="34" charset="0"/>
                  <a:ea typeface="微软雅黑" panose="020B0503020204020204" pitchFamily="34" charset="-122"/>
                  <a:cs typeface="Arial" panose="020B0604020202020204" pitchFamily="34" charset="0"/>
                </a:rPr>
                <a:t>主机位</a:t>
              </a:r>
            </a:p>
          </p:txBody>
        </p:sp>
        <p:cxnSp>
          <p:nvCxnSpPr>
            <p:cNvPr id="23563" name="直接连接符 44"/>
            <p:cNvCxnSpPr>
              <a:cxnSpLocks noChangeShapeType="1"/>
            </p:cNvCxnSpPr>
            <p:nvPr/>
          </p:nvCxnSpPr>
          <p:spPr bwMode="auto">
            <a:xfrm rot="5400000">
              <a:off x="3106789" y="4105825"/>
              <a:ext cx="2376014" cy="0"/>
            </a:xfrm>
            <a:prstGeom prst="line">
              <a:avLst/>
            </a:prstGeom>
            <a:noFill/>
            <a:ln w="25400" algn="ctr">
              <a:solidFill>
                <a:srgbClr val="FF0000"/>
              </a:solidFill>
              <a:prstDash val="dash"/>
              <a:round/>
            </a:ln>
          </p:spPr>
        </p:cxnSp>
        <p:cxnSp>
          <p:nvCxnSpPr>
            <p:cNvPr id="23564" name="直接连接符 47"/>
            <p:cNvCxnSpPr>
              <a:cxnSpLocks noChangeShapeType="1"/>
            </p:cNvCxnSpPr>
            <p:nvPr/>
          </p:nvCxnSpPr>
          <p:spPr bwMode="auto">
            <a:xfrm rot="10800000" flipV="1">
              <a:off x="1212804" y="3350202"/>
              <a:ext cx="5988096" cy="13711"/>
            </a:xfrm>
            <a:prstGeom prst="line">
              <a:avLst/>
            </a:prstGeom>
            <a:noFill/>
            <a:ln w="22225" algn="ctr">
              <a:solidFill>
                <a:srgbClr val="FF0000"/>
              </a:solidFill>
              <a:round/>
            </a:ln>
          </p:spPr>
        </p:cxnSp>
        <p:cxnSp>
          <p:nvCxnSpPr>
            <p:cNvPr id="23565" name="直接连接符 44"/>
            <p:cNvCxnSpPr>
              <a:cxnSpLocks noChangeShapeType="1"/>
            </p:cNvCxnSpPr>
            <p:nvPr/>
          </p:nvCxnSpPr>
          <p:spPr bwMode="auto">
            <a:xfrm rot="5400000">
              <a:off x="3523756" y="4115349"/>
              <a:ext cx="2376014" cy="0"/>
            </a:xfrm>
            <a:prstGeom prst="line">
              <a:avLst/>
            </a:prstGeom>
            <a:noFill/>
            <a:ln w="25400" algn="ctr">
              <a:solidFill>
                <a:srgbClr val="FF0000"/>
              </a:solidFill>
              <a:prstDash val="dash"/>
              <a:round/>
            </a:ln>
          </p:spPr>
        </p:cxnSp>
      </p:grpSp>
      <p:sp>
        <p:nvSpPr>
          <p:cNvPr id="71683" name="Rectangle 3"/>
          <p:cNvSpPr>
            <a:spLocks noChangeArrowheads="1"/>
          </p:cNvSpPr>
          <p:nvPr/>
        </p:nvSpPr>
        <p:spPr bwMode="auto">
          <a:xfrm>
            <a:off x="142875" y="5643087"/>
            <a:ext cx="7858125" cy="829945"/>
          </a:xfrm>
          <a:prstGeom prst="rect">
            <a:avLst/>
          </a:prstGeom>
          <a:noFill/>
          <a:ln w="9525">
            <a:noFill/>
            <a:miter lim="800000"/>
          </a:ln>
          <a:effectLst>
            <a:prstShdw prst="shdw17" dist="17961" dir="2700000">
              <a:schemeClr val="accent1">
                <a:gamma/>
                <a:shade val="60000"/>
                <a:invGamma/>
                <a:alpha val="50000"/>
              </a:schemeClr>
            </a:prstShdw>
          </a:effectLst>
        </p:spPr>
        <p:txBody>
          <a:bodyPr anchor="ctr">
            <a:spAutoFit/>
          </a:bodyPr>
          <a:lstStyle/>
          <a:p>
            <a:pPr lvl="3" eaLnBrk="0" hangingPunct="0">
              <a:tabLst>
                <a:tab pos="228600" algn="l"/>
                <a:tab pos="266700" algn="l"/>
              </a:tabLst>
              <a:defRPr/>
            </a:pP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子网数</a:t>
            </a:r>
            <a:r>
              <a:rPr lang="en-US" altLang="zh-CN"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=2</a:t>
            </a:r>
            <a:r>
              <a:rPr lang="en-US" altLang="zh-CN" sz="2400" b="1" i="1" baseline="30000" dirty="0">
                <a:solidFill>
                  <a:srgbClr val="FF3300"/>
                </a:solidFill>
                <a:latin typeface="Arial" panose="020B0604020202020204" pitchFamily="34" charset="0"/>
                <a:ea typeface="微软雅黑" panose="020B0503020204020204" pitchFamily="34" charset="-122"/>
                <a:cs typeface="Arial" panose="020B0604020202020204" pitchFamily="34" charset="0"/>
              </a:rPr>
              <a:t>n</a:t>
            </a: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，其中</a:t>
            </a:r>
            <a:r>
              <a:rPr lang="en-US" altLang="zh-CN"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n</a:t>
            </a: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为子网部分位数</a:t>
            </a:r>
          </a:p>
          <a:p>
            <a:pPr lvl="3" eaLnBrk="0" hangingPunct="0">
              <a:tabLst>
                <a:tab pos="228600" algn="l"/>
                <a:tab pos="266700" algn="l"/>
              </a:tabLst>
              <a:defRPr/>
            </a:pP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主机数</a:t>
            </a:r>
            <a:r>
              <a:rPr lang="en-US" altLang="zh-CN"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=2</a:t>
            </a:r>
            <a:r>
              <a:rPr lang="en-US" altLang="zh-CN" sz="2400" b="1" i="1" baseline="30000" dirty="0">
                <a:solidFill>
                  <a:srgbClr val="FF3300"/>
                </a:solidFill>
                <a:latin typeface="Arial" panose="020B0604020202020204" pitchFamily="34" charset="0"/>
                <a:ea typeface="微软雅黑" panose="020B0503020204020204" pitchFamily="34" charset="-122"/>
                <a:cs typeface="Arial" panose="020B0604020202020204" pitchFamily="34" charset="0"/>
              </a:rPr>
              <a:t>N</a:t>
            </a: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a:t>
            </a:r>
            <a:r>
              <a:rPr lang="en-US" altLang="zh-CN"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2</a:t>
            </a: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，其中</a:t>
            </a:r>
            <a:r>
              <a:rPr lang="en-US" altLang="zh-CN"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N</a:t>
            </a:r>
            <a:r>
              <a:rPr lang="zh-CN" altLang="en-US" sz="2400" b="1" dirty="0">
                <a:solidFill>
                  <a:srgbClr val="FF3300"/>
                </a:solidFill>
                <a:latin typeface="Arial" panose="020B0604020202020204" pitchFamily="34" charset="0"/>
                <a:ea typeface="微软雅黑" panose="020B0503020204020204" pitchFamily="34" charset="-122"/>
                <a:cs typeface="Arial" panose="020B0604020202020204" pitchFamily="34" charset="0"/>
              </a:rPr>
              <a:t>为主机部分位数</a:t>
            </a:r>
          </a:p>
        </p:txBody>
      </p:sp>
      <p:sp>
        <p:nvSpPr>
          <p:cNvPr id="5" name="TextBox 15"/>
          <p:cNvSpPr txBox="1"/>
          <p:nvPr/>
        </p:nvSpPr>
        <p:spPr bwMode="auto">
          <a:xfrm>
            <a:off x="1468755" y="3561715"/>
            <a:ext cx="5333365" cy="2061210"/>
          </a:xfrm>
          <a:prstGeom prst="rect">
            <a:avLst/>
          </a:prstGeom>
          <a:noFill/>
          <a:ln>
            <a:noFill/>
          </a:ln>
        </p:spPr>
        <p:txBody>
          <a:bodyPr wrap="square">
            <a:spAutoFit/>
          </a:bodyPr>
          <a:lstStyle/>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000</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001 </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010 </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011 </a:t>
            </a:r>
          </a:p>
          <a:p>
            <a:pPr>
              <a:lnSpc>
                <a:spcPts val="1920"/>
              </a:lnSpc>
              <a:defRPr/>
            </a:pP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100</a:t>
            </a: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p>
          <a:p>
            <a:pPr>
              <a:lnSpc>
                <a:spcPts val="1920"/>
              </a:lnSpc>
              <a:defRPr/>
            </a:pP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101 </a:t>
            </a: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p>
          <a:p>
            <a:pPr>
              <a:lnSpc>
                <a:spcPts val="1920"/>
              </a:lnSpc>
              <a:defRPr/>
            </a:pP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110 </a:t>
            </a:r>
            <a:r>
              <a:rPr lang="en-US" altLang="zh-CN" b="1" dirty="0">
                <a:solidFill>
                  <a:schemeClr val="tx2"/>
                </a:solidFill>
                <a:latin typeface="Arial" panose="020B0604020202020204" pitchFamily="34" charset="0"/>
                <a:ea typeface="微软雅黑" panose="020B0503020204020204" pitchFamily="34" charset="-122"/>
                <a:cs typeface="Arial" panose="020B0604020202020204" pitchFamily="34" charset="0"/>
              </a:rPr>
              <a:t>   </a:t>
            </a:r>
          </a:p>
          <a:p>
            <a:pPr>
              <a:lnSpc>
                <a:spcPts val="1920"/>
              </a:lnSpc>
              <a:defRPr/>
            </a:pPr>
            <a:r>
              <a:rPr lang="en-US" altLang="zh-CN" b="1" dirty="0">
                <a:solidFill>
                  <a:schemeClr val="tx2"/>
                </a:solidFill>
                <a:latin typeface="宋体" panose="02010600030101010101" pitchFamily="2" charset="-122"/>
                <a:ea typeface="宋体" panose="02010600030101010101" pitchFamily="2" charset="-122"/>
                <a:cs typeface="Arial" panose="020B0604020202020204" pitchFamily="34" charset="0"/>
              </a:rPr>
              <a:t>                           111 </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17</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7" presetClass="entr" presetSubtype="4" fill="hold" grpId="0" nodeType="withEffect">
                                  <p:stCondLst>
                                    <p:cond delay="0"/>
                                  </p:stCondLst>
                                  <p:childTnLst>
                                    <p:set>
                                      <p:cBhvr>
                                        <p:cTn id="10" dur="500"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1683">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68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标题 2"/>
          <p:cNvSpPr>
            <a:spLocks noGrp="1"/>
          </p:cNvSpPr>
          <p:nvPr>
            <p:ph type="title"/>
          </p:nvPr>
        </p:nvSpPr>
        <p:spPr/>
        <p:txBody>
          <a:bodyPr/>
          <a:lstStyle/>
          <a:p>
            <a:r>
              <a:rPr lang="zh-CN" altLang="en-US"/>
              <a:t>子网划分的应用</a:t>
            </a:r>
            <a:endParaRPr lang="en-US" altLang="zh-CN"/>
          </a:p>
        </p:txBody>
      </p:sp>
      <p:sp>
        <p:nvSpPr>
          <p:cNvPr id="24578" name="内容占位符 1"/>
          <p:cNvSpPr>
            <a:spLocks noGrp="1"/>
          </p:cNvSpPr>
          <p:nvPr>
            <p:ph idx="1"/>
          </p:nvPr>
        </p:nvSpPr>
        <p:spPr/>
        <p:txBody>
          <a:bodyPr/>
          <a:lstStyle/>
          <a:p>
            <a:r>
              <a:rPr lang="en-US" altLang="zh-CN">
                <a:sym typeface="+mn-ea"/>
              </a:rPr>
              <a:t>C</a:t>
            </a:r>
            <a:r>
              <a:rPr lang="zh-CN" altLang="en-US">
                <a:sym typeface="+mn-ea"/>
              </a:rPr>
              <a:t>类地址划分</a:t>
            </a:r>
            <a:r>
              <a:rPr lang="en-US" altLang="zh-CN">
                <a:sym typeface="+mn-ea"/>
              </a:rPr>
              <a:t>5-2</a:t>
            </a:r>
            <a:endParaRPr lang="zh-CN" altLang="en-US"/>
          </a:p>
          <a:p>
            <a:pPr lvl="1"/>
            <a:r>
              <a:rPr lang="zh-CN" altLang="en-US"/>
              <a:t>子网掩码及相关参数对应表</a:t>
            </a:r>
          </a:p>
        </p:txBody>
      </p:sp>
      <p:graphicFrame>
        <p:nvGraphicFramePr>
          <p:cNvPr id="5" name="表格 4"/>
          <p:cNvGraphicFramePr/>
          <p:nvPr>
            <p:custDataLst>
              <p:tags r:id="rId1"/>
            </p:custDataLst>
          </p:nvPr>
        </p:nvGraphicFramePr>
        <p:xfrm>
          <a:off x="1503680" y="1845945"/>
          <a:ext cx="6181725" cy="2803525"/>
        </p:xfrm>
        <a:graphic>
          <a:graphicData uri="http://schemas.openxmlformats.org/drawingml/2006/table">
            <a:tbl>
              <a:tblPr>
                <a:tableStyleId>{5940675A-B579-460E-94D1-54222C63F5DA}</a:tableStyleId>
              </a:tblPr>
              <a:tblGrid>
                <a:gridCol w="1261745">
                  <a:extLst>
                    <a:ext uri="{9D8B030D-6E8A-4147-A177-3AD203B41FA5}">
                      <a16:colId xmlns:a16="http://schemas.microsoft.com/office/drawing/2014/main" val="20000"/>
                    </a:ext>
                  </a:extLst>
                </a:gridCol>
                <a:gridCol w="1598295">
                  <a:extLst>
                    <a:ext uri="{9D8B030D-6E8A-4147-A177-3AD203B41FA5}">
                      <a16:colId xmlns:a16="http://schemas.microsoft.com/office/drawing/2014/main" val="20001"/>
                    </a:ext>
                  </a:extLst>
                </a:gridCol>
                <a:gridCol w="1623060">
                  <a:extLst>
                    <a:ext uri="{9D8B030D-6E8A-4147-A177-3AD203B41FA5}">
                      <a16:colId xmlns:a16="http://schemas.microsoft.com/office/drawing/2014/main" val="20002"/>
                    </a:ext>
                  </a:extLst>
                </a:gridCol>
                <a:gridCol w="1698625">
                  <a:extLst>
                    <a:ext uri="{9D8B030D-6E8A-4147-A177-3AD203B41FA5}">
                      <a16:colId xmlns:a16="http://schemas.microsoft.com/office/drawing/2014/main" val="20003"/>
                    </a:ext>
                  </a:extLst>
                </a:gridCol>
              </a:tblGrid>
              <a:tr h="376555">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子网掩码</a:t>
                      </a:r>
                    </a:p>
                  </a:txBody>
                  <a:tcPr marL="68580" marR="68580" marT="0" marB="14605"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子网数</a:t>
                      </a:r>
                    </a:p>
                  </a:txBody>
                  <a:tcPr marL="68580" marR="68580" marT="0" marB="14605"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主机数</a:t>
                      </a:r>
                    </a:p>
                  </a:txBody>
                  <a:tcPr marL="68580" marR="68580" marT="0" marB="14605"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可用主机数</a:t>
                      </a:r>
                    </a:p>
                  </a:txBody>
                  <a:tcPr marL="68580" marR="68580" marT="0" marB="14605" anchor="ctr">
                    <a:solidFill>
                      <a:srgbClr val="0034DC"/>
                    </a:solidFill>
                  </a:tcPr>
                </a:tc>
                <a:extLst>
                  <a:ext uri="{0D108BD9-81ED-4DB2-BD59-A6C34878D82A}">
                    <a16:rowId xmlns:a16="http://schemas.microsoft.com/office/drawing/2014/main" val="10000"/>
                  </a:ext>
                </a:extLst>
              </a:tr>
              <a:tr h="404495">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128</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126</a:t>
                      </a:r>
                    </a:p>
                  </a:txBody>
                  <a:tcPr marL="68580" marR="68580" marT="0" marB="14605" anchor="b"/>
                </a:tc>
                <a:extLst>
                  <a:ext uri="{0D108BD9-81ED-4DB2-BD59-A6C34878D82A}">
                    <a16:rowId xmlns:a16="http://schemas.microsoft.com/office/drawing/2014/main" val="10001"/>
                  </a:ext>
                </a:extLst>
              </a:tr>
              <a:tr h="404495">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/26</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4</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64</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62</a:t>
                      </a:r>
                    </a:p>
                  </a:txBody>
                  <a:tcPr marL="68580" marR="68580" marT="0" marB="14605" anchor="b"/>
                </a:tc>
                <a:extLst>
                  <a:ext uri="{0D108BD9-81ED-4DB2-BD59-A6C34878D82A}">
                    <a16:rowId xmlns:a16="http://schemas.microsoft.com/office/drawing/2014/main" val="10002"/>
                  </a:ext>
                </a:extLst>
              </a:tr>
              <a:tr h="404495">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/27</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8</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32</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30</a:t>
                      </a:r>
                    </a:p>
                  </a:txBody>
                  <a:tcPr marL="68580" marR="68580" marT="0" marB="14605" anchor="b"/>
                </a:tc>
                <a:extLst>
                  <a:ext uri="{0D108BD9-81ED-4DB2-BD59-A6C34878D82A}">
                    <a16:rowId xmlns:a16="http://schemas.microsoft.com/office/drawing/2014/main" val="10003"/>
                  </a:ext>
                </a:extLst>
              </a:tr>
              <a:tr h="404495">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/28</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16</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16</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14</a:t>
                      </a:r>
                    </a:p>
                  </a:txBody>
                  <a:tcPr marL="68580" marR="68580" marT="0" marB="14605" anchor="b"/>
                </a:tc>
                <a:extLst>
                  <a:ext uri="{0D108BD9-81ED-4DB2-BD59-A6C34878D82A}">
                    <a16:rowId xmlns:a16="http://schemas.microsoft.com/office/drawing/2014/main" val="10004"/>
                  </a:ext>
                </a:extLst>
              </a:tr>
              <a:tr h="404495">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/29</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32</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8</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a:t>
                      </a:r>
                    </a:p>
                  </a:txBody>
                  <a:tcPr marL="68580" marR="68580" marT="0" marB="14605" anchor="b"/>
                </a:tc>
                <a:extLst>
                  <a:ext uri="{0D108BD9-81ED-4DB2-BD59-A6C34878D82A}">
                    <a16:rowId xmlns:a16="http://schemas.microsoft.com/office/drawing/2014/main" val="10005"/>
                  </a:ext>
                </a:extLst>
              </a:tr>
              <a:tr h="404495">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/30</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64</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4</a:t>
                      </a:r>
                    </a:p>
                  </a:txBody>
                  <a:tcPr marL="68580" marR="68580" marT="0" marB="14605" anchor="b"/>
                </a:tc>
                <a:tc>
                  <a:txBody>
                    <a:bodyPr/>
                    <a:lstStyle/>
                    <a:p>
                      <a:pPr marL="0" lvl="0" indent="0" algn="ctr"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a:t>
                      </a:r>
                    </a:p>
                  </a:txBody>
                  <a:tcPr marL="68580" marR="68580" marT="0" marB="14605" anchor="b"/>
                </a:tc>
                <a:extLst>
                  <a:ext uri="{0D108BD9-81ED-4DB2-BD59-A6C34878D82A}">
                    <a16:rowId xmlns:a16="http://schemas.microsoft.com/office/drawing/2014/main" val="10006"/>
                  </a:ext>
                </a:extLst>
              </a:tr>
            </a:tbl>
          </a:graphicData>
        </a:graphic>
      </p:graphicFrame>
      <p:sp>
        <p:nvSpPr>
          <p:cNvPr id="6" name="AutoShape 4"/>
          <p:cNvSpPr>
            <a:spLocks noChangeArrowheads="1"/>
          </p:cNvSpPr>
          <p:nvPr>
            <p:custDataLst>
              <p:tags r:id="rId2"/>
            </p:custDataLst>
          </p:nvPr>
        </p:nvSpPr>
        <p:spPr bwMode="auto">
          <a:xfrm>
            <a:off x="2196465" y="5059045"/>
            <a:ext cx="5193665" cy="1303020"/>
          </a:xfrm>
          <a:prstGeom prst="wedgeRoundRectCallout">
            <a:avLst>
              <a:gd name="adj1" fmla="val 28876"/>
              <a:gd name="adj2" fmla="val -51353"/>
              <a:gd name="adj3" fmla="val 16667"/>
            </a:avLst>
          </a:prstGeom>
          <a:solidFill>
            <a:srgbClr val="FFE9A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altLang="en-US" sz="1600" dirty="0">
                <a:solidFill>
                  <a:srgbClr val="000E3A"/>
                </a:solidFill>
                <a:uFillTx/>
                <a:latin typeface="微软雅黑" panose="020B0503020204020204" pitchFamily="34" charset="-122"/>
                <a:ea typeface="微软雅黑" panose="020B0503020204020204" pitchFamily="34" charset="-122"/>
                <a:sym typeface="+mn-ea"/>
              </a:rPr>
              <a:t>注意啦：</a:t>
            </a:r>
          </a:p>
          <a:p>
            <a:pPr lvl="0" algn="l">
              <a:buClrTx/>
              <a:buSzTx/>
              <a:buFontTx/>
            </a:pPr>
            <a:r>
              <a:rPr lang="en-US" altLang="zh-CN" sz="1600" dirty="0">
                <a:solidFill>
                  <a:srgbClr val="000E3A"/>
                </a:solidFill>
                <a:uFillTx/>
                <a:latin typeface="微软雅黑" panose="020B0503020204020204" pitchFamily="34" charset="-122"/>
                <a:ea typeface="微软雅黑" panose="020B0503020204020204" pitchFamily="34" charset="-122"/>
                <a:sym typeface="+mn-ea"/>
              </a:rPr>
              <a:t>1</a:t>
            </a:r>
            <a:r>
              <a:rPr lang="zh-CN" altLang="en-US" sz="1600" dirty="0">
                <a:solidFill>
                  <a:srgbClr val="000E3A"/>
                </a:solidFill>
                <a:uFillTx/>
                <a:latin typeface="微软雅黑" panose="020B0503020204020204" pitchFamily="34" charset="-122"/>
                <a:ea typeface="微软雅黑" panose="020B0503020204020204" pitchFamily="34" charset="-122"/>
                <a:sym typeface="+mn-ea"/>
              </a:rPr>
              <a:t>、一般情况下不使用</a:t>
            </a:r>
            <a:r>
              <a:rPr lang="en-US" altLang="zh-CN" sz="1600" dirty="0">
                <a:solidFill>
                  <a:srgbClr val="000E3A"/>
                </a:solidFill>
                <a:uFillTx/>
                <a:latin typeface="微软雅黑" panose="020B0503020204020204" pitchFamily="34" charset="-122"/>
                <a:ea typeface="微软雅黑" panose="020B0503020204020204" pitchFamily="34" charset="-122"/>
                <a:sym typeface="+mn-ea"/>
              </a:rPr>
              <a:t> </a:t>
            </a:r>
            <a:r>
              <a:rPr lang="zh-CN" altLang="en-US" sz="1600" dirty="0">
                <a:solidFill>
                  <a:srgbClr val="000E3A"/>
                </a:solidFill>
                <a:uFillTx/>
                <a:latin typeface="微软雅黑" panose="020B0503020204020204" pitchFamily="34" charset="-122"/>
                <a:ea typeface="微软雅黑" panose="020B0503020204020204" pitchFamily="34" charset="-122"/>
                <a:sym typeface="+mn-ea"/>
              </a:rPr>
              <a:t>/31</a:t>
            </a:r>
            <a:r>
              <a:rPr lang="en-US" altLang="zh-CN" sz="1600" dirty="0">
                <a:solidFill>
                  <a:srgbClr val="000E3A"/>
                </a:solidFill>
                <a:uFillTx/>
                <a:latin typeface="微软雅黑" panose="020B0503020204020204" pitchFamily="34" charset="-122"/>
                <a:ea typeface="微软雅黑" panose="020B0503020204020204" pitchFamily="34" charset="-122"/>
                <a:sym typeface="+mn-ea"/>
              </a:rPr>
              <a:t> </a:t>
            </a:r>
            <a:r>
              <a:rPr lang="zh-CN" altLang="en-US" sz="1600" dirty="0">
                <a:solidFill>
                  <a:srgbClr val="000E3A"/>
                </a:solidFill>
                <a:uFillTx/>
                <a:latin typeface="微软雅黑" panose="020B0503020204020204" pitchFamily="34" charset="-122"/>
                <a:ea typeface="微软雅黑" panose="020B0503020204020204" pitchFamily="34" charset="-122"/>
                <a:sym typeface="+mn-ea"/>
              </a:rPr>
              <a:t>的掩码，而</a:t>
            </a:r>
            <a:r>
              <a:rPr lang="en-US" altLang="zh-CN" sz="1600" dirty="0">
                <a:solidFill>
                  <a:srgbClr val="000E3A"/>
                </a:solidFill>
                <a:uFillTx/>
                <a:latin typeface="微软雅黑" panose="020B0503020204020204" pitchFamily="34" charset="-122"/>
                <a:ea typeface="微软雅黑" panose="020B0503020204020204" pitchFamily="34" charset="-122"/>
                <a:sym typeface="+mn-ea"/>
              </a:rPr>
              <a:t> </a:t>
            </a:r>
            <a:r>
              <a:rPr lang="zh-CN" altLang="en-US" sz="1600" dirty="0">
                <a:solidFill>
                  <a:srgbClr val="000E3A"/>
                </a:solidFill>
                <a:uFillTx/>
                <a:latin typeface="微软雅黑" panose="020B0503020204020204" pitchFamily="34" charset="-122"/>
                <a:ea typeface="微软雅黑" panose="020B0503020204020204" pitchFamily="34" charset="-122"/>
                <a:sym typeface="+mn-ea"/>
              </a:rPr>
              <a:t>/32</a:t>
            </a:r>
            <a:r>
              <a:rPr lang="en-US" altLang="zh-CN" sz="1600" dirty="0">
                <a:solidFill>
                  <a:srgbClr val="000E3A"/>
                </a:solidFill>
                <a:uFillTx/>
                <a:latin typeface="微软雅黑" panose="020B0503020204020204" pitchFamily="34" charset="-122"/>
                <a:ea typeface="微软雅黑" panose="020B0503020204020204" pitchFamily="34" charset="-122"/>
                <a:sym typeface="+mn-ea"/>
              </a:rPr>
              <a:t> </a:t>
            </a:r>
            <a:r>
              <a:rPr lang="zh-CN" altLang="en-US" sz="1600" dirty="0">
                <a:solidFill>
                  <a:srgbClr val="000E3A"/>
                </a:solidFill>
                <a:uFillTx/>
                <a:latin typeface="微软雅黑" panose="020B0503020204020204" pitchFamily="34" charset="-122"/>
                <a:ea typeface="微软雅黑" panose="020B0503020204020204" pitchFamily="34" charset="-122"/>
                <a:sym typeface="+mn-ea"/>
              </a:rPr>
              <a:t>的掩码一般使用在配置 Loopback 接口地址时将其作为设备管理地址，这样可以节约地址</a:t>
            </a:r>
          </a:p>
          <a:p>
            <a:pPr lvl="0" algn="l">
              <a:buClrTx/>
              <a:buSzTx/>
              <a:buFontTx/>
            </a:pPr>
            <a:r>
              <a:rPr lang="en-US" altLang="zh-CN" sz="1600" dirty="0">
                <a:solidFill>
                  <a:srgbClr val="000E3A"/>
                </a:solidFill>
                <a:uFillTx/>
                <a:latin typeface="微软雅黑" panose="020B0503020204020204" pitchFamily="34" charset="-122"/>
                <a:ea typeface="微软雅黑" panose="020B0503020204020204" pitchFamily="34" charset="-122"/>
                <a:sym typeface="+mn-ea"/>
              </a:rPr>
              <a:t>2</a:t>
            </a:r>
            <a:r>
              <a:rPr lang="zh-CN" altLang="en-US" sz="1600" dirty="0">
                <a:solidFill>
                  <a:srgbClr val="000E3A"/>
                </a:solidFill>
                <a:uFillTx/>
                <a:latin typeface="微软雅黑" panose="020B0503020204020204" pitchFamily="34" charset="-122"/>
                <a:ea typeface="微软雅黑" panose="020B0503020204020204" pitchFamily="34" charset="-122"/>
                <a:sym typeface="+mn-ea"/>
              </a:rPr>
              <a:t>、在子网划分时需要注意网段划分的分界点</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18</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strVal val="#ppt_w*0.7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标题 2"/>
          <p:cNvSpPr>
            <a:spLocks noGrp="1"/>
          </p:cNvSpPr>
          <p:nvPr>
            <p:ph type="title"/>
          </p:nvPr>
        </p:nvSpPr>
        <p:spPr/>
        <p:txBody>
          <a:bodyPr/>
          <a:lstStyle/>
          <a:p>
            <a:r>
              <a:rPr lang="zh-CN" altLang="en-US"/>
              <a:t>子网划分的应用</a:t>
            </a:r>
            <a:endParaRPr lang="en-US" altLang="zh-CN"/>
          </a:p>
        </p:txBody>
      </p:sp>
      <p:sp>
        <p:nvSpPr>
          <p:cNvPr id="25602" name="内容占位符 1"/>
          <p:cNvSpPr>
            <a:spLocks noGrp="1"/>
          </p:cNvSpPr>
          <p:nvPr>
            <p:ph idx="1"/>
          </p:nvPr>
        </p:nvSpPr>
        <p:spPr/>
        <p:txBody>
          <a:bodyPr>
            <a:normAutofit/>
          </a:bodyPr>
          <a:lstStyle/>
          <a:p>
            <a:r>
              <a:rPr lang="en-US" altLang="zh-CN">
                <a:sym typeface="+mn-ea"/>
              </a:rPr>
              <a:t>C</a:t>
            </a:r>
            <a:r>
              <a:rPr lang="zh-CN" altLang="en-US">
                <a:sym typeface="+mn-ea"/>
              </a:rPr>
              <a:t>类地址划分</a:t>
            </a:r>
            <a:r>
              <a:rPr lang="en-US" altLang="zh-CN">
                <a:sym typeface="+mn-ea"/>
              </a:rPr>
              <a:t>5-3</a:t>
            </a:r>
            <a:endParaRPr lang="zh-CN" altLang="en-US">
              <a:sym typeface="+mn-ea"/>
            </a:endParaRPr>
          </a:p>
          <a:p>
            <a:pPr lvl="1"/>
            <a:r>
              <a:rPr lang="zh-CN" altLang="zh-CN"/>
              <a:t>网络需求</a:t>
            </a:r>
            <a:endParaRPr lang="en-US" altLang="zh-CN"/>
          </a:p>
          <a:p>
            <a:pPr lvl="2"/>
            <a:r>
              <a:rPr lang="zh-CN" altLang="zh-CN"/>
              <a:t>某公司共有生产部、销售部、财务部、客服部</a:t>
            </a:r>
            <a:r>
              <a:rPr lang="en-US" altLang="zh-CN"/>
              <a:t>4</a:t>
            </a:r>
            <a:r>
              <a:rPr lang="zh-CN" altLang="zh-CN"/>
              <a:t>个部门，每个部门的主机数最多不超过</a:t>
            </a:r>
            <a:r>
              <a:rPr lang="en-US" altLang="zh-CN"/>
              <a:t>50</a:t>
            </a:r>
            <a:r>
              <a:rPr lang="zh-CN" altLang="zh-CN"/>
              <a:t>台。若该公司获得了一个</a:t>
            </a:r>
            <a:r>
              <a:rPr lang="en-US" altLang="zh-CN"/>
              <a:t>C</a:t>
            </a:r>
            <a:r>
              <a:rPr lang="zh-CN" altLang="zh-CN"/>
              <a:t>类地址</a:t>
            </a:r>
            <a:r>
              <a:rPr lang="en-US" altLang="zh-CN"/>
              <a:t>192.168.100.0/24</a:t>
            </a:r>
            <a:r>
              <a:rPr lang="zh-CN" altLang="zh-CN"/>
              <a:t>，应该如何划分子网？</a:t>
            </a:r>
          </a:p>
          <a:p>
            <a:pPr lvl="1"/>
            <a:endParaRPr lang="zh-CN" altLang="zh-CN"/>
          </a:p>
          <a:p>
            <a:pPr lvl="1"/>
            <a:endParaRPr lang="zh-CN" altLang="zh-CN"/>
          </a:p>
          <a:p>
            <a:pPr lvl="1"/>
            <a:endParaRPr lang="zh-CN" altLang="zh-CN"/>
          </a:p>
          <a:p>
            <a:pPr lvl="1"/>
            <a:endParaRPr lang="zh-CN" altLang="zh-CN"/>
          </a:p>
          <a:p>
            <a:pPr lvl="1"/>
            <a:endParaRPr lang="zh-CN" altLang="zh-CN"/>
          </a:p>
          <a:p>
            <a:pPr lvl="1"/>
            <a:endParaRPr lang="en-US" altLang="zh-CN"/>
          </a:p>
          <a:p>
            <a:pPr lvl="2"/>
            <a:r>
              <a:rPr lang="zh-CN" altLang="en-US"/>
              <a:t>如果该公司有</a:t>
            </a:r>
            <a:r>
              <a:rPr lang="en-US" altLang="zh-CN"/>
              <a:t>5</a:t>
            </a:r>
            <a:r>
              <a:rPr lang="zh-CN" altLang="en-US"/>
              <a:t>个部门，每个部门的主机数最多不超过</a:t>
            </a:r>
            <a:r>
              <a:rPr lang="en-US" altLang="zh-CN"/>
              <a:t>30</a:t>
            </a:r>
            <a:r>
              <a:rPr lang="zh-CN" altLang="en-US"/>
              <a:t>台，应该如何划分子网？</a:t>
            </a:r>
          </a:p>
          <a:p>
            <a:pPr lvl="2"/>
            <a:r>
              <a:rPr lang="zh-CN" altLang="en-US"/>
              <a:t>如果该公司有7个部门，每个部门的主机数最多不超过25台，应该如何划分子网？</a:t>
            </a:r>
          </a:p>
          <a:p>
            <a:pPr lvl="1"/>
            <a:endParaRPr lang="zh-CN" altLang="en-US">
              <a:ea typeface="微软雅黑" panose="020B0503020204020204" pitchFamily="34" charset="-122"/>
            </a:endParaRPr>
          </a:p>
        </p:txBody>
      </p:sp>
      <p:graphicFrame>
        <p:nvGraphicFramePr>
          <p:cNvPr id="6" name="表格 5"/>
          <p:cNvGraphicFramePr/>
          <p:nvPr>
            <p:custDataLst>
              <p:tags r:id="rId1"/>
            </p:custDataLst>
          </p:nvPr>
        </p:nvGraphicFramePr>
        <p:xfrm>
          <a:off x="1044732" y="2677870"/>
          <a:ext cx="7127999" cy="1805940"/>
        </p:xfrm>
        <a:graphic>
          <a:graphicData uri="http://schemas.openxmlformats.org/drawingml/2006/table">
            <a:tbl>
              <a:tblPr>
                <a:tableStyleId>{5940675A-B579-460E-94D1-54222C63F5DA}</a:tableStyleId>
              </a:tblPr>
              <a:tblGrid>
                <a:gridCol w="1016379">
                  <a:extLst>
                    <a:ext uri="{9D8B030D-6E8A-4147-A177-3AD203B41FA5}">
                      <a16:colId xmlns:a16="http://schemas.microsoft.com/office/drawing/2014/main" val="20000"/>
                    </a:ext>
                  </a:extLst>
                </a:gridCol>
                <a:gridCol w="2420579">
                  <a:extLst>
                    <a:ext uri="{9D8B030D-6E8A-4147-A177-3AD203B41FA5}">
                      <a16:colId xmlns:a16="http://schemas.microsoft.com/office/drawing/2014/main" val="20001"/>
                    </a:ext>
                  </a:extLst>
                </a:gridCol>
                <a:gridCol w="2179849">
                  <a:extLst>
                    <a:ext uri="{9D8B030D-6E8A-4147-A177-3AD203B41FA5}">
                      <a16:colId xmlns:a16="http://schemas.microsoft.com/office/drawing/2014/main" val="20002"/>
                    </a:ext>
                  </a:extLst>
                </a:gridCol>
                <a:gridCol w="1511192">
                  <a:extLst>
                    <a:ext uri="{9D8B030D-6E8A-4147-A177-3AD203B41FA5}">
                      <a16:colId xmlns:a16="http://schemas.microsoft.com/office/drawing/2014/main" val="20003"/>
                    </a:ext>
                  </a:extLst>
                </a:gridCol>
              </a:tblGrid>
              <a:tr h="355600">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部门</a:t>
                      </a:r>
                    </a:p>
                  </a:txBody>
                  <a:tcPr marL="68580" marR="68580" marT="0" marB="14605" anchor="b">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网段</a:t>
                      </a:r>
                    </a:p>
                  </a:txBody>
                  <a:tcPr marL="68580" marR="68580" marT="0" marB="14605" anchor="b">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掩码</a:t>
                      </a:r>
                    </a:p>
                  </a:txBody>
                  <a:tcPr marL="68580" marR="68580" marT="0" marB="14605" anchor="b">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有效主机地址</a:t>
                      </a:r>
                    </a:p>
                  </a:txBody>
                  <a:tcPr marL="68580" marR="68580" marT="0" marB="14605" anchor="b">
                    <a:solidFill>
                      <a:srgbClr val="0034DC"/>
                    </a:solidFill>
                  </a:tcPr>
                </a:tc>
                <a:extLst>
                  <a:ext uri="{0D108BD9-81ED-4DB2-BD59-A6C34878D82A}">
                    <a16:rowId xmlns:a16="http://schemas.microsoft.com/office/drawing/2014/main" val="10000"/>
                  </a:ext>
                </a:extLst>
              </a:tr>
              <a:tr h="361133">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生产部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192.168.100.0/26</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255.255.255.192</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62</a:t>
                      </a:r>
                    </a:p>
                  </a:txBody>
                  <a:tcPr marL="68580" marR="68580" marT="0" marB="21590"/>
                </a:tc>
                <a:extLst>
                  <a:ext uri="{0D108BD9-81ED-4DB2-BD59-A6C34878D82A}">
                    <a16:rowId xmlns:a16="http://schemas.microsoft.com/office/drawing/2014/main" val="10001"/>
                  </a:ext>
                </a:extLst>
              </a:tr>
              <a:tr h="361133">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销售部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192.168.100.64/26</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255.255.255.192</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62</a:t>
                      </a:r>
                    </a:p>
                  </a:txBody>
                  <a:tcPr marL="68580" marR="68580" marT="0" marB="21590"/>
                </a:tc>
                <a:extLst>
                  <a:ext uri="{0D108BD9-81ED-4DB2-BD59-A6C34878D82A}">
                    <a16:rowId xmlns:a16="http://schemas.microsoft.com/office/drawing/2014/main" val="10002"/>
                  </a:ext>
                </a:extLst>
              </a:tr>
              <a:tr h="361133">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财务部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192.168.100.128/26</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255.255.255.192</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62</a:t>
                      </a:r>
                    </a:p>
                  </a:txBody>
                  <a:tcPr marL="68580" marR="68580" marT="0" marB="21590"/>
                </a:tc>
                <a:extLst>
                  <a:ext uri="{0D108BD9-81ED-4DB2-BD59-A6C34878D82A}">
                    <a16:rowId xmlns:a16="http://schemas.microsoft.com/office/drawing/2014/main" val="10003"/>
                  </a:ext>
                </a:extLst>
              </a:tr>
              <a:tr h="361133">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客服部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192.168.100.192/26</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255.255.255.192</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62</a:t>
                      </a:r>
                    </a:p>
                  </a:txBody>
                  <a:tcPr marL="68580" marR="68580" marT="0" marB="21590"/>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19</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5602">
                                            <p:txEl>
                                              <p:pRg st="9" end="9"/>
                                            </p:txEl>
                                          </p:spTgt>
                                        </p:tgtEl>
                                        <p:attrNameLst>
                                          <p:attrName>style.visibility</p:attrName>
                                        </p:attrNameLst>
                                      </p:cBhvr>
                                      <p:to>
                                        <p:strVal val="visible"/>
                                      </p:to>
                                    </p:set>
                                    <p:animEffect transition="in" filter="wipe(up)">
                                      <p:cBhvr>
                                        <p:cTn id="12" dur="500"/>
                                        <p:tgtEl>
                                          <p:spTgt spid="25602">
                                            <p:txEl>
                                              <p:pRg st="9"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5602">
                                            <p:txEl>
                                              <p:pRg st="10" end="10"/>
                                            </p:txEl>
                                          </p:spTgt>
                                        </p:tgtEl>
                                        <p:attrNameLst>
                                          <p:attrName>style.visibility</p:attrName>
                                        </p:attrNameLst>
                                      </p:cBhvr>
                                      <p:to>
                                        <p:strVal val="visible"/>
                                      </p:to>
                                    </p:set>
                                    <p:animEffect transition="in" filter="wipe(up)">
                                      <p:cBhvr>
                                        <p:cTn id="17" dur="500"/>
                                        <p:tgtEl>
                                          <p:spTgt spid="2560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标题 2"/>
          <p:cNvSpPr>
            <a:spLocks noGrp="1"/>
          </p:cNvSpPr>
          <p:nvPr>
            <p:ph type="title"/>
          </p:nvPr>
        </p:nvSpPr>
        <p:spPr/>
        <p:txBody>
          <a:bodyPr/>
          <a:lstStyle/>
          <a:p>
            <a:r>
              <a:rPr lang="zh-CN" altLang="en-US"/>
              <a:t>子网划分的应用</a:t>
            </a:r>
            <a:endParaRPr lang="en-US" altLang="zh-CN"/>
          </a:p>
        </p:txBody>
      </p:sp>
      <p:sp>
        <p:nvSpPr>
          <p:cNvPr id="26626" name="内容占位符 1"/>
          <p:cNvSpPr>
            <a:spLocks noGrp="1"/>
          </p:cNvSpPr>
          <p:nvPr>
            <p:ph idx="1"/>
          </p:nvPr>
        </p:nvSpPr>
        <p:spPr/>
        <p:txBody>
          <a:bodyPr/>
          <a:lstStyle/>
          <a:p>
            <a:r>
              <a:rPr lang="en-US" altLang="zh-CN">
                <a:sym typeface="+mn-ea"/>
              </a:rPr>
              <a:t>C</a:t>
            </a:r>
            <a:r>
              <a:rPr lang="zh-CN" altLang="en-US">
                <a:sym typeface="+mn-ea"/>
              </a:rPr>
              <a:t>类地址划分</a:t>
            </a:r>
            <a:r>
              <a:rPr lang="en-US" altLang="zh-CN">
                <a:sym typeface="+mn-ea"/>
              </a:rPr>
              <a:t>5-4</a:t>
            </a:r>
            <a:endParaRPr lang="zh-CN" altLang="zh-CN"/>
          </a:p>
          <a:p>
            <a:pPr lvl="1"/>
            <a:r>
              <a:rPr lang="zh-CN" altLang="zh-CN"/>
              <a:t>一个网络划分为不同的子网</a:t>
            </a:r>
            <a:endParaRPr lang="en-US" altLang="zh-CN"/>
          </a:p>
          <a:p>
            <a:pPr lvl="2"/>
            <a:r>
              <a:rPr lang="zh-CN" altLang="zh-CN"/>
              <a:t>如果生产部有主机</a:t>
            </a:r>
            <a:r>
              <a:rPr lang="en-US" altLang="zh-CN"/>
              <a:t>50</a:t>
            </a:r>
            <a:r>
              <a:rPr lang="zh-CN" altLang="zh-CN"/>
              <a:t>台，销售部有</a:t>
            </a:r>
            <a:r>
              <a:rPr lang="en-US" altLang="zh-CN"/>
              <a:t>100</a:t>
            </a:r>
            <a:r>
              <a:rPr lang="zh-CN" altLang="zh-CN"/>
              <a:t>台，财务部有</a:t>
            </a:r>
            <a:r>
              <a:rPr lang="en-US" altLang="zh-CN"/>
              <a:t>25</a:t>
            </a:r>
            <a:r>
              <a:rPr lang="zh-CN" altLang="zh-CN"/>
              <a:t>台，客服部有</a:t>
            </a:r>
            <a:r>
              <a:rPr lang="en-US" altLang="zh-CN"/>
              <a:t>12</a:t>
            </a:r>
            <a:r>
              <a:rPr lang="zh-CN" altLang="zh-CN"/>
              <a:t>台，应该如何划分子网？</a:t>
            </a:r>
          </a:p>
        </p:txBody>
      </p:sp>
      <p:graphicFrame>
        <p:nvGraphicFramePr>
          <p:cNvPr id="5" name="表格 4"/>
          <p:cNvGraphicFramePr/>
          <p:nvPr>
            <p:custDataLst>
              <p:tags r:id="rId1"/>
            </p:custDataLst>
          </p:nvPr>
        </p:nvGraphicFramePr>
        <p:xfrm>
          <a:off x="1044892" y="2644584"/>
          <a:ext cx="7420928" cy="1970088"/>
        </p:xfrm>
        <a:graphic>
          <a:graphicData uri="http://schemas.openxmlformats.org/drawingml/2006/table">
            <a:tbl>
              <a:tblPr>
                <a:tableStyleId>{5940675A-B579-460E-94D1-54222C63F5DA}</a:tableStyleId>
              </a:tblPr>
              <a:tblGrid>
                <a:gridCol w="1085851">
                  <a:extLst>
                    <a:ext uri="{9D8B030D-6E8A-4147-A177-3AD203B41FA5}">
                      <a16:colId xmlns:a16="http://schemas.microsoft.com/office/drawing/2014/main" val="20000"/>
                    </a:ext>
                  </a:extLst>
                </a:gridCol>
                <a:gridCol w="2342197">
                  <a:extLst>
                    <a:ext uri="{9D8B030D-6E8A-4147-A177-3AD203B41FA5}">
                      <a16:colId xmlns:a16="http://schemas.microsoft.com/office/drawing/2014/main" val="20001"/>
                    </a:ext>
                  </a:extLst>
                </a:gridCol>
                <a:gridCol w="234696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22276">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部门</a:t>
                      </a:r>
                    </a:p>
                  </a:txBody>
                  <a:tcPr marL="68580" marR="68580" marT="0" marB="14605"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网段</a:t>
                      </a:r>
                    </a:p>
                  </a:txBody>
                  <a:tcPr marL="68580" marR="68580" marT="0" marB="14605"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掩码</a:t>
                      </a:r>
                    </a:p>
                  </a:txBody>
                  <a:tcPr marL="68580" marR="68580" marT="0" marB="14605"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altLang="en-US" sz="1800" u="none" kern="1200" baseline="0" dirty="0">
                          <a:solidFill>
                            <a:schemeClr val="bg1"/>
                          </a:solidFill>
                          <a:latin typeface="微软雅黑" panose="020B0503020204020204" pitchFamily="34" charset="-122"/>
                          <a:ea typeface="微软雅黑" panose="020B0503020204020204" pitchFamily="34" charset="-122"/>
                        </a:rPr>
                        <a:t>有效主机地址</a:t>
                      </a:r>
                    </a:p>
                  </a:txBody>
                  <a:tcPr marL="68580" marR="68580" marT="0" marB="14605" anchor="ctr">
                    <a:solidFill>
                      <a:srgbClr val="0034DC"/>
                    </a:solidFill>
                  </a:tcPr>
                </a:tc>
                <a:extLst>
                  <a:ext uri="{0D108BD9-81ED-4DB2-BD59-A6C34878D82A}">
                    <a16:rowId xmlns:a16="http://schemas.microsoft.com/office/drawing/2014/main" val="10000"/>
                  </a:ext>
                </a:extLst>
              </a:tr>
              <a:tr h="320675">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生产部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192.168.100.0/25</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255.255.255.128</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126</a:t>
                      </a:r>
                    </a:p>
                  </a:txBody>
                  <a:tcPr marL="68580" marR="68580" marT="0" marB="21590"/>
                </a:tc>
                <a:extLst>
                  <a:ext uri="{0D108BD9-81ED-4DB2-BD59-A6C34878D82A}">
                    <a16:rowId xmlns:a16="http://schemas.microsoft.com/office/drawing/2014/main" val="10001"/>
                  </a:ext>
                </a:extLst>
              </a:tr>
              <a:tr h="411162">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销售部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192.168.100.128/26</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255.255.255.192</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62</a:t>
                      </a:r>
                    </a:p>
                  </a:txBody>
                  <a:tcPr marL="68580" marR="68580" marT="0" marB="21590"/>
                </a:tc>
                <a:extLst>
                  <a:ext uri="{0D108BD9-81ED-4DB2-BD59-A6C34878D82A}">
                    <a16:rowId xmlns:a16="http://schemas.microsoft.com/office/drawing/2014/main" val="10002"/>
                  </a:ext>
                </a:extLst>
              </a:tr>
              <a:tr h="411480">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财务部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192.168.100.192/27</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255.255.255.224</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altLang="zh-CN" sz="1600" u="none" kern="1200" baseline="0" dirty="0">
                          <a:latin typeface="微软雅黑" panose="020B0503020204020204" pitchFamily="34" charset="-122"/>
                          <a:ea typeface="微软雅黑" panose="020B0503020204020204" pitchFamily="34" charset="-122"/>
                        </a:rPr>
                        <a:t>30</a:t>
                      </a:r>
                    </a:p>
                  </a:txBody>
                  <a:tcPr marL="68580" marR="68580" marT="0" marB="21590"/>
                </a:tc>
                <a:extLst>
                  <a:ext uri="{0D108BD9-81ED-4DB2-BD59-A6C34878D82A}">
                    <a16:rowId xmlns:a16="http://schemas.microsoft.com/office/drawing/2014/main" val="10003"/>
                  </a:ext>
                </a:extLst>
              </a:tr>
              <a:tr h="135890">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客服部</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192.168.100.224/27</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255.255.255.224</a:t>
                      </a:r>
                    </a:p>
                  </a:txBody>
                  <a:tcPr marL="68580" marR="68580" marT="0" marB="21590"/>
                </a:tc>
                <a:tc>
                  <a:txBody>
                    <a:bodyPr/>
                    <a:lstStyle/>
                    <a:p>
                      <a:pPr marL="0" lvl="0" indent="0" algn="l" defTabSz="685800" rtl="0" eaLnBrk="1" fontAlgn="base" latinLnBrk="0" hangingPunct="1">
                        <a:lnSpc>
                          <a:spcPct val="160000"/>
                        </a:lnSpc>
                        <a:spcBef>
                          <a:spcPct val="0"/>
                        </a:spcBef>
                        <a:spcAft>
                          <a:spcPct val="0"/>
                        </a:spcAft>
                        <a:buFont typeface="+mj-lt"/>
                        <a:buNone/>
                      </a:pPr>
                      <a:r>
                        <a:rPr lang="en-US" altLang="zh-CN" sz="1600" u="none" kern="1200" baseline="0" dirty="0">
                          <a:latin typeface="微软雅黑" panose="020B0503020204020204" pitchFamily="34" charset="-122"/>
                          <a:ea typeface="微软雅黑" panose="020B0503020204020204" pitchFamily="34" charset="-122"/>
                        </a:rPr>
                        <a:t>30</a:t>
                      </a:r>
                    </a:p>
                  </a:txBody>
                  <a:tcPr marL="68580" marR="68580" marT="0" marB="21590"/>
                </a:tc>
                <a:extLst>
                  <a:ext uri="{0D108BD9-81ED-4DB2-BD59-A6C34878D82A}">
                    <a16:rowId xmlns:a16="http://schemas.microsoft.com/office/drawing/2014/main" val="10004"/>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20</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标题 2"/>
          <p:cNvSpPr>
            <a:spLocks noGrp="1"/>
          </p:cNvSpPr>
          <p:nvPr>
            <p:ph type="title"/>
          </p:nvPr>
        </p:nvSpPr>
        <p:spPr/>
        <p:txBody>
          <a:bodyPr/>
          <a:lstStyle/>
          <a:p>
            <a:r>
              <a:rPr lang="zh-CN" altLang="en-US"/>
              <a:t>子网划分的应用</a:t>
            </a:r>
            <a:endParaRPr lang="en-US" altLang="zh-CN"/>
          </a:p>
        </p:txBody>
      </p:sp>
      <p:sp>
        <p:nvSpPr>
          <p:cNvPr id="27650" name="内容占位符 1"/>
          <p:cNvSpPr>
            <a:spLocks noGrp="1"/>
          </p:cNvSpPr>
          <p:nvPr>
            <p:ph idx="1"/>
          </p:nvPr>
        </p:nvSpPr>
        <p:spPr/>
        <p:txBody>
          <a:bodyPr/>
          <a:lstStyle/>
          <a:p>
            <a:r>
              <a:rPr lang="en-US" altLang="zh-CN">
                <a:sym typeface="+mn-ea"/>
              </a:rPr>
              <a:t>C</a:t>
            </a:r>
            <a:r>
              <a:rPr lang="zh-CN" altLang="en-US">
                <a:sym typeface="+mn-ea"/>
              </a:rPr>
              <a:t>类地址划分</a:t>
            </a:r>
            <a:r>
              <a:rPr lang="en-US" altLang="zh-CN">
                <a:sym typeface="+mn-ea"/>
              </a:rPr>
              <a:t>5-5</a:t>
            </a:r>
            <a:endParaRPr lang="zh-CN" altLang="en-US"/>
          </a:p>
          <a:p>
            <a:pPr lvl="1"/>
            <a:r>
              <a:rPr lang="zh-CN" altLang="en-US"/>
              <a:t>可变长子网掩码（</a:t>
            </a:r>
            <a:r>
              <a:rPr lang="en-US" altLang="zh-CN"/>
              <a:t>VLSM</a:t>
            </a:r>
            <a:r>
              <a:rPr lang="zh-CN" altLang="en-US"/>
              <a:t>）</a:t>
            </a:r>
          </a:p>
          <a:p>
            <a:pPr lvl="2"/>
            <a:r>
              <a:rPr lang="en-US" altLang="zh-CN"/>
              <a:t>VLSM</a:t>
            </a:r>
            <a:r>
              <a:rPr lang="zh-CN" altLang="en-US"/>
              <a:t>允许把子网继续划分为更小的子网</a:t>
            </a:r>
          </a:p>
          <a:p>
            <a:endParaRPr lang="zh-CN" altLang="en-US"/>
          </a:p>
        </p:txBody>
      </p:sp>
      <p:sp>
        <p:nvSpPr>
          <p:cNvPr id="4" name="AutoShape 4"/>
          <p:cNvSpPr>
            <a:spLocks noChangeArrowheads="1"/>
          </p:cNvSpPr>
          <p:nvPr/>
        </p:nvSpPr>
        <p:spPr bwMode="auto">
          <a:xfrm>
            <a:off x="4937125" y="3036888"/>
            <a:ext cx="2051050" cy="611187"/>
          </a:xfrm>
          <a:prstGeom prst="wedgeRoundRectCallout">
            <a:avLst>
              <a:gd name="adj1" fmla="val 28876"/>
              <a:gd name="adj2" fmla="val -51353"/>
              <a:gd name="adj3" fmla="val 16667"/>
            </a:avLst>
          </a:prstGeom>
          <a:solidFill>
            <a:srgbClr val="FFE9A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rgbClr val="000E3A"/>
                </a:solidFill>
                <a:uFillTx/>
                <a:latin typeface="微软雅黑" panose="020B0503020204020204" pitchFamily="34" charset="-122"/>
                <a:ea typeface="微软雅黑" panose="020B0503020204020204" pitchFamily="34" charset="-122"/>
                <a:sym typeface="+mn-ea"/>
              </a:rPr>
              <a:t>借位1位划分成</a:t>
            </a:r>
          </a:p>
          <a:p>
            <a:pPr lvl="0" algn="ctr">
              <a:buClrTx/>
              <a:buSzTx/>
              <a:buFontTx/>
            </a:pPr>
            <a:r>
              <a:rPr lang="zh-CN" altLang="en-US" dirty="0">
                <a:solidFill>
                  <a:srgbClr val="000E3A"/>
                </a:solidFill>
                <a:uFillTx/>
                <a:latin typeface="微软雅黑" panose="020B0503020204020204" pitchFamily="34" charset="-122"/>
                <a:ea typeface="微软雅黑" panose="020B0503020204020204" pitchFamily="34" charset="-122"/>
                <a:sym typeface="+mn-ea"/>
              </a:rPr>
              <a:t>两个子网</a:t>
            </a:r>
          </a:p>
        </p:txBody>
      </p:sp>
      <p:sp>
        <p:nvSpPr>
          <p:cNvPr id="5" name="AutoShape 4"/>
          <p:cNvSpPr>
            <a:spLocks noChangeArrowheads="1"/>
          </p:cNvSpPr>
          <p:nvPr/>
        </p:nvSpPr>
        <p:spPr bwMode="auto">
          <a:xfrm>
            <a:off x="4572000" y="4451350"/>
            <a:ext cx="2884488" cy="547688"/>
          </a:xfrm>
          <a:prstGeom prst="wedgeRoundRectCallout">
            <a:avLst>
              <a:gd name="adj1" fmla="val 26579"/>
              <a:gd name="adj2" fmla="val -50108"/>
              <a:gd name="adj3" fmla="val 16667"/>
            </a:avLst>
          </a:prstGeom>
          <a:solidFill>
            <a:srgbClr val="FFE9A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rgbClr val="000E3A"/>
                </a:solidFill>
                <a:uFillTx/>
                <a:latin typeface="微软雅黑" panose="020B0503020204020204" pitchFamily="34" charset="-122"/>
                <a:ea typeface="微软雅黑" panose="020B0503020204020204" pitchFamily="34" charset="-122"/>
                <a:sym typeface="+mn-ea"/>
              </a:rPr>
              <a:t>使用VLSM借1位将子网再划分为2个更小的子网</a:t>
            </a:r>
          </a:p>
        </p:txBody>
      </p:sp>
      <p:grpSp>
        <p:nvGrpSpPr>
          <p:cNvPr id="2" name="组合 66"/>
          <p:cNvGrpSpPr/>
          <p:nvPr/>
        </p:nvGrpSpPr>
        <p:grpSpPr bwMode="auto">
          <a:xfrm>
            <a:off x="263526" y="2151063"/>
            <a:ext cx="8565285" cy="1131887"/>
            <a:chOff x="263469" y="2151046"/>
            <a:chExt cx="8565400" cy="1131971"/>
          </a:xfrm>
        </p:grpSpPr>
        <p:sp>
          <p:nvSpPr>
            <p:cNvPr id="27675" name="TextBox 5"/>
            <p:cNvSpPr txBox="1">
              <a:spLocks noChangeArrowheads="1"/>
            </p:cNvSpPr>
            <p:nvPr/>
          </p:nvSpPr>
          <p:spPr bwMode="auto">
            <a:xfrm>
              <a:off x="4060818" y="2625783"/>
              <a:ext cx="1862163" cy="338579"/>
            </a:xfrm>
            <a:prstGeom prst="rect">
              <a:avLst/>
            </a:prstGeom>
            <a:noFill/>
            <a:ln w="9525">
              <a:noFill/>
              <a:miter lim="800000"/>
            </a:ln>
          </p:spPr>
          <p:txBody>
            <a:bodyPr>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192.168.100.0/24</a:t>
              </a:r>
            </a:p>
          </p:txBody>
        </p:sp>
        <p:sp>
          <p:nvSpPr>
            <p:cNvPr id="27676" name="AutoShape 20"/>
            <p:cNvSpPr>
              <a:spLocks noChangeArrowheads="1"/>
            </p:cNvSpPr>
            <p:nvPr/>
          </p:nvSpPr>
          <p:spPr bwMode="auto">
            <a:xfrm>
              <a:off x="1431883" y="2589270"/>
              <a:ext cx="876312" cy="292104"/>
            </a:xfrm>
            <a:prstGeom prst="rightArrow">
              <a:avLst>
                <a:gd name="adj1" fmla="val 50000"/>
                <a:gd name="adj2" fmla="val 100000"/>
              </a:avLst>
            </a:prstGeom>
            <a:gradFill rotWithShape="1">
              <a:gsLst>
                <a:gs pos="0">
                  <a:srgbClr val="FFFFFF"/>
                </a:gs>
                <a:gs pos="100000">
                  <a:srgbClr val="3399FF"/>
                </a:gs>
              </a:gsLst>
              <a:lin ang="5400000" scaled="1"/>
            </a:gradFill>
            <a:ln w="9525" algn="ctr">
              <a:solidFill>
                <a:srgbClr val="808080"/>
              </a:solidFill>
              <a:miter lim="800000"/>
            </a:ln>
          </p:spPr>
          <p:txBody>
            <a:bodyPr wrap="none" anchor="ctr"/>
            <a:lstStyle/>
            <a:p>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7677" name="TextBox 7"/>
            <p:cNvSpPr txBox="1">
              <a:spLocks noChangeArrowheads="1"/>
            </p:cNvSpPr>
            <p:nvPr/>
          </p:nvSpPr>
          <p:spPr bwMode="auto">
            <a:xfrm>
              <a:off x="6819959" y="2516252"/>
              <a:ext cx="2008910" cy="584818"/>
            </a:xfrm>
            <a:prstGeom prst="rect">
              <a:avLst/>
            </a:prstGeom>
            <a:noFill/>
            <a:ln w="9525">
              <a:noFill/>
              <a:miter lim="800000"/>
            </a:ln>
          </p:spPr>
          <p:txBody>
            <a:bodyPr wrap="none">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192.168.100.0/25</a:t>
              </a:r>
            </a:p>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192.168.100.128/25</a:t>
              </a:r>
            </a:p>
          </p:txBody>
        </p:sp>
        <p:sp>
          <p:nvSpPr>
            <p:cNvPr id="27678" name="AutoShape 20"/>
            <p:cNvSpPr>
              <a:spLocks noChangeArrowheads="1"/>
            </p:cNvSpPr>
            <p:nvPr/>
          </p:nvSpPr>
          <p:spPr bwMode="auto">
            <a:xfrm>
              <a:off x="5849955" y="2662296"/>
              <a:ext cx="876312" cy="292104"/>
            </a:xfrm>
            <a:prstGeom prst="rightArrow">
              <a:avLst>
                <a:gd name="adj1" fmla="val 50000"/>
                <a:gd name="adj2" fmla="val 100000"/>
              </a:avLst>
            </a:prstGeom>
            <a:gradFill rotWithShape="1">
              <a:gsLst>
                <a:gs pos="0">
                  <a:srgbClr val="FFFFFF"/>
                </a:gs>
                <a:gs pos="100000">
                  <a:srgbClr val="3399FF"/>
                </a:gs>
              </a:gsLst>
              <a:lin ang="5400000" scaled="1"/>
            </a:gradFill>
            <a:ln w="9525" algn="ctr">
              <a:solidFill>
                <a:srgbClr val="808080"/>
              </a:solidFill>
              <a:miter lim="800000"/>
            </a:ln>
          </p:spPr>
          <p:txBody>
            <a:bodyPr wrap="none" anchor="ctr"/>
            <a:lstStyle/>
            <a:p>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3" name="组合 44"/>
            <p:cNvGrpSpPr/>
            <p:nvPr/>
          </p:nvGrpSpPr>
          <p:grpSpPr bwMode="auto">
            <a:xfrm>
              <a:off x="263469" y="2151046"/>
              <a:ext cx="1095391" cy="1106569"/>
              <a:chOff x="3546461" y="3833818"/>
              <a:chExt cx="1689100" cy="1706340"/>
            </a:xfrm>
          </p:grpSpPr>
          <p:sp>
            <p:nvSpPr>
              <p:cNvPr id="18" name="椭圆 17"/>
              <p:cNvSpPr/>
              <p:nvPr/>
            </p:nvSpPr>
            <p:spPr bwMode="auto">
              <a:xfrm>
                <a:off x="3546459" y="3833818"/>
                <a:ext cx="1686651" cy="1686755"/>
              </a:xfrm>
              <a:prstGeom prst="ellipse">
                <a:avLst/>
              </a:prstGeom>
              <a:noFill/>
              <a:ln w="12700" cap="flat" cmpd="sng" algn="ctr">
                <a:solidFill>
                  <a:schemeClr val="tx2"/>
                </a:solid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19" name="饼形 18"/>
              <p:cNvSpPr/>
              <p:nvPr/>
            </p:nvSpPr>
            <p:spPr bwMode="auto">
              <a:xfrm rot="5400000">
                <a:off x="3550080" y="3854679"/>
                <a:ext cx="1684308" cy="1686650"/>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20" name="饼形 19"/>
              <p:cNvSpPr/>
              <p:nvPr/>
            </p:nvSpPr>
            <p:spPr bwMode="auto">
              <a:xfrm rot="10800000">
                <a:off x="3548908" y="3846058"/>
                <a:ext cx="1686650" cy="1686757"/>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grpSp>
          <p:nvGrpSpPr>
            <p:cNvPr id="6" name="组合 47"/>
            <p:cNvGrpSpPr/>
            <p:nvPr/>
          </p:nvGrpSpPr>
          <p:grpSpPr bwMode="auto">
            <a:xfrm>
              <a:off x="1797014" y="2182798"/>
              <a:ext cx="1093803" cy="1097043"/>
              <a:chOff x="3805229" y="3199730"/>
              <a:chExt cx="1093803" cy="1097043"/>
            </a:xfrm>
          </p:grpSpPr>
          <p:sp>
            <p:nvSpPr>
              <p:cNvPr id="16" name="饼形 15"/>
              <p:cNvSpPr/>
              <p:nvPr/>
            </p:nvSpPr>
            <p:spPr bwMode="auto">
              <a:xfrm rot="5400000">
                <a:off x="3805990" y="3203731"/>
                <a:ext cx="1092281" cy="1093803"/>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17" name="饼形 16"/>
              <p:cNvSpPr/>
              <p:nvPr/>
            </p:nvSpPr>
            <p:spPr bwMode="auto">
              <a:xfrm rot="10800000">
                <a:off x="3805229" y="3199730"/>
                <a:ext cx="1093803" cy="1092281"/>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grpSp>
          <p:nvGrpSpPr>
            <p:cNvPr id="7" name="组合 48"/>
            <p:cNvGrpSpPr/>
            <p:nvPr/>
          </p:nvGrpSpPr>
          <p:grpSpPr bwMode="auto">
            <a:xfrm>
              <a:off x="2454247" y="2185974"/>
              <a:ext cx="1093803" cy="1097043"/>
              <a:chOff x="3805228" y="3199817"/>
              <a:chExt cx="1093803" cy="1097043"/>
            </a:xfrm>
          </p:grpSpPr>
          <p:sp>
            <p:nvSpPr>
              <p:cNvPr id="14" name="饼形 13"/>
              <p:cNvSpPr/>
              <p:nvPr/>
            </p:nvSpPr>
            <p:spPr bwMode="auto">
              <a:xfrm rot="5400000">
                <a:off x="3805989" y="3203818"/>
                <a:ext cx="1092281" cy="1093803"/>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15" name="饼形 14"/>
              <p:cNvSpPr/>
              <p:nvPr/>
            </p:nvSpPr>
            <p:spPr bwMode="auto">
              <a:xfrm rot="10800000">
                <a:off x="3805228" y="3199817"/>
                <a:ext cx="1093803" cy="1092281"/>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8" name="组合 69"/>
          <p:cNvGrpSpPr/>
          <p:nvPr/>
        </p:nvGrpSpPr>
        <p:grpSpPr bwMode="auto">
          <a:xfrm>
            <a:off x="153988" y="3538538"/>
            <a:ext cx="8638311" cy="1679575"/>
            <a:chOff x="153927" y="3538540"/>
            <a:chExt cx="8638429" cy="1679583"/>
          </a:xfrm>
        </p:grpSpPr>
        <p:sp>
          <p:nvSpPr>
            <p:cNvPr id="27665" name="饼形 14"/>
            <p:cNvSpPr>
              <a:spLocks noChangeArrowheads="1"/>
            </p:cNvSpPr>
            <p:nvPr/>
          </p:nvSpPr>
          <p:spPr bwMode="auto">
            <a:xfrm rot="5400000">
              <a:off x="1816857" y="4175929"/>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nvGrpSpPr>
            <p:cNvPr id="9" name="组合 67"/>
            <p:cNvGrpSpPr/>
            <p:nvPr/>
          </p:nvGrpSpPr>
          <p:grpSpPr bwMode="auto">
            <a:xfrm>
              <a:off x="153927" y="3538540"/>
              <a:ext cx="8638429" cy="1133479"/>
              <a:chOff x="153927" y="3538540"/>
              <a:chExt cx="8638429" cy="1133479"/>
            </a:xfrm>
          </p:grpSpPr>
          <p:sp>
            <p:nvSpPr>
              <p:cNvPr id="27667" name="饼形 14"/>
              <p:cNvSpPr>
                <a:spLocks noChangeArrowheads="1"/>
              </p:cNvSpPr>
              <p:nvPr/>
            </p:nvSpPr>
            <p:spPr bwMode="auto">
              <a:xfrm rot="5400000">
                <a:off x="1816856" y="3555208"/>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7668" name="AutoShape 20"/>
              <p:cNvSpPr>
                <a:spLocks noChangeArrowheads="1"/>
              </p:cNvSpPr>
              <p:nvPr/>
            </p:nvSpPr>
            <p:spPr bwMode="auto">
              <a:xfrm>
                <a:off x="1431883" y="3976681"/>
                <a:ext cx="876312" cy="292104"/>
              </a:xfrm>
              <a:prstGeom prst="rightArrow">
                <a:avLst>
                  <a:gd name="adj1" fmla="val 50000"/>
                  <a:gd name="adj2" fmla="val 100000"/>
                </a:avLst>
              </a:prstGeom>
              <a:gradFill rotWithShape="1">
                <a:gsLst>
                  <a:gs pos="0">
                    <a:srgbClr val="FFFFFF"/>
                  </a:gs>
                  <a:gs pos="100000">
                    <a:srgbClr val="3399FF"/>
                  </a:gs>
                </a:gsLst>
                <a:lin ang="5400000" scaled="1"/>
              </a:gradFill>
              <a:ln w="9525" algn="ctr">
                <a:solidFill>
                  <a:srgbClr val="808080"/>
                </a:solidFill>
                <a:miter lim="800000"/>
              </a:ln>
            </p:spPr>
            <p:txBody>
              <a:bodyPr wrap="none" anchor="ctr"/>
              <a:lstStyle/>
              <a:p>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10" name="组合 51"/>
              <p:cNvGrpSpPr/>
              <p:nvPr/>
            </p:nvGrpSpPr>
            <p:grpSpPr bwMode="auto">
              <a:xfrm>
                <a:off x="153927" y="3575052"/>
                <a:ext cx="1093803" cy="1096967"/>
                <a:chOff x="3805227" y="3199426"/>
                <a:chExt cx="1093803" cy="1096967"/>
              </a:xfrm>
            </p:grpSpPr>
            <p:sp>
              <p:nvSpPr>
                <p:cNvPr id="30" name="饼形 29"/>
                <p:cNvSpPr/>
                <p:nvPr/>
              </p:nvSpPr>
              <p:spPr bwMode="auto">
                <a:xfrm rot="5400000">
                  <a:off x="3806026" y="3203390"/>
                  <a:ext cx="1092205" cy="1093802"/>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1" name="饼形 30"/>
                <p:cNvSpPr/>
                <p:nvPr/>
              </p:nvSpPr>
              <p:spPr bwMode="auto">
                <a:xfrm rot="10800000">
                  <a:off x="3805227" y="3199426"/>
                  <a:ext cx="1093802" cy="1092205"/>
                </a:xfrm>
                <a:prstGeom prst="pie">
                  <a:avLst>
                    <a:gd name="adj1" fmla="val 10800000"/>
                    <a:gd name="adj2" fmla="val 16200000"/>
                  </a:avLst>
                </a:prstGeom>
                <a:solidFill>
                  <a:srgbClr val="00B0F0"/>
                </a:solidFill>
                <a:ln w="9525" cap="flat" cmpd="sng" algn="ctr">
                  <a:noFill/>
                  <a:prstDash val="solid"/>
                  <a:round/>
                  <a:headEnd type="none" w="med" len="med"/>
                  <a:tailEnd type="none" w="med" len="med"/>
                </a:ln>
                <a:effectLst/>
              </p:spPr>
              <p:txBody>
                <a:bodyPr wrap="none" anchor="ctr" anchorCtr="1"/>
                <a:lstStyle/>
                <a:p>
                  <a:pPr>
                    <a:defRPr/>
                  </a:pPr>
                  <a:endParaRPr lang="zh-CN" altLang="en-US" sz="2400" b="1">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sp>
            <p:nvSpPr>
              <p:cNvPr id="27670" name="TextBox 57"/>
              <p:cNvSpPr txBox="1">
                <a:spLocks noChangeArrowheads="1"/>
              </p:cNvSpPr>
              <p:nvPr/>
            </p:nvSpPr>
            <p:spPr bwMode="auto">
              <a:xfrm>
                <a:off x="3805227" y="3976695"/>
                <a:ext cx="2081241" cy="338555"/>
              </a:xfrm>
              <a:prstGeom prst="rect">
                <a:avLst/>
              </a:prstGeom>
              <a:noFill/>
              <a:ln w="9525">
                <a:noFill/>
                <a:miter lim="800000"/>
              </a:ln>
            </p:spPr>
            <p:txBody>
              <a:bodyPr>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192.168.100.128/25</a:t>
                </a:r>
              </a:p>
            </p:txBody>
          </p:sp>
          <p:sp>
            <p:nvSpPr>
              <p:cNvPr id="27671" name="TextBox 58"/>
              <p:cNvSpPr txBox="1">
                <a:spLocks noChangeArrowheads="1"/>
              </p:cNvSpPr>
              <p:nvPr/>
            </p:nvSpPr>
            <p:spPr bwMode="auto">
              <a:xfrm>
                <a:off x="6783446" y="3867164"/>
                <a:ext cx="2008910" cy="584778"/>
              </a:xfrm>
              <a:prstGeom prst="rect">
                <a:avLst/>
              </a:prstGeom>
              <a:noFill/>
              <a:ln w="9525">
                <a:noFill/>
                <a:miter lim="800000"/>
              </a:ln>
            </p:spPr>
            <p:txBody>
              <a:bodyPr wrap="none">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192.168.100.128/26</a:t>
                </a:r>
              </a:p>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192.168.100.192/26</a:t>
                </a:r>
              </a:p>
            </p:txBody>
          </p:sp>
          <p:sp>
            <p:nvSpPr>
              <p:cNvPr id="27672" name="AutoShape 20"/>
              <p:cNvSpPr>
                <a:spLocks noChangeArrowheads="1"/>
              </p:cNvSpPr>
              <p:nvPr/>
            </p:nvSpPr>
            <p:spPr bwMode="auto">
              <a:xfrm>
                <a:off x="5813442" y="4013208"/>
                <a:ext cx="876312" cy="292104"/>
              </a:xfrm>
              <a:prstGeom prst="rightArrow">
                <a:avLst>
                  <a:gd name="adj1" fmla="val 50000"/>
                  <a:gd name="adj2" fmla="val 100000"/>
                </a:avLst>
              </a:prstGeom>
              <a:gradFill rotWithShape="1">
                <a:gsLst>
                  <a:gs pos="0">
                    <a:srgbClr val="FFFFFF"/>
                  </a:gs>
                  <a:gs pos="100000">
                    <a:srgbClr val="3399FF"/>
                  </a:gs>
                </a:gsLst>
                <a:lin ang="5400000" scaled="1"/>
              </a:gradFill>
              <a:ln w="9525" algn="ctr">
                <a:solidFill>
                  <a:srgbClr val="808080"/>
                </a:solidFill>
                <a:miter lim="800000"/>
              </a:ln>
            </p:spPr>
            <p:txBody>
              <a:bodyPr wrap="none" anchor="ctr"/>
              <a:lstStyle/>
              <a:p>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11" name="组合 68"/>
          <p:cNvGrpSpPr/>
          <p:nvPr/>
        </p:nvGrpSpPr>
        <p:grpSpPr bwMode="auto">
          <a:xfrm>
            <a:off x="190500" y="4821238"/>
            <a:ext cx="8638311" cy="1670050"/>
            <a:chOff x="190439" y="4821395"/>
            <a:chExt cx="8638430" cy="1669795"/>
          </a:xfrm>
        </p:grpSpPr>
        <p:sp>
          <p:nvSpPr>
            <p:cNvPr id="27658" name="饼形 24"/>
            <p:cNvSpPr>
              <a:spLocks noChangeArrowheads="1"/>
            </p:cNvSpPr>
            <p:nvPr/>
          </p:nvSpPr>
          <p:spPr bwMode="auto">
            <a:xfrm rot="8100000">
              <a:off x="1790948" y="4821395"/>
              <a:ext cx="1117600" cy="1168694"/>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7659" name="饼形 14"/>
            <p:cNvSpPr>
              <a:spLocks noChangeArrowheads="1"/>
            </p:cNvSpPr>
            <p:nvPr/>
          </p:nvSpPr>
          <p:spPr bwMode="auto">
            <a:xfrm rot="5400000">
              <a:off x="173771" y="5307831"/>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7660" name="AutoShape 20"/>
            <p:cNvSpPr>
              <a:spLocks noChangeArrowheads="1"/>
            </p:cNvSpPr>
            <p:nvPr/>
          </p:nvSpPr>
          <p:spPr bwMode="auto">
            <a:xfrm>
              <a:off x="1431882" y="5437214"/>
              <a:ext cx="876312" cy="292104"/>
            </a:xfrm>
            <a:prstGeom prst="rightArrow">
              <a:avLst>
                <a:gd name="adj1" fmla="val 50000"/>
                <a:gd name="adj2" fmla="val 100000"/>
              </a:avLst>
            </a:prstGeom>
            <a:gradFill rotWithShape="1">
              <a:gsLst>
                <a:gs pos="0">
                  <a:srgbClr val="FFFFFF"/>
                </a:gs>
                <a:gs pos="100000">
                  <a:srgbClr val="3399FF"/>
                </a:gs>
              </a:gsLst>
              <a:lin ang="5400000" scaled="1"/>
            </a:gradFill>
            <a:ln w="9525" algn="ctr">
              <a:solidFill>
                <a:srgbClr val="808080"/>
              </a:solidFill>
              <a:miter lim="800000"/>
            </a:ln>
          </p:spPr>
          <p:txBody>
            <a:bodyPr wrap="none" anchor="ctr"/>
            <a:lstStyle/>
            <a:p>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7661" name="饼形 24"/>
            <p:cNvSpPr>
              <a:spLocks noChangeArrowheads="1"/>
            </p:cNvSpPr>
            <p:nvPr/>
          </p:nvSpPr>
          <p:spPr bwMode="auto">
            <a:xfrm rot="8100000">
              <a:off x="1790948" y="5322496"/>
              <a:ext cx="1117600" cy="1168694"/>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7662" name="TextBox 60"/>
            <p:cNvSpPr txBox="1">
              <a:spLocks noChangeArrowheads="1"/>
            </p:cNvSpPr>
            <p:nvPr/>
          </p:nvSpPr>
          <p:spPr bwMode="auto">
            <a:xfrm>
              <a:off x="3841740" y="5364180"/>
              <a:ext cx="2081241" cy="338502"/>
            </a:xfrm>
            <a:prstGeom prst="rect">
              <a:avLst/>
            </a:prstGeom>
            <a:noFill/>
            <a:ln w="9525">
              <a:noFill/>
              <a:miter lim="800000"/>
            </a:ln>
          </p:spPr>
          <p:txBody>
            <a:bodyPr>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192.168.100.192/26</a:t>
              </a:r>
            </a:p>
          </p:txBody>
        </p:sp>
        <p:sp>
          <p:nvSpPr>
            <p:cNvPr id="27663" name="TextBox 61"/>
            <p:cNvSpPr txBox="1">
              <a:spLocks noChangeArrowheads="1"/>
            </p:cNvSpPr>
            <p:nvPr/>
          </p:nvSpPr>
          <p:spPr bwMode="auto">
            <a:xfrm>
              <a:off x="6819958" y="5254649"/>
              <a:ext cx="2008911" cy="584686"/>
            </a:xfrm>
            <a:prstGeom prst="rect">
              <a:avLst/>
            </a:prstGeom>
            <a:noFill/>
            <a:ln w="9525">
              <a:noFill/>
              <a:miter lim="800000"/>
            </a:ln>
          </p:spPr>
          <p:txBody>
            <a:bodyPr wrap="none">
              <a:spAutoFit/>
            </a:bodyPr>
            <a:lstStyle/>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192.168.100.192/27</a:t>
              </a:r>
            </a:p>
            <a:p>
              <a:r>
                <a:rPr lang="en-US" altLang="zh-CN" sz="1600" b="1">
                  <a:solidFill>
                    <a:schemeClr val="tx2"/>
                  </a:solidFill>
                  <a:latin typeface="Arial" panose="020B0604020202020204" pitchFamily="34" charset="0"/>
                  <a:ea typeface="微软雅黑" panose="020B0503020204020204" pitchFamily="34" charset="-122"/>
                  <a:cs typeface="Arial" panose="020B0604020202020204" pitchFamily="34" charset="0"/>
                </a:rPr>
                <a:t>192.168.100.224/27</a:t>
              </a:r>
            </a:p>
          </p:txBody>
        </p:sp>
        <p:sp>
          <p:nvSpPr>
            <p:cNvPr id="27664" name="AutoShape 20"/>
            <p:cNvSpPr>
              <a:spLocks noChangeArrowheads="1"/>
            </p:cNvSpPr>
            <p:nvPr/>
          </p:nvSpPr>
          <p:spPr bwMode="auto">
            <a:xfrm>
              <a:off x="5849955" y="5400693"/>
              <a:ext cx="876312" cy="292104"/>
            </a:xfrm>
            <a:prstGeom prst="rightArrow">
              <a:avLst>
                <a:gd name="adj1" fmla="val 50000"/>
                <a:gd name="adj2" fmla="val 100000"/>
              </a:avLst>
            </a:prstGeom>
            <a:gradFill rotWithShape="1">
              <a:gsLst>
                <a:gs pos="0">
                  <a:srgbClr val="FFFFFF"/>
                </a:gs>
                <a:gs pos="100000">
                  <a:srgbClr val="3399FF"/>
                </a:gs>
              </a:gsLst>
              <a:lin ang="5400000" scaled="1"/>
            </a:gradFill>
            <a:ln w="9525" algn="ctr">
              <a:solidFill>
                <a:srgbClr val="808080"/>
              </a:solidFill>
              <a:miter lim="800000"/>
            </a:ln>
          </p:spPr>
          <p:txBody>
            <a:bodyPr wrap="none" anchor="ctr"/>
            <a:lstStyle/>
            <a:p>
              <a:endParaRPr lang="zh-CN" altLang="en-US" sz="1600" b="1">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40" name="AutoShape 4"/>
          <p:cNvSpPr>
            <a:spLocks noChangeArrowheads="1"/>
          </p:cNvSpPr>
          <p:nvPr/>
        </p:nvSpPr>
        <p:spPr bwMode="auto">
          <a:xfrm>
            <a:off x="4572000" y="5838825"/>
            <a:ext cx="2884488" cy="547688"/>
          </a:xfrm>
          <a:prstGeom prst="wedgeRoundRectCallout">
            <a:avLst>
              <a:gd name="adj1" fmla="val 26579"/>
              <a:gd name="adj2" fmla="val -50108"/>
              <a:gd name="adj3" fmla="val 16667"/>
            </a:avLst>
          </a:prstGeom>
          <a:solidFill>
            <a:srgbClr val="FFE9A3"/>
          </a:solid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zh-CN" altLang="en-US" dirty="0">
                <a:solidFill>
                  <a:srgbClr val="000E3A"/>
                </a:solidFill>
                <a:uFillTx/>
                <a:latin typeface="微软雅黑" panose="020B0503020204020204" pitchFamily="34" charset="-122"/>
                <a:ea typeface="微软雅黑" panose="020B0503020204020204" pitchFamily="34" charset="-122"/>
                <a:sym typeface="+mn-ea"/>
              </a:rPr>
              <a:t>使用VLSM借1位将子网再划分为2个更小的子网</a:t>
            </a:r>
          </a:p>
        </p:txBody>
      </p:sp>
      <p:sp>
        <p:nvSpPr>
          <p:cNvPr id="12" name="灯片编号占位符 11"/>
          <p:cNvSpPr>
            <a:spLocks noGrp="1"/>
          </p:cNvSpPr>
          <p:nvPr>
            <p:ph type="sldNum" sz="quarter" idx="12"/>
          </p:nvPr>
        </p:nvSpPr>
        <p:spPr/>
        <p:txBody>
          <a:bodyPr/>
          <a:lstStyle/>
          <a:p>
            <a:fld id="{0C913308-F349-4B6D-A68A-DD1791B4A57B}" type="slidenum">
              <a:rPr lang="zh-CN" altLang="en-US" smtClean="0"/>
              <a:t>21</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ppt_w*0.70"/>
                                          </p:val>
                                        </p:tav>
                                        <p:tav tm="100000">
                                          <p:val>
                                            <p:strVal val="#ppt_w"/>
                                          </p:val>
                                        </p:tav>
                                      </p:tavLst>
                                    </p:anim>
                                    <p:anim calcmode="lin" valueType="num">
                                      <p:cBhvr>
                                        <p:cTn id="8" dur="500" fill="hold"/>
                                        <p:tgtEl>
                                          <p:spTgt spid="2"/>
                                        </p:tgtEl>
                                        <p:attrNameLst>
                                          <p:attrName>ppt_h</p:attrName>
                                        </p:attrNameLst>
                                      </p:cBhvr>
                                      <p:tavLst>
                                        <p:tav tm="0">
                                          <p:val>
                                            <p:strVal val="#ppt_h"/>
                                          </p:val>
                                        </p:tav>
                                        <p:tav tm="100000">
                                          <p:val>
                                            <p:strVal val="#ppt_h"/>
                                          </p:val>
                                        </p:tav>
                                      </p:tavLst>
                                    </p:anim>
                                    <p:animEffect transition="in" filter="fade">
                                      <p:cBhvr>
                                        <p:cTn id="9" dur="500"/>
                                        <p:tgtEl>
                                          <p:spTgt spid="2"/>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strVal val="#ppt_w*0.70"/>
                                          </p:val>
                                        </p:tav>
                                        <p:tav tm="100000">
                                          <p:val>
                                            <p:strVal val="#ppt_w"/>
                                          </p:val>
                                        </p:tav>
                                      </p:tavLst>
                                    </p:anim>
                                    <p:anim calcmode="lin" valueType="num">
                                      <p:cBhvr>
                                        <p:cTn id="13" dur="500" fill="hold"/>
                                        <p:tgtEl>
                                          <p:spTgt spid="4"/>
                                        </p:tgtEl>
                                        <p:attrNameLst>
                                          <p:attrName>ppt_h</p:attrName>
                                        </p:attrNameLst>
                                      </p:cBhvr>
                                      <p:tavLst>
                                        <p:tav tm="0">
                                          <p:val>
                                            <p:strVal val="#ppt_h"/>
                                          </p:val>
                                        </p:tav>
                                        <p:tav tm="100000">
                                          <p:val>
                                            <p:strVal val="#ppt_h"/>
                                          </p:val>
                                        </p:tav>
                                      </p:tavLst>
                                    </p:anim>
                                    <p:animEffect transition="in" filter="fade">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strVal val="#ppt_w*0.70"/>
                                          </p:val>
                                        </p:tav>
                                        <p:tav tm="100000">
                                          <p:val>
                                            <p:strVal val="#ppt_w"/>
                                          </p:val>
                                        </p:tav>
                                      </p:tavLst>
                                    </p:anim>
                                    <p:anim calcmode="lin" valueType="num">
                                      <p:cBhvr>
                                        <p:cTn id="20" dur="500" fill="hold"/>
                                        <p:tgtEl>
                                          <p:spTgt spid="5"/>
                                        </p:tgtEl>
                                        <p:attrNameLst>
                                          <p:attrName>ppt_h</p:attrName>
                                        </p:attrNameLst>
                                      </p:cBhvr>
                                      <p:tavLst>
                                        <p:tav tm="0">
                                          <p:val>
                                            <p:strVal val="#ppt_h"/>
                                          </p:val>
                                        </p:tav>
                                        <p:tav tm="100000">
                                          <p:val>
                                            <p:strVal val="#ppt_h"/>
                                          </p:val>
                                        </p:tav>
                                      </p:tavLst>
                                    </p:anim>
                                    <p:animEffect transition="in" filter="fade">
                                      <p:cBhvr>
                                        <p:cTn id="21" dur="500"/>
                                        <p:tgtEl>
                                          <p:spTgt spid="5"/>
                                        </p:tgtEl>
                                      </p:cBhvr>
                                    </p:animEffect>
                                  </p:childTnLst>
                                </p:cTn>
                              </p:par>
                              <p:par>
                                <p:cTn id="22" presetID="55"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p:cTn id="24" dur="500" fill="hold"/>
                                        <p:tgtEl>
                                          <p:spTgt spid="8"/>
                                        </p:tgtEl>
                                        <p:attrNameLst>
                                          <p:attrName>ppt_w</p:attrName>
                                        </p:attrNameLst>
                                      </p:cBhvr>
                                      <p:tavLst>
                                        <p:tav tm="0">
                                          <p:val>
                                            <p:strVal val="#ppt_w*0.70"/>
                                          </p:val>
                                        </p:tav>
                                        <p:tav tm="100000">
                                          <p:val>
                                            <p:strVal val="#ppt_w"/>
                                          </p:val>
                                        </p:tav>
                                      </p:tavLst>
                                    </p:anim>
                                    <p:anim calcmode="lin" valueType="num">
                                      <p:cBhvr>
                                        <p:cTn id="25" dur="500" fill="hold"/>
                                        <p:tgtEl>
                                          <p:spTgt spid="8"/>
                                        </p:tgtEl>
                                        <p:attrNameLst>
                                          <p:attrName>ppt_h</p:attrName>
                                        </p:attrNameLst>
                                      </p:cBhvr>
                                      <p:tavLst>
                                        <p:tav tm="0">
                                          <p:val>
                                            <p:strVal val="#ppt_h"/>
                                          </p:val>
                                        </p:tav>
                                        <p:tav tm="100000">
                                          <p:val>
                                            <p:strVal val="#ppt_h"/>
                                          </p:val>
                                        </p:tav>
                                      </p:tavLst>
                                    </p:anim>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p:cTn id="31" dur="500" fill="hold"/>
                                        <p:tgtEl>
                                          <p:spTgt spid="40"/>
                                        </p:tgtEl>
                                        <p:attrNameLst>
                                          <p:attrName>ppt_w</p:attrName>
                                        </p:attrNameLst>
                                      </p:cBhvr>
                                      <p:tavLst>
                                        <p:tav tm="0">
                                          <p:val>
                                            <p:strVal val="#ppt_w*0.70"/>
                                          </p:val>
                                        </p:tav>
                                        <p:tav tm="100000">
                                          <p:val>
                                            <p:strVal val="#ppt_w"/>
                                          </p:val>
                                        </p:tav>
                                      </p:tavLst>
                                    </p:anim>
                                    <p:anim calcmode="lin" valueType="num">
                                      <p:cBhvr>
                                        <p:cTn id="32" dur="500" fill="hold"/>
                                        <p:tgtEl>
                                          <p:spTgt spid="40"/>
                                        </p:tgtEl>
                                        <p:attrNameLst>
                                          <p:attrName>ppt_h</p:attrName>
                                        </p:attrNameLst>
                                      </p:cBhvr>
                                      <p:tavLst>
                                        <p:tav tm="0">
                                          <p:val>
                                            <p:strVal val="#ppt_h"/>
                                          </p:val>
                                        </p:tav>
                                        <p:tav tm="100000">
                                          <p:val>
                                            <p:strVal val="#ppt_h"/>
                                          </p:val>
                                        </p:tav>
                                      </p:tavLst>
                                    </p:anim>
                                    <p:animEffect transition="in" filter="fade">
                                      <p:cBhvr>
                                        <p:cTn id="33" dur="500"/>
                                        <p:tgtEl>
                                          <p:spTgt spid="40"/>
                                        </p:tgtEl>
                                      </p:cBhvr>
                                    </p:animEffect>
                                  </p:childTnLst>
                                </p:cTn>
                              </p:par>
                              <p:par>
                                <p:cTn id="34" presetID="55" presetClass="entr" presetSubtype="0" fill="hold"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p:cTn id="36" dur="500" fill="hold"/>
                                        <p:tgtEl>
                                          <p:spTgt spid="11"/>
                                        </p:tgtEl>
                                        <p:attrNameLst>
                                          <p:attrName>ppt_w</p:attrName>
                                        </p:attrNameLst>
                                      </p:cBhvr>
                                      <p:tavLst>
                                        <p:tav tm="0">
                                          <p:val>
                                            <p:strVal val="#ppt_w*0.70"/>
                                          </p:val>
                                        </p:tav>
                                        <p:tav tm="100000">
                                          <p:val>
                                            <p:strVal val="#ppt_w"/>
                                          </p:val>
                                        </p:tav>
                                      </p:tavLst>
                                    </p:anim>
                                    <p:anim calcmode="lin" valueType="num">
                                      <p:cBhvr>
                                        <p:cTn id="37" dur="500" fill="hold"/>
                                        <p:tgtEl>
                                          <p:spTgt spid="11"/>
                                        </p:tgtEl>
                                        <p:attrNameLst>
                                          <p:attrName>ppt_h</p:attrName>
                                        </p:attrNameLst>
                                      </p:cBhvr>
                                      <p:tavLst>
                                        <p:tav tm="0">
                                          <p:val>
                                            <p:strVal val="#ppt_h"/>
                                          </p:val>
                                        </p:tav>
                                        <p:tav tm="100000">
                                          <p:val>
                                            <p:strVal val="#ppt_h"/>
                                          </p:val>
                                        </p:tav>
                                      </p:tavLst>
                                    </p:anim>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40"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a:sym typeface="+mn-ea"/>
              </a:rPr>
              <a:t>子网划分的应用</a:t>
            </a:r>
            <a:endParaRPr lang="zh-CN" altLang="en-US"/>
          </a:p>
        </p:txBody>
      </p:sp>
      <p:sp>
        <p:nvSpPr>
          <p:cNvPr id="18435" name="Rectangle 3"/>
          <p:cNvSpPr>
            <a:spLocks noGrp="1" noChangeArrowheads="1"/>
          </p:cNvSpPr>
          <p:nvPr>
            <p:ph idx="1"/>
          </p:nvPr>
        </p:nvSpPr>
        <p:spPr/>
        <p:txBody>
          <a:bodyPr/>
          <a:lstStyle/>
          <a:p>
            <a:r>
              <a:rPr lang="zh-CN" altLang="en-US"/>
              <a:t>课堂练习</a:t>
            </a:r>
          </a:p>
          <a:p>
            <a:pPr lvl="1"/>
            <a:r>
              <a:rPr lang="zh-CN" altLang="en-US"/>
              <a:t>描述私有</a:t>
            </a:r>
            <a:r>
              <a:rPr lang="en-US" altLang="zh-CN"/>
              <a:t>IP</a:t>
            </a:r>
            <a:r>
              <a:rPr lang="zh-CN" altLang="en-US"/>
              <a:t>地址范围？</a:t>
            </a:r>
          </a:p>
          <a:p>
            <a:pPr lvl="1"/>
            <a:r>
              <a:rPr lang="zh-CN" altLang="en-US"/>
              <a:t>什么</a:t>
            </a:r>
            <a:r>
              <a:rPr lang="zh-CN" altLang="en-US">
                <a:solidFill>
                  <a:srgbClr val="001E7F"/>
                </a:solidFill>
              </a:rPr>
              <a:t>是无类</a:t>
            </a:r>
            <a:r>
              <a:rPr lang="en-US" altLang="zh-CN"/>
              <a:t>IP</a:t>
            </a:r>
            <a:r>
              <a:rPr lang="zh-CN" altLang="en-US">
                <a:solidFill>
                  <a:srgbClr val="001E7F"/>
                </a:solidFill>
              </a:rPr>
              <a:t>地址？</a:t>
            </a:r>
            <a:endParaRPr lang="en-US" altLang="zh-CN"/>
          </a:p>
          <a:p>
            <a:pPr lvl="1"/>
            <a:r>
              <a:rPr lang="en-US" altLang="zh-CN"/>
              <a:t>C</a:t>
            </a:r>
            <a:r>
              <a:rPr lang="zh-CN" altLang="en-US"/>
              <a:t>类地址</a:t>
            </a:r>
            <a:r>
              <a:rPr lang="en-US" altLang="zh-CN"/>
              <a:t>192.168.50.0/24</a:t>
            </a:r>
            <a:r>
              <a:rPr lang="zh-CN" altLang="en-US"/>
              <a:t>分别使用子网掩码</a:t>
            </a:r>
            <a:r>
              <a:rPr lang="en-US" altLang="zh-CN"/>
              <a:t>/29</a:t>
            </a:r>
            <a:r>
              <a:rPr lang="zh-CN" altLang="en-US"/>
              <a:t>和</a:t>
            </a:r>
            <a:r>
              <a:rPr lang="en-US" altLang="zh-CN"/>
              <a:t>/30</a:t>
            </a:r>
            <a:r>
              <a:rPr lang="zh-CN" altLang="en-US"/>
              <a:t>进行划分，划分后的子网数和主机数分别是多少？</a:t>
            </a:r>
            <a:endParaRPr lang="en-US" altLang="zh-CN"/>
          </a:p>
          <a:p>
            <a:pPr lvl="1"/>
            <a:r>
              <a:rPr lang="zh-CN" altLang="en-US"/>
              <a:t>某公司共有生产部、研发部、销售部、财务部、客服部</a:t>
            </a:r>
            <a:r>
              <a:rPr lang="en-US" altLang="zh-CN"/>
              <a:t>5</a:t>
            </a:r>
            <a:r>
              <a:rPr lang="zh-CN" altLang="en-US"/>
              <a:t>个部门和</a:t>
            </a:r>
            <a:r>
              <a:rPr lang="en-US" altLang="zh-CN"/>
              <a:t>1</a:t>
            </a:r>
            <a:r>
              <a:rPr lang="zh-CN" altLang="en-US"/>
              <a:t>组服务器，其中生产部和研发部各有主机</a:t>
            </a:r>
            <a:r>
              <a:rPr lang="en-US" altLang="zh-CN"/>
              <a:t>50</a:t>
            </a:r>
            <a:r>
              <a:rPr lang="zh-CN" altLang="en-US"/>
              <a:t>台，销售部、财务部和客服部各有主机</a:t>
            </a:r>
            <a:r>
              <a:rPr lang="en-US" altLang="zh-CN"/>
              <a:t> 20</a:t>
            </a:r>
            <a:r>
              <a:rPr lang="zh-CN" altLang="en-US"/>
              <a:t>台，服务器组有主机</a:t>
            </a:r>
            <a:r>
              <a:rPr lang="en-US" altLang="zh-CN"/>
              <a:t>6</a:t>
            </a:r>
            <a:r>
              <a:rPr lang="zh-CN" altLang="en-US"/>
              <a:t>台。该公司使用</a:t>
            </a:r>
            <a:r>
              <a:rPr lang="en-US" altLang="zh-CN"/>
              <a:t>C</a:t>
            </a:r>
            <a:r>
              <a:rPr lang="zh-CN" altLang="en-US"/>
              <a:t>类地址</a:t>
            </a:r>
            <a:r>
              <a:rPr lang="en-US" altLang="zh-CN"/>
              <a:t>192.168.10.0/24</a:t>
            </a:r>
            <a:r>
              <a:rPr lang="zh-CN" altLang="en-US"/>
              <a:t>，应该如何划分子网？</a:t>
            </a:r>
          </a:p>
          <a:p>
            <a:endParaRPr lang="zh-CN" altLang="en-US"/>
          </a:p>
          <a:p>
            <a:endParaRPr lang="zh-CN" altLang="en-US"/>
          </a:p>
        </p:txBody>
      </p:sp>
      <p:grpSp>
        <p:nvGrpSpPr>
          <p:cNvPr id="11" name="组合 10"/>
          <p:cNvGrpSpPr/>
          <p:nvPr/>
        </p:nvGrpSpPr>
        <p:grpSpPr>
          <a:xfrm>
            <a:off x="2124208" y="5516591"/>
            <a:ext cx="2199762" cy="573757"/>
            <a:chOff x="1907704" y="2132856"/>
            <a:chExt cx="2199762" cy="573757"/>
          </a:xfrm>
        </p:grpSpPr>
        <p:sp>
          <p:nvSpPr>
            <p:cNvPr id="36" name="圆角矩形 35"/>
            <p:cNvSpPr/>
            <p:nvPr/>
          </p:nvSpPr>
          <p:spPr>
            <a:xfrm>
              <a:off x="2140866" y="2239714"/>
              <a:ext cx="1966600" cy="360040"/>
            </a:xfrm>
            <a:prstGeom prst="round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1907704" y="2132856"/>
              <a:ext cx="573757" cy="573757"/>
            </a:xfrm>
            <a:prstGeom prst="ellipse">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15"/>
            <p:cNvSpPr txBox="1"/>
            <p:nvPr/>
          </p:nvSpPr>
          <p:spPr>
            <a:xfrm>
              <a:off x="2544435" y="2250457"/>
              <a:ext cx="1491024" cy="338554"/>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教员讲解思路</a:t>
              </a:r>
            </a:p>
          </p:txBody>
        </p:sp>
        <p:pic>
          <p:nvPicPr>
            <p:cNvPr id="1029" name="Picture 5" descr="C:\Users\lei.sun.PRD\Desktop\等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0500" y="2219189"/>
              <a:ext cx="328165" cy="40109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 name="组合 9"/>
          <p:cNvGrpSpPr/>
          <p:nvPr/>
        </p:nvGrpSpPr>
        <p:grpSpPr>
          <a:xfrm>
            <a:off x="4571732" y="5516864"/>
            <a:ext cx="2494917" cy="573757"/>
            <a:chOff x="1331640" y="2924944"/>
            <a:chExt cx="2494917" cy="573757"/>
          </a:xfrm>
        </p:grpSpPr>
        <p:sp>
          <p:nvSpPr>
            <p:cNvPr id="18" name="圆角矩形 17"/>
            <p:cNvSpPr/>
            <p:nvPr/>
          </p:nvSpPr>
          <p:spPr>
            <a:xfrm>
              <a:off x="1468226" y="3031802"/>
              <a:ext cx="2358331" cy="360040"/>
            </a:xfrm>
            <a:prstGeom prst="roundRect">
              <a:avLst/>
            </a:prstGeom>
            <a:solidFill>
              <a:srgbClr val="0034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331640" y="2924944"/>
              <a:ext cx="573757" cy="573757"/>
            </a:xfrm>
            <a:prstGeom prst="ellipse">
              <a:avLst/>
            </a:prstGeom>
            <a:solidFill>
              <a:srgbClr val="0034DC"/>
            </a:solidFill>
            <a:ln>
              <a:solidFill>
                <a:srgbClr val="0034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5"/>
            <p:cNvSpPr txBox="1"/>
            <p:nvPr/>
          </p:nvSpPr>
          <p:spPr>
            <a:xfrm>
              <a:off x="1984295" y="3042545"/>
              <a:ext cx="1680188" cy="337185"/>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学生练习5分钟</a:t>
              </a:r>
            </a:p>
          </p:txBody>
        </p:sp>
        <p:pic>
          <p:nvPicPr>
            <p:cNvPr id="16" name="图片 1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31220" y="3024540"/>
              <a:ext cx="374597" cy="374565"/>
            </a:xfrm>
            <a:prstGeom prst="rect">
              <a:avLst/>
            </a:prstGeom>
          </p:spPr>
        </p:pic>
      </p:grpSp>
      <p:sp>
        <p:nvSpPr>
          <p:cNvPr id="2" name="灯片编号占位符 1"/>
          <p:cNvSpPr>
            <a:spLocks noGrp="1"/>
          </p:cNvSpPr>
          <p:nvPr>
            <p:ph type="sldNum" sz="quarter" idx="12"/>
          </p:nvPr>
        </p:nvSpPr>
        <p:spPr/>
        <p:txBody>
          <a:bodyPr/>
          <a:lstStyle/>
          <a:p>
            <a:fld id="{0C913308-F349-4B6D-A68A-DD1791B4A57B}" type="slidenum">
              <a:rPr lang="zh-CN" altLang="en-US" smtClean="0"/>
              <a:t>22</a:t>
            </a:fld>
            <a:r>
              <a:rPr lang="en-US" altLang="zh-CN" dirty="0"/>
              <a:t>/45</a:t>
            </a:r>
            <a:endParaRPr lang="zh-CN" altLang="en-US" dirty="0"/>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zh-CN" altLang="en-US"/>
              <a:t>小结</a:t>
            </a:r>
          </a:p>
        </p:txBody>
      </p:sp>
      <p:sp>
        <p:nvSpPr>
          <p:cNvPr id="25603" name="Rectangle 3"/>
          <p:cNvSpPr>
            <a:spLocks noGrp="1" noChangeArrowheads="1"/>
          </p:cNvSpPr>
          <p:nvPr>
            <p:ph idx="1"/>
          </p:nvPr>
        </p:nvSpPr>
        <p:spPr/>
        <p:txBody>
          <a:bodyPr/>
          <a:lstStyle/>
          <a:p>
            <a:r>
              <a:rPr lang="zh-CN" altLang="en-US"/>
              <a:t>简述子网划分的优势</a:t>
            </a:r>
            <a:endParaRPr lang="en-US" altLang="zh-CN"/>
          </a:p>
          <a:p>
            <a:r>
              <a:rPr lang="zh-CN" altLang="en-US"/>
              <a:t>总结子网划分的方法</a:t>
            </a:r>
            <a:endParaRPr lang="zh-CN" altLang="en-US">
              <a:cs typeface="Arial" panose="020B0604020202020204" pitchFamily="34" charset="0"/>
            </a:endParaRPr>
          </a:p>
        </p:txBody>
      </p:sp>
      <p:grpSp>
        <p:nvGrpSpPr>
          <p:cNvPr id="5" name="组合 4"/>
          <p:cNvGrpSpPr/>
          <p:nvPr/>
        </p:nvGrpSpPr>
        <p:grpSpPr>
          <a:xfrm>
            <a:off x="2933700" y="2995295"/>
            <a:ext cx="3218180" cy="3455035"/>
            <a:chOff x="4620" y="4717"/>
            <a:chExt cx="5068" cy="5441"/>
          </a:xfrm>
        </p:grpSpPr>
        <p:pic>
          <p:nvPicPr>
            <p:cNvPr id="17" name="图片 16" descr="摄图网_402090509_迷宫中解决问题等距（企业商用）"/>
            <p:cNvPicPr>
              <a:picLocks noChangeAspect="1"/>
            </p:cNvPicPr>
            <p:nvPr/>
          </p:nvPicPr>
          <p:blipFill>
            <a:blip r:embed="rId7"/>
            <a:stretch>
              <a:fillRect/>
            </a:stretch>
          </p:blipFill>
          <p:spPr>
            <a:xfrm>
              <a:off x="4620" y="4717"/>
              <a:ext cx="5068" cy="5068"/>
            </a:xfrm>
            <a:prstGeom prst="rect">
              <a:avLst/>
            </a:prstGeom>
          </p:spPr>
        </p:pic>
        <p:grpSp>
          <p:nvGrpSpPr>
            <p:cNvPr id="8" name="组合 7"/>
            <p:cNvGrpSpPr/>
            <p:nvPr/>
          </p:nvGrpSpPr>
          <p:grpSpPr>
            <a:xfrm>
              <a:off x="5087" y="9254"/>
              <a:ext cx="4279" cy="904"/>
              <a:chOff x="2635654" y="5025223"/>
              <a:chExt cx="2717165" cy="573757"/>
            </a:xfrm>
          </p:grpSpPr>
          <p:sp>
            <p:nvSpPr>
              <p:cNvPr id="9" name="圆角矩形 8"/>
              <p:cNvSpPr/>
              <p:nvPr>
                <p:custDataLst>
                  <p:tags r:id="rId1"/>
                </p:custDataLst>
              </p:nvPr>
            </p:nvSpPr>
            <p:spPr>
              <a:xfrm>
                <a:off x="2796944" y="5131903"/>
                <a:ext cx="2555875" cy="360045"/>
              </a:xfrm>
              <a:prstGeom prst="round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2"/>
                </p:custDataLst>
              </p:nvPr>
            </p:nvSpPr>
            <p:spPr>
              <a:xfrm>
                <a:off x="2635654" y="5025223"/>
                <a:ext cx="573757" cy="573757"/>
              </a:xfrm>
              <a:prstGeom prst="ellipse">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5"/>
              <p:cNvSpPr txBox="1"/>
              <p:nvPr>
                <p:custDataLst>
                  <p:tags r:id="rId3"/>
                </p:custDataLst>
              </p:nvPr>
            </p:nvSpPr>
            <p:spPr>
              <a:xfrm>
                <a:off x="3272559" y="5142698"/>
                <a:ext cx="2079625" cy="337185"/>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教员解决共性问题</a:t>
                </a:r>
              </a:p>
            </p:txBody>
          </p:sp>
          <p:pic>
            <p:nvPicPr>
              <p:cNvPr id="14" name="图片 13" descr="1"/>
              <p:cNvPicPr>
                <a:picLocks noChangeAspect="1"/>
              </p:cNvPicPr>
              <p:nvPr>
                <p:custDataLst>
                  <p:tags r:id="rId4"/>
                </p:custDataLst>
              </p:nvPr>
            </p:nvPicPr>
            <p:blipFill>
              <a:blip r:embed="rId8"/>
              <a:stretch>
                <a:fillRect/>
              </a:stretch>
            </p:blipFill>
            <p:spPr>
              <a:xfrm>
                <a:off x="2770196" y="5125836"/>
                <a:ext cx="348886" cy="372531"/>
              </a:xfrm>
              <a:prstGeom prst="rect">
                <a:avLst/>
              </a:prstGeom>
            </p:spPr>
          </p:pic>
        </p:grpSp>
      </p:grpSp>
      <p:sp>
        <p:nvSpPr>
          <p:cNvPr id="2" name="灯片编号占位符 1"/>
          <p:cNvSpPr>
            <a:spLocks noGrp="1"/>
          </p:cNvSpPr>
          <p:nvPr>
            <p:ph type="sldNum" sz="quarter" idx="12"/>
          </p:nvPr>
        </p:nvSpPr>
        <p:spPr/>
        <p:txBody>
          <a:bodyPr/>
          <a:lstStyle/>
          <a:p>
            <a:fld id="{0C913308-F349-4B6D-A68A-DD1791B4A57B}" type="slidenum">
              <a:rPr lang="zh-CN" altLang="en-US" smtClean="0"/>
              <a:t>23</a:t>
            </a:fld>
            <a:r>
              <a:rPr lang="en-US" altLang="zh-CN" dirty="0"/>
              <a:t>/45</a:t>
            </a:r>
            <a:endParaRPr lang="zh-CN" altLang="en-US" dirty="0"/>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7" name="标题 18"/>
          <p:cNvSpPr>
            <a:spLocks noGrp="1"/>
          </p:cNvSpPr>
          <p:nvPr>
            <p:ph type="title"/>
          </p:nvPr>
        </p:nvSpPr>
        <p:spPr/>
        <p:txBody>
          <a:bodyPr/>
          <a:lstStyle/>
          <a:p>
            <a:r>
              <a:rPr lang="zh-CN" altLang="en-US">
                <a:sym typeface="+mn-ea"/>
              </a:rPr>
              <a:t>子网划分的应用</a:t>
            </a:r>
            <a:endParaRPr lang="zh-CN" altLang="en-US"/>
          </a:p>
        </p:txBody>
      </p:sp>
      <p:sp>
        <p:nvSpPr>
          <p:cNvPr id="2" name="内容占位符 1"/>
          <p:cNvSpPr>
            <a:spLocks noGrp="1"/>
          </p:cNvSpPr>
          <p:nvPr>
            <p:ph idx="1"/>
          </p:nvPr>
        </p:nvSpPr>
        <p:spPr/>
        <p:txBody>
          <a:bodyPr/>
          <a:lstStyle/>
          <a:p>
            <a:r>
              <a:rPr lang="zh-CN" altLang="en-US">
                <a:sym typeface="+mn-ea"/>
              </a:rPr>
              <a:t>判断可用的</a:t>
            </a:r>
            <a:r>
              <a:rPr lang="en-US" altLang="zh-CN">
                <a:sym typeface="+mn-ea"/>
              </a:rPr>
              <a:t>IP</a:t>
            </a:r>
            <a:r>
              <a:rPr lang="zh-CN" altLang="en-US">
                <a:sym typeface="+mn-ea"/>
              </a:rPr>
              <a:t>地址</a:t>
            </a:r>
            <a:endParaRPr lang="zh-CN" altLang="en-US"/>
          </a:p>
          <a:p>
            <a:pPr lvl="1"/>
            <a:r>
              <a:rPr lang="zh-CN" altLang="en-US"/>
              <a:t>子网地址与广播地址计算</a:t>
            </a:r>
          </a:p>
          <a:p>
            <a:pPr lvl="2"/>
            <a:r>
              <a:rPr lang="zh-CN" altLang="en-US"/>
              <a:t>计算159.64.25.100/25地址的子网地址和广播地址</a:t>
            </a:r>
          </a:p>
        </p:txBody>
      </p:sp>
      <p:sp>
        <p:nvSpPr>
          <p:cNvPr id="5" name="TextBox 4"/>
          <p:cNvSpPr txBox="1"/>
          <p:nvPr/>
        </p:nvSpPr>
        <p:spPr>
          <a:xfrm>
            <a:off x="982663" y="2132013"/>
            <a:ext cx="3117850" cy="398780"/>
          </a:xfrm>
          <a:prstGeom prst="rect">
            <a:avLst/>
          </a:prstGeom>
          <a:noFill/>
        </p:spPr>
        <p:txBody>
          <a:bodyPr wrap="none">
            <a:spAutoFit/>
          </a:bodyPr>
          <a:lstStyle/>
          <a:p>
            <a:pPr>
              <a:defRPr/>
            </a:pP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1</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、写出二进制的子网掩码</a:t>
            </a:r>
          </a:p>
        </p:txBody>
      </p:sp>
      <p:sp>
        <p:nvSpPr>
          <p:cNvPr id="6" name="TextBox 5"/>
          <p:cNvSpPr txBox="1"/>
          <p:nvPr/>
        </p:nvSpPr>
        <p:spPr>
          <a:xfrm>
            <a:off x="982663" y="2532063"/>
            <a:ext cx="2849880" cy="398780"/>
          </a:xfrm>
          <a:prstGeom prst="rect">
            <a:avLst/>
          </a:prstGeom>
          <a:noFill/>
        </p:spPr>
        <p:txBody>
          <a:bodyPr wrap="none">
            <a:spAutoFit/>
          </a:bodyPr>
          <a:lstStyle/>
          <a:p>
            <a:pPr>
              <a:defRPr/>
            </a:pP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2</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、写出二进制的</a:t>
            </a: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IP</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地址</a:t>
            </a:r>
          </a:p>
        </p:txBody>
      </p:sp>
      <p:sp>
        <p:nvSpPr>
          <p:cNvPr id="7" name="TextBox 6"/>
          <p:cNvSpPr txBox="1"/>
          <p:nvPr/>
        </p:nvSpPr>
        <p:spPr>
          <a:xfrm>
            <a:off x="989013" y="2132013"/>
            <a:ext cx="5911850" cy="398780"/>
          </a:xfrm>
          <a:prstGeom prst="rect">
            <a:avLst/>
          </a:prstGeom>
          <a:noFill/>
        </p:spPr>
        <p:txBody>
          <a:bodyPr wrap="none">
            <a:spAutoFit/>
          </a:bodyPr>
          <a:lstStyle/>
          <a:p>
            <a:pPr>
              <a:defRPr/>
            </a:pP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3</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、标记子网部分：网络位和主机位之间是子网部分</a:t>
            </a:r>
          </a:p>
        </p:txBody>
      </p:sp>
      <p:sp>
        <p:nvSpPr>
          <p:cNvPr id="8" name="TextBox 7"/>
          <p:cNvSpPr txBox="1"/>
          <p:nvPr/>
        </p:nvSpPr>
        <p:spPr>
          <a:xfrm>
            <a:off x="985838" y="2132013"/>
            <a:ext cx="5544820" cy="398780"/>
          </a:xfrm>
          <a:prstGeom prst="rect">
            <a:avLst/>
          </a:prstGeom>
          <a:noFill/>
        </p:spPr>
        <p:txBody>
          <a:bodyPr wrap="none">
            <a:spAutoFit/>
          </a:bodyPr>
          <a:lstStyle/>
          <a:p>
            <a:pPr>
              <a:defRPr/>
            </a:pP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4</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、主机位全是</a:t>
            </a: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0</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的地址是其所属子网的子网地址</a:t>
            </a:r>
          </a:p>
        </p:txBody>
      </p:sp>
      <p:sp>
        <p:nvSpPr>
          <p:cNvPr id="9" name="TextBox 8"/>
          <p:cNvSpPr txBox="1"/>
          <p:nvPr/>
        </p:nvSpPr>
        <p:spPr>
          <a:xfrm>
            <a:off x="982663" y="2532063"/>
            <a:ext cx="5544820" cy="398780"/>
          </a:xfrm>
          <a:prstGeom prst="rect">
            <a:avLst/>
          </a:prstGeom>
          <a:noFill/>
        </p:spPr>
        <p:txBody>
          <a:bodyPr wrap="none">
            <a:spAutoFit/>
          </a:bodyPr>
          <a:lstStyle/>
          <a:p>
            <a:pPr>
              <a:defRPr/>
            </a:pP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5</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、主机位全是</a:t>
            </a: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1</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的地址是其所属子网的广播地址</a:t>
            </a:r>
          </a:p>
        </p:txBody>
      </p:sp>
      <p:sp>
        <p:nvSpPr>
          <p:cNvPr id="10" name="TextBox 9"/>
          <p:cNvSpPr txBox="1">
            <a:spLocks noChangeArrowheads="1"/>
          </p:cNvSpPr>
          <p:nvPr/>
        </p:nvSpPr>
        <p:spPr bwMode="auto">
          <a:xfrm>
            <a:off x="422275" y="3419475"/>
            <a:ext cx="7881620" cy="398780"/>
          </a:xfrm>
          <a:prstGeom prst="rect">
            <a:avLst/>
          </a:prstGeom>
          <a:noFill/>
          <a:ln w="9525">
            <a:noFill/>
            <a:miter lim="800000"/>
          </a:ln>
        </p:spPr>
        <p:txBody>
          <a:bodyPr wrap="none">
            <a:spAutoFit/>
          </a:bodyPr>
          <a:lstStyle/>
          <a:p>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子网掩码  </a:t>
            </a:r>
            <a:r>
              <a:rPr lang="en-US" altLang="zh-CN" sz="2000" b="1" dirty="0">
                <a:solidFill>
                  <a:srgbClr val="001E7F"/>
                </a:solidFill>
                <a:latin typeface="宋体" panose="02010600030101010101" pitchFamily="2" charset="-122"/>
                <a:ea typeface="宋体" panose="02010600030101010101" pitchFamily="2" charset="-122"/>
                <a:cs typeface="Arial" panose="020B0604020202020204" pitchFamily="34" charset="0"/>
              </a:rPr>
              <a:t>11111111.11111111.11111111.10000000=255.255.255.128</a:t>
            </a:r>
          </a:p>
        </p:txBody>
      </p:sp>
      <p:sp>
        <p:nvSpPr>
          <p:cNvPr id="11" name="TextBox 10"/>
          <p:cNvSpPr txBox="1">
            <a:spLocks noChangeArrowheads="1"/>
          </p:cNvSpPr>
          <p:nvPr/>
        </p:nvSpPr>
        <p:spPr bwMode="auto">
          <a:xfrm>
            <a:off x="422275" y="3721100"/>
            <a:ext cx="7639050" cy="398780"/>
          </a:xfrm>
          <a:prstGeom prst="rect">
            <a:avLst/>
          </a:prstGeom>
          <a:noFill/>
          <a:ln w="9525">
            <a:noFill/>
            <a:miter lim="800000"/>
          </a:ln>
        </p:spPr>
        <p:txBody>
          <a:bodyPr wrap="none">
            <a:spAutoFit/>
          </a:bodyPr>
          <a:lstStyle/>
          <a:p>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IP</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地址      </a:t>
            </a:r>
            <a:r>
              <a:rPr lang="en-US" altLang="zh-CN" sz="2000" b="1" dirty="0">
                <a:solidFill>
                  <a:srgbClr val="001E7F"/>
                </a:solidFill>
                <a:latin typeface="宋体" panose="02010600030101010101" pitchFamily="2" charset="-122"/>
                <a:ea typeface="宋体" panose="02010600030101010101" pitchFamily="2" charset="-122"/>
                <a:cs typeface="Arial" panose="020B0604020202020204" pitchFamily="34" charset="0"/>
              </a:rPr>
              <a:t>10011111.01000000.00011001.01100100=159.64.25.100</a:t>
            </a:r>
          </a:p>
        </p:txBody>
      </p:sp>
      <p:sp>
        <p:nvSpPr>
          <p:cNvPr id="12" name="TextBox 11"/>
          <p:cNvSpPr txBox="1">
            <a:spLocks noChangeArrowheads="1"/>
          </p:cNvSpPr>
          <p:nvPr/>
        </p:nvSpPr>
        <p:spPr bwMode="auto">
          <a:xfrm>
            <a:off x="422275" y="4160838"/>
            <a:ext cx="8689975" cy="1014730"/>
          </a:xfrm>
          <a:prstGeom prst="rect">
            <a:avLst/>
          </a:prstGeom>
          <a:noFill/>
          <a:ln w="9525">
            <a:noFill/>
            <a:miter lim="800000"/>
          </a:ln>
        </p:spPr>
        <p:txBody>
          <a:bodyPr>
            <a:spAutoFit/>
          </a:bodyPr>
          <a:lstStyle/>
          <a:p>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子网部分</a:t>
            </a: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  </a:t>
            </a:r>
            <a:r>
              <a:rPr lang="en-US" altLang="zh-CN" sz="2000" b="1" dirty="0">
                <a:solidFill>
                  <a:srgbClr val="001E7F"/>
                </a:solidFill>
                <a:latin typeface="宋体" panose="02010600030101010101" pitchFamily="2" charset="-122"/>
                <a:ea typeface="宋体" panose="02010600030101010101" pitchFamily="2" charset="-122"/>
                <a:cs typeface="Arial Unicode MS" panose="020B0604020202020204" charset="-122"/>
              </a:rPr>
              <a:t>11111111.11111111.11111111.10000000=255.255.255.128</a:t>
            </a:r>
          </a:p>
          <a:p>
            <a:pPr marL="457200" lvl="1" indent="457200"/>
            <a:r>
              <a:rPr lang="en-US" altLang="zh-CN" sz="2000" b="1" dirty="0">
                <a:solidFill>
                  <a:srgbClr val="001E7F"/>
                </a:solidFill>
                <a:latin typeface="宋体" panose="02010600030101010101" pitchFamily="2" charset="-122"/>
                <a:ea typeface="宋体" panose="02010600030101010101" pitchFamily="2" charset="-122"/>
                <a:cs typeface="Arial Unicode MS" panose="020B0604020202020204" charset="-122"/>
              </a:rPr>
              <a:t>  10011111.01000000.00011001.01100100=159.64.25.100</a:t>
            </a:r>
          </a:p>
          <a:p>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                                                    子网部分</a:t>
            </a:r>
          </a:p>
        </p:txBody>
      </p:sp>
      <p:sp>
        <p:nvSpPr>
          <p:cNvPr id="13" name="TextBox 12"/>
          <p:cNvSpPr txBox="1">
            <a:spLocks noChangeArrowheads="1"/>
          </p:cNvSpPr>
          <p:nvPr/>
        </p:nvSpPr>
        <p:spPr bwMode="auto">
          <a:xfrm>
            <a:off x="433388" y="4999038"/>
            <a:ext cx="7368540" cy="398780"/>
          </a:xfrm>
          <a:prstGeom prst="rect">
            <a:avLst/>
          </a:prstGeom>
          <a:noFill/>
          <a:ln w="9525">
            <a:noFill/>
            <a:miter lim="800000"/>
          </a:ln>
        </p:spPr>
        <p:txBody>
          <a:bodyPr wrap="none">
            <a:spAutoFit/>
          </a:bodyPr>
          <a:lstStyle/>
          <a:p>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子网地址  </a:t>
            </a:r>
            <a:r>
              <a:rPr lang="en-US" altLang="zh-CN" sz="2000" b="1" dirty="0">
                <a:solidFill>
                  <a:srgbClr val="001E7F"/>
                </a:solidFill>
                <a:latin typeface="宋体" panose="02010600030101010101" pitchFamily="2" charset="-122"/>
                <a:ea typeface="宋体" panose="02010600030101010101" pitchFamily="2" charset="-122"/>
                <a:cs typeface="Arial" panose="020B0604020202020204" pitchFamily="34" charset="0"/>
              </a:rPr>
              <a:t>10011111.01000000.00011001.00000000=159.64.25.0</a:t>
            </a:r>
          </a:p>
        </p:txBody>
      </p:sp>
      <p:sp>
        <p:nvSpPr>
          <p:cNvPr id="14" name="TextBox 13"/>
          <p:cNvSpPr txBox="1">
            <a:spLocks noChangeArrowheads="1"/>
          </p:cNvSpPr>
          <p:nvPr/>
        </p:nvSpPr>
        <p:spPr bwMode="auto">
          <a:xfrm>
            <a:off x="433388" y="5280025"/>
            <a:ext cx="7625080" cy="398780"/>
          </a:xfrm>
          <a:prstGeom prst="rect">
            <a:avLst/>
          </a:prstGeom>
          <a:noFill/>
          <a:ln w="9525">
            <a:noFill/>
            <a:miter lim="800000"/>
          </a:ln>
        </p:spPr>
        <p:txBody>
          <a:bodyPr wrap="none">
            <a:spAutoFit/>
          </a:bodyPr>
          <a:lstStyle/>
          <a:p>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广播地址  </a:t>
            </a:r>
            <a:r>
              <a:rPr lang="en-US" altLang="zh-CN" sz="2000" b="1" dirty="0">
                <a:solidFill>
                  <a:srgbClr val="001E7F"/>
                </a:solidFill>
                <a:latin typeface="宋体" panose="02010600030101010101" pitchFamily="2" charset="-122"/>
                <a:ea typeface="宋体" panose="02010600030101010101" pitchFamily="2" charset="-122"/>
                <a:cs typeface="Arial" panose="020B0604020202020204" pitchFamily="34" charset="0"/>
              </a:rPr>
              <a:t>10011111.01000000.00011001.01111111=159.64.25.127</a:t>
            </a:r>
          </a:p>
        </p:txBody>
      </p:sp>
      <p:cxnSp>
        <p:nvCxnSpPr>
          <p:cNvPr id="15" name="直接连接符 14"/>
          <p:cNvCxnSpPr>
            <a:cxnSpLocks noChangeShapeType="1"/>
          </p:cNvCxnSpPr>
          <p:nvPr/>
        </p:nvCxnSpPr>
        <p:spPr bwMode="auto">
          <a:xfrm rot="5400000">
            <a:off x="3607270" y="4621213"/>
            <a:ext cx="785813" cy="1588"/>
          </a:xfrm>
          <a:prstGeom prst="line">
            <a:avLst/>
          </a:prstGeom>
          <a:noFill/>
          <a:ln w="19050" algn="ctr">
            <a:solidFill>
              <a:srgbClr val="FF3300"/>
            </a:solidFill>
            <a:round/>
          </a:ln>
        </p:spPr>
      </p:cxnSp>
      <p:cxnSp>
        <p:nvCxnSpPr>
          <p:cNvPr id="16" name="直接连接符 15"/>
          <p:cNvCxnSpPr>
            <a:cxnSpLocks noChangeShapeType="1"/>
          </p:cNvCxnSpPr>
          <p:nvPr/>
        </p:nvCxnSpPr>
        <p:spPr bwMode="auto">
          <a:xfrm rot="5400000">
            <a:off x="4887266" y="4640263"/>
            <a:ext cx="785813" cy="1587"/>
          </a:xfrm>
          <a:prstGeom prst="line">
            <a:avLst/>
          </a:prstGeom>
          <a:noFill/>
          <a:ln w="19050" algn="ctr">
            <a:solidFill>
              <a:srgbClr val="FF3300"/>
            </a:solidFill>
            <a:round/>
          </a:ln>
        </p:spPr>
      </p:cxnSp>
      <p:cxnSp>
        <p:nvCxnSpPr>
          <p:cNvPr id="17" name="直接连接符 16"/>
          <p:cNvCxnSpPr>
            <a:cxnSpLocks noChangeShapeType="1"/>
          </p:cNvCxnSpPr>
          <p:nvPr/>
        </p:nvCxnSpPr>
        <p:spPr bwMode="auto">
          <a:xfrm rot="5400000">
            <a:off x="3749802" y="5329238"/>
            <a:ext cx="512763" cy="7938"/>
          </a:xfrm>
          <a:prstGeom prst="line">
            <a:avLst/>
          </a:prstGeom>
          <a:noFill/>
          <a:ln w="19050" algn="ctr">
            <a:solidFill>
              <a:srgbClr val="FF3300"/>
            </a:solidFill>
            <a:round/>
          </a:ln>
        </p:spPr>
      </p:cxnSp>
      <p:cxnSp>
        <p:nvCxnSpPr>
          <p:cNvPr id="18" name="直接连接符 17"/>
          <p:cNvCxnSpPr>
            <a:cxnSpLocks noChangeShapeType="1"/>
          </p:cNvCxnSpPr>
          <p:nvPr/>
        </p:nvCxnSpPr>
        <p:spPr bwMode="auto">
          <a:xfrm rot="5400000">
            <a:off x="5029348" y="5349081"/>
            <a:ext cx="512762" cy="9525"/>
          </a:xfrm>
          <a:prstGeom prst="line">
            <a:avLst/>
          </a:prstGeom>
          <a:noFill/>
          <a:ln w="19050" algn="ctr">
            <a:solidFill>
              <a:srgbClr val="FF3300"/>
            </a:solidFill>
            <a:round/>
          </a:ln>
        </p:spPr>
      </p:cxnSp>
      <p:sp>
        <p:nvSpPr>
          <p:cNvPr id="3" name="灯片编号占位符 2"/>
          <p:cNvSpPr>
            <a:spLocks noGrp="1"/>
          </p:cNvSpPr>
          <p:nvPr>
            <p:ph type="sldNum" sz="quarter" idx="12"/>
          </p:nvPr>
        </p:nvSpPr>
        <p:spPr/>
        <p:txBody>
          <a:bodyPr/>
          <a:lstStyle/>
          <a:p>
            <a:fld id="{0C913308-F349-4B6D-A68A-DD1791B4A57B}" type="slidenum">
              <a:rPr lang="zh-CN" altLang="en-US" smtClean="0"/>
              <a:t>24</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linds(horizontal)">
                                      <p:cBhvr>
                                        <p:cTn id="13" dur="500"/>
                                        <p:tgtEl>
                                          <p:spTgt spid="1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linds(horizontal)">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xit" presetSubtype="0" fill="hold" grpId="1" nodeType="clickEffect">
                                  <p:stCondLst>
                                    <p:cond delay="0"/>
                                  </p:stCondLst>
                                  <p:childTnLst>
                                    <p:animEffect transition="out" filter="fade">
                                      <p:cBhvr>
                                        <p:cTn id="20" dur="500"/>
                                        <p:tgtEl>
                                          <p:spTgt spid="5"/>
                                        </p:tgtEl>
                                      </p:cBhvr>
                                    </p:animEffect>
                                    <p:set>
                                      <p:cBhvr>
                                        <p:cTn id="21" dur="1" fill="hold">
                                          <p:stCondLst>
                                            <p:cond delay="499"/>
                                          </p:stCondLst>
                                        </p:cTn>
                                        <p:tgtEl>
                                          <p:spTgt spid="5"/>
                                        </p:tgtEl>
                                        <p:attrNameLst>
                                          <p:attrName>style.visibility</p:attrName>
                                        </p:attrNameLst>
                                      </p:cBhvr>
                                      <p:to>
                                        <p:strVal val="hidden"/>
                                      </p:to>
                                    </p:set>
                                  </p:childTnLst>
                                </p:cTn>
                              </p:par>
                              <p:par>
                                <p:cTn id="22" presetID="10" presetClass="exit" presetSubtype="0" fill="hold" grpId="1" nodeType="withEffect">
                                  <p:stCondLst>
                                    <p:cond delay="0"/>
                                  </p:stCondLst>
                                  <p:childTnLst>
                                    <p:animEffect transition="out" filter="fade">
                                      <p:cBhvr>
                                        <p:cTn id="23" dur="500"/>
                                        <p:tgtEl>
                                          <p:spTgt spid="6"/>
                                        </p:tgtEl>
                                      </p:cBhvr>
                                    </p:animEffect>
                                    <p:set>
                                      <p:cBhvr>
                                        <p:cTn id="24" dur="1" fill="hold">
                                          <p:stCondLst>
                                            <p:cond delay="499"/>
                                          </p:stCondLst>
                                        </p:cTn>
                                        <p:tgtEl>
                                          <p:spTgt spid="6"/>
                                        </p:tgtEl>
                                        <p:attrNameLst>
                                          <p:attrName>style.visibility</p:attrName>
                                        </p:attrNameLst>
                                      </p:cBhvr>
                                      <p:to>
                                        <p:strVal val="hidden"/>
                                      </p:to>
                                    </p:set>
                                  </p:childTnLst>
                                </p:cTn>
                              </p:par>
                            </p:childTnLst>
                          </p:cTn>
                        </p:par>
                        <p:par>
                          <p:cTn id="25" fill="hold">
                            <p:stCondLst>
                              <p:cond delay="500"/>
                            </p:stCondLst>
                            <p:childTnLst>
                              <p:par>
                                <p:cTn id="26" presetID="3" presetClass="entr" presetSubtype="10" fill="hold" grpId="0" nodeType="after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linds(horizontal)">
                                      <p:cBhvr>
                                        <p:cTn id="28" dur="500"/>
                                        <p:tgtEl>
                                          <p:spTgt spid="7"/>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par>
                                <p:cTn id="32" presetID="3" presetClass="entr" presetSubtype="10"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blinds(horizontal)">
                                      <p:cBhvr>
                                        <p:cTn id="34" dur="500"/>
                                        <p:tgtEl>
                                          <p:spTgt spid="15"/>
                                        </p:tgtEl>
                                      </p:cBhvr>
                                    </p:animEffect>
                                  </p:childTnLst>
                                </p:cTn>
                              </p:par>
                              <p:par>
                                <p:cTn id="35" presetID="3" presetClass="entr" presetSubtype="1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blinds(horizontal)">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grpId="1" nodeType="clickEffect">
                                  <p:stCondLst>
                                    <p:cond delay="0"/>
                                  </p:stCondLst>
                                  <p:childTnLst>
                                    <p:animEffect transition="out" filter="fade">
                                      <p:cBhvr>
                                        <p:cTn id="41" dur="500"/>
                                        <p:tgtEl>
                                          <p:spTgt spid="7"/>
                                        </p:tgtEl>
                                      </p:cBhvr>
                                    </p:animEffect>
                                    <p:set>
                                      <p:cBhvr>
                                        <p:cTn id="42" dur="1" fill="hold">
                                          <p:stCondLst>
                                            <p:cond delay="499"/>
                                          </p:stCondLst>
                                        </p:cTn>
                                        <p:tgtEl>
                                          <p:spTgt spid="7"/>
                                        </p:tgtEl>
                                        <p:attrNameLst>
                                          <p:attrName>style.visibility</p:attrName>
                                        </p:attrNameLst>
                                      </p:cBhvr>
                                      <p:to>
                                        <p:strVal val="hidden"/>
                                      </p:to>
                                    </p:set>
                                  </p:childTnLst>
                                </p:cTn>
                              </p:par>
                            </p:childTnLst>
                          </p:cTn>
                        </p:par>
                        <p:par>
                          <p:cTn id="43" fill="hold">
                            <p:stCondLst>
                              <p:cond delay="500"/>
                            </p:stCondLst>
                            <p:childTnLst>
                              <p:par>
                                <p:cTn id="44" presetID="3" presetClass="entr" presetSubtype="10" fill="hold" grpId="0" nodeType="afterEffect">
                                  <p:stCondLst>
                                    <p:cond delay="0"/>
                                  </p:stCondLst>
                                  <p:childTnLst>
                                    <p:set>
                                      <p:cBhvr>
                                        <p:cTn id="45" dur="1" fill="hold">
                                          <p:stCondLst>
                                            <p:cond delay="0"/>
                                          </p:stCondLst>
                                        </p:cTn>
                                        <p:tgtEl>
                                          <p:spTgt spid="8"/>
                                        </p:tgtEl>
                                        <p:attrNameLst>
                                          <p:attrName>style.visibility</p:attrName>
                                        </p:attrNameLst>
                                      </p:cBhvr>
                                      <p:to>
                                        <p:strVal val="visible"/>
                                      </p:to>
                                    </p:set>
                                    <p:animEffect transition="in" filter="blinds(horizontal)">
                                      <p:cBhvr>
                                        <p:cTn id="46" dur="500"/>
                                        <p:tgtEl>
                                          <p:spTgt spid="8"/>
                                        </p:tgtEl>
                                      </p:cBhvr>
                                    </p:animEffect>
                                  </p:childTnLst>
                                </p:cTn>
                              </p:par>
                            </p:childTnLst>
                          </p:cTn>
                        </p:par>
                        <p:par>
                          <p:cTn id="47" fill="hold">
                            <p:stCondLst>
                              <p:cond delay="1000"/>
                            </p:stCondLst>
                            <p:childTnLst>
                              <p:par>
                                <p:cTn id="48" presetID="3" presetClass="entr" presetSubtype="10"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blinds(horizontal)">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blinds(horizontal)">
                                      <p:cBhvr>
                                        <p:cTn id="55" dur="500"/>
                                        <p:tgtEl>
                                          <p:spTgt spid="13"/>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blinds(horizontal)">
                                      <p:cBhvr>
                                        <p:cTn id="58" dur="500"/>
                                        <p:tgtEl>
                                          <p:spTgt spid="14"/>
                                        </p:tgtEl>
                                      </p:cBhvr>
                                    </p:animEffect>
                                  </p:childTnLst>
                                </p:cTn>
                              </p:par>
                              <p:par>
                                <p:cTn id="59" presetID="3" presetClass="entr" presetSubtype="10" fill="hold" nodeType="with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blinds(horizontal)">
                                      <p:cBhvr>
                                        <p:cTn id="61" dur="500"/>
                                        <p:tgtEl>
                                          <p:spTgt spid="17"/>
                                        </p:tgtEl>
                                      </p:cBhvr>
                                    </p:animEffect>
                                  </p:childTnLst>
                                </p:cTn>
                              </p:par>
                              <p:par>
                                <p:cTn id="62" presetID="3" presetClass="entr" presetSubtype="10" fill="hold"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blinds(horizontal)">
                                      <p:cBhvr>
                                        <p:cTn id="6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P spid="7" grpId="0"/>
      <p:bldP spid="7" grpId="1"/>
      <p:bldP spid="8" grpId="0"/>
      <p:bldP spid="9" grpId="0"/>
      <p:bldP spid="10" grpId="0"/>
      <p:bldP spid="11" grpId="0"/>
      <p:bldP spid="12" grpId="0"/>
      <p:bldP spid="13" grpId="0"/>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2"/>
          <p:cNvSpPr>
            <a:spLocks noGrp="1"/>
          </p:cNvSpPr>
          <p:nvPr>
            <p:ph type="title"/>
          </p:nvPr>
        </p:nvSpPr>
        <p:spPr/>
        <p:txBody>
          <a:bodyPr/>
          <a:lstStyle/>
          <a:p>
            <a:r>
              <a:rPr lang="zh-CN" altLang="en-US"/>
              <a:t>子网划分的应用</a:t>
            </a:r>
          </a:p>
        </p:txBody>
      </p:sp>
      <p:sp>
        <p:nvSpPr>
          <p:cNvPr id="31747" name="内容占位符 4"/>
          <p:cNvSpPr>
            <a:spLocks noGrp="1"/>
          </p:cNvSpPr>
          <p:nvPr>
            <p:ph idx="1"/>
          </p:nvPr>
        </p:nvSpPr>
        <p:spPr/>
        <p:txBody>
          <a:bodyPr/>
          <a:lstStyle/>
          <a:p>
            <a:r>
              <a:rPr lang="zh-CN" altLang="en-US"/>
              <a:t>课堂练习</a:t>
            </a:r>
            <a:endParaRPr lang="en-US" altLang="zh-CN"/>
          </a:p>
          <a:p>
            <a:endParaRPr lang="en-US" altLang="zh-CN"/>
          </a:p>
          <a:p>
            <a:endParaRPr lang="en-US" altLang="zh-CN"/>
          </a:p>
          <a:p>
            <a:endParaRPr lang="en-US" altLang="zh-CN"/>
          </a:p>
          <a:p>
            <a:endParaRPr lang="en-US" altLang="zh-CN"/>
          </a:p>
          <a:p>
            <a:pPr lvl="1"/>
            <a:r>
              <a:rPr lang="zh-CN" altLang="en-US"/>
              <a:t>判断下列地址中哪些可以分配给主机使用</a:t>
            </a:r>
          </a:p>
        </p:txBody>
      </p:sp>
      <p:graphicFrame>
        <p:nvGraphicFramePr>
          <p:cNvPr id="8" name="表格 7"/>
          <p:cNvGraphicFramePr/>
          <p:nvPr>
            <p:custDataLst>
              <p:tags r:id="rId1"/>
            </p:custDataLst>
          </p:nvPr>
        </p:nvGraphicFramePr>
        <p:xfrm>
          <a:off x="2210562" y="1033272"/>
          <a:ext cx="6720870" cy="1805216"/>
        </p:xfrm>
        <a:graphic>
          <a:graphicData uri="http://schemas.openxmlformats.org/drawingml/2006/table">
            <a:tbl>
              <a:tblPr>
                <a:tableStyleId>{5940675A-B579-460E-94D1-54222C63F5DA}</a:tableStyleId>
              </a:tblPr>
              <a:tblGrid>
                <a:gridCol w="1881505">
                  <a:extLst>
                    <a:ext uri="{9D8B030D-6E8A-4147-A177-3AD203B41FA5}">
                      <a16:colId xmlns:a16="http://schemas.microsoft.com/office/drawing/2014/main" val="20000"/>
                    </a:ext>
                  </a:extLst>
                </a:gridCol>
                <a:gridCol w="1972310">
                  <a:extLst>
                    <a:ext uri="{9D8B030D-6E8A-4147-A177-3AD203B41FA5}">
                      <a16:colId xmlns:a16="http://schemas.microsoft.com/office/drawing/2014/main" val="20001"/>
                    </a:ext>
                  </a:extLst>
                </a:gridCol>
                <a:gridCol w="1120954">
                  <a:extLst>
                    <a:ext uri="{9D8B030D-6E8A-4147-A177-3AD203B41FA5}">
                      <a16:colId xmlns:a16="http://schemas.microsoft.com/office/drawing/2014/main" val="20002"/>
                    </a:ext>
                  </a:extLst>
                </a:gridCol>
                <a:gridCol w="1746101">
                  <a:extLst>
                    <a:ext uri="{9D8B030D-6E8A-4147-A177-3AD203B41FA5}">
                      <a16:colId xmlns:a16="http://schemas.microsoft.com/office/drawing/2014/main" val="20003"/>
                    </a:ext>
                  </a:extLst>
                </a:gridCol>
              </a:tblGrid>
              <a:tr h="269103">
                <a:tc>
                  <a:txBody>
                    <a:bodyPr/>
                    <a:lstStyle/>
                    <a:p>
                      <a:pPr marL="0" lvl="0" indent="0" algn="ctr" defTabSz="685800" rtl="0" eaLnBrk="1" fontAlgn="base" latinLnBrk="0" hangingPunct="1">
                        <a:lnSpc>
                          <a:spcPct val="100000"/>
                        </a:lnSpc>
                        <a:spcBef>
                          <a:spcPct val="0"/>
                        </a:spcBef>
                        <a:spcAft>
                          <a:spcPct val="0"/>
                        </a:spcAft>
                        <a:buNone/>
                      </a:pPr>
                      <a:r>
                        <a:rPr lang="en-US"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IP</a:t>
                      </a:r>
                      <a:r>
                        <a:rPr lang="zh-CN"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地址</a:t>
                      </a:r>
                    </a:p>
                  </a:txBody>
                  <a:tcPr marL="31834" marR="31834" marT="0" marB="0" anchor="b">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掩码（点分十制）</a:t>
                      </a:r>
                    </a:p>
                  </a:txBody>
                  <a:tcPr marL="31834" marR="31834" marT="0" marB="0" anchor="b">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子网地址</a:t>
                      </a:r>
                    </a:p>
                  </a:txBody>
                  <a:tcPr marL="31834" marR="31834" marT="0" marB="0" anchor="b">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广播地址</a:t>
                      </a:r>
                    </a:p>
                  </a:txBody>
                  <a:tcPr marL="31834" marR="31834" marT="0" marB="0" anchor="b">
                    <a:solidFill>
                      <a:srgbClr val="0034DC"/>
                    </a:solidFill>
                  </a:tcPr>
                </a:tc>
                <a:extLst>
                  <a:ext uri="{0D108BD9-81ED-4DB2-BD59-A6C34878D82A}">
                    <a16:rowId xmlns:a16="http://schemas.microsoft.com/office/drawing/2014/main" val="10000"/>
                  </a:ext>
                </a:extLst>
              </a:tr>
              <a:tr h="382724">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61.59.64.20/14</a:t>
                      </a: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extLst>
                  <a:ext uri="{0D108BD9-81ED-4DB2-BD59-A6C34878D82A}">
                    <a16:rowId xmlns:a16="http://schemas.microsoft.com/office/drawing/2014/main" val="10001"/>
                  </a:ext>
                </a:extLst>
              </a:tr>
              <a:tr h="382724">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124.122.60.50/18</a:t>
                      </a: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extLst>
                  <a:ext uri="{0D108BD9-81ED-4DB2-BD59-A6C34878D82A}">
                    <a16:rowId xmlns:a16="http://schemas.microsoft.com/office/drawing/2014/main" val="10002"/>
                  </a:ext>
                </a:extLst>
              </a:tr>
              <a:tr h="382724">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172.16.41.225/21</a:t>
                      </a: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extLst>
                  <a:ext uri="{0D108BD9-81ED-4DB2-BD59-A6C34878D82A}">
                    <a16:rowId xmlns:a16="http://schemas.microsoft.com/office/drawing/2014/main" val="10003"/>
                  </a:ext>
                </a:extLst>
              </a:tr>
              <a:tr h="382724">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192.168.100.5/23</a:t>
                      </a: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tc>
                  <a:txBody>
                    <a:bodyPr/>
                    <a:lstStyle/>
                    <a:p>
                      <a:pPr marL="0" lvl="0" indent="0" algn="l" defTabSz="685800" rtl="0" eaLnBrk="1" fontAlgn="base" latinLnBrk="0" hangingPunct="1">
                        <a:lnSpc>
                          <a:spcPct val="160000"/>
                        </a:lnSpc>
                        <a:spcBef>
                          <a:spcPct val="0"/>
                        </a:spcBef>
                        <a:spcAft>
                          <a:spcPct val="0"/>
                        </a:spcAft>
                        <a:buFont typeface="+mj-lt"/>
                        <a:buNone/>
                      </a:pPr>
                      <a:endParaRPr lang="en-US" sz="1600" u="none" kern="1200" baseline="0" dirty="0">
                        <a:latin typeface="微软雅黑" panose="020B0503020204020204" pitchFamily="34" charset="-122"/>
                        <a:ea typeface="微软雅黑" panose="020B0503020204020204" pitchFamily="34" charset="-122"/>
                      </a:endParaRPr>
                    </a:p>
                  </a:txBody>
                  <a:tcPr marL="31834" marR="31834" marT="0" marB="0" anchor="b"/>
                </a:tc>
                <a:extLst>
                  <a:ext uri="{0D108BD9-81ED-4DB2-BD59-A6C34878D82A}">
                    <a16:rowId xmlns:a16="http://schemas.microsoft.com/office/drawing/2014/main" val="10004"/>
                  </a:ext>
                </a:extLst>
              </a:tr>
            </a:tbl>
          </a:graphicData>
        </a:graphic>
      </p:graphicFrame>
      <p:graphicFrame>
        <p:nvGraphicFramePr>
          <p:cNvPr id="9" name="表格 8"/>
          <p:cNvGraphicFramePr/>
          <p:nvPr>
            <p:custDataLst>
              <p:tags r:id="rId2"/>
            </p:custDataLst>
          </p:nvPr>
        </p:nvGraphicFramePr>
        <p:xfrm>
          <a:off x="579120" y="3441192"/>
          <a:ext cx="8061960" cy="1160335"/>
        </p:xfrm>
        <a:graphic>
          <a:graphicData uri="http://schemas.openxmlformats.org/drawingml/2006/table">
            <a:tbl>
              <a:tblPr>
                <a:tableStyleId>{5940675A-B579-460E-94D1-54222C63F5DA}</a:tableStyleId>
              </a:tblPr>
              <a:tblGrid>
                <a:gridCol w="26822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2773680">
                  <a:extLst>
                    <a:ext uri="{9D8B030D-6E8A-4147-A177-3AD203B41FA5}">
                      <a16:colId xmlns:a16="http://schemas.microsoft.com/office/drawing/2014/main" val="20002"/>
                    </a:ext>
                  </a:extLst>
                </a:gridCol>
              </a:tblGrid>
              <a:tr h="411162">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10.0.20.56/29</a:t>
                      </a:r>
                    </a:p>
                  </a:txBody>
                  <a:tcPr marL="68388" marR="68388" marT="0" marB="0"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10.16.100.20/14</a:t>
                      </a:r>
                    </a:p>
                  </a:txBody>
                  <a:tcPr marL="68388" marR="68388" marT="0" marB="0"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10.31.255.255/12</a:t>
                      </a:r>
                    </a:p>
                  </a:txBody>
                  <a:tcPr marL="68388" marR="68388" marT="0" marB="0" anchor="ctr"/>
                </a:tc>
                <a:extLst>
                  <a:ext uri="{0D108BD9-81ED-4DB2-BD59-A6C34878D82A}">
                    <a16:rowId xmlns:a16="http://schemas.microsoft.com/office/drawing/2014/main" val="10000"/>
                  </a:ext>
                </a:extLst>
              </a:tr>
              <a:tr h="383413">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172.18.31.255/16</a:t>
                      </a:r>
                    </a:p>
                  </a:txBody>
                  <a:tcPr marL="68388" marR="68388" marT="0" marB="0"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172.224.192.255/20</a:t>
                      </a:r>
                    </a:p>
                  </a:txBody>
                  <a:tcPr marL="68388" marR="68388" marT="0" marB="0"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172.250.32.158/23</a:t>
                      </a:r>
                    </a:p>
                  </a:txBody>
                  <a:tcPr marL="68388" marR="68388" marT="0" marB="0" anchor="ctr"/>
                </a:tc>
                <a:extLst>
                  <a:ext uri="{0D108BD9-81ED-4DB2-BD59-A6C34878D82A}">
                    <a16:rowId xmlns:a16="http://schemas.microsoft.com/office/drawing/2014/main" val="10001"/>
                  </a:ext>
                </a:extLst>
              </a:tr>
              <a:tr h="365760">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192.168.100.72/30</a:t>
                      </a:r>
                    </a:p>
                  </a:txBody>
                  <a:tcPr marL="68388" marR="68388" marT="0" marB="0"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192.168.15.255/28</a:t>
                      </a:r>
                    </a:p>
                  </a:txBody>
                  <a:tcPr marL="68388" marR="68388" marT="0" marB="0"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192.168.50.1/30</a:t>
                      </a:r>
                    </a:p>
                  </a:txBody>
                  <a:tcPr marL="68388" marR="68388" marT="0" marB="0" anchor="ctr"/>
                </a:tc>
                <a:extLst>
                  <a:ext uri="{0D108BD9-81ED-4DB2-BD59-A6C34878D82A}">
                    <a16:rowId xmlns:a16="http://schemas.microsoft.com/office/drawing/2014/main" val="10002"/>
                  </a:ext>
                </a:extLst>
              </a:tr>
            </a:tbl>
          </a:graphicData>
        </a:graphic>
      </p:graphicFrame>
      <p:sp>
        <p:nvSpPr>
          <p:cNvPr id="2" name="灯片编号占位符 1"/>
          <p:cNvSpPr>
            <a:spLocks noGrp="1"/>
          </p:cNvSpPr>
          <p:nvPr>
            <p:ph type="sldNum" sz="quarter" idx="12"/>
          </p:nvPr>
        </p:nvSpPr>
        <p:spPr/>
        <p:txBody>
          <a:bodyPr/>
          <a:lstStyle/>
          <a:p>
            <a:fld id="{0C913308-F349-4B6D-A68A-DD1791B4A57B}" type="slidenum">
              <a:rPr lang="zh-CN" altLang="en-US" smtClean="0"/>
              <a:t>25</a:t>
            </a:fld>
            <a:r>
              <a:rPr lang="en-US" altLang="zh-CN" dirty="0"/>
              <a:t>/45</a:t>
            </a:r>
            <a:endParaRPr lang="zh-CN" altLang="en-US" dirty="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标题 2"/>
          <p:cNvSpPr>
            <a:spLocks noGrp="1"/>
          </p:cNvSpPr>
          <p:nvPr>
            <p:ph type="title"/>
          </p:nvPr>
        </p:nvSpPr>
        <p:spPr/>
        <p:txBody>
          <a:bodyPr/>
          <a:lstStyle/>
          <a:p>
            <a:r>
              <a:rPr lang="zh-CN" altLang="en-US">
                <a:sym typeface="+mn-ea"/>
              </a:rPr>
              <a:t>子网划分的应用</a:t>
            </a:r>
            <a:endParaRPr lang="en-US" altLang="zh-CN"/>
          </a:p>
        </p:txBody>
      </p:sp>
      <p:sp>
        <p:nvSpPr>
          <p:cNvPr id="32770" name="内容占位符 1"/>
          <p:cNvSpPr>
            <a:spLocks noGrp="1"/>
          </p:cNvSpPr>
          <p:nvPr>
            <p:ph idx="1"/>
          </p:nvPr>
        </p:nvSpPr>
        <p:spPr/>
        <p:txBody>
          <a:bodyPr/>
          <a:lstStyle/>
          <a:p>
            <a:r>
              <a:rPr lang="zh-CN" altLang="en-US">
                <a:sym typeface="+mn-ea"/>
              </a:rPr>
              <a:t>子网划分实例</a:t>
            </a:r>
            <a:r>
              <a:rPr lang="en-US" altLang="zh-CN">
                <a:sym typeface="+mn-ea"/>
              </a:rPr>
              <a:t>4-1</a:t>
            </a:r>
            <a:endParaRPr lang="zh-CN" altLang="en-US"/>
          </a:p>
          <a:p>
            <a:pPr lvl="1"/>
            <a:r>
              <a:rPr lang="zh-CN" altLang="en-US"/>
              <a:t>需求描述</a:t>
            </a:r>
          </a:p>
          <a:p>
            <a:pPr lvl="2"/>
            <a:r>
              <a:rPr lang="zh-CN" altLang="en-US"/>
              <a:t>用</a:t>
            </a:r>
            <a:r>
              <a:rPr lang="en-US" altLang="zh-CN"/>
              <a:t>10.10.10.0/24</a:t>
            </a:r>
            <a:r>
              <a:rPr lang="zh-CN" altLang="en-US"/>
              <a:t>网段实现对公司</a:t>
            </a:r>
            <a:r>
              <a:rPr lang="en-US" altLang="zh-CN"/>
              <a:t>5</a:t>
            </a:r>
            <a:r>
              <a:rPr lang="zh-CN" altLang="en-US"/>
              <a:t>个部门以及服务器组的</a:t>
            </a:r>
            <a:r>
              <a:rPr lang="en-US" altLang="zh-CN"/>
              <a:t>IP</a:t>
            </a:r>
            <a:r>
              <a:rPr lang="zh-CN" altLang="en-US"/>
              <a:t>地址分配（包括管理地址及互联地址）</a:t>
            </a:r>
          </a:p>
        </p:txBody>
      </p:sp>
      <p:pic>
        <p:nvPicPr>
          <p:cNvPr id="2" name="图片 -2147482596" descr="图4.13 公司网络拓扑图"/>
          <p:cNvPicPr>
            <a:picLocks noChangeAspect="1"/>
          </p:cNvPicPr>
          <p:nvPr/>
        </p:nvPicPr>
        <p:blipFill>
          <a:blip r:embed="rId2"/>
          <a:stretch>
            <a:fillRect/>
          </a:stretch>
        </p:blipFill>
        <p:spPr>
          <a:xfrm>
            <a:off x="1846580" y="2637155"/>
            <a:ext cx="5597525" cy="3510280"/>
          </a:xfrm>
          <a:prstGeom prst="rect">
            <a:avLst/>
          </a:prstGeom>
          <a:noFill/>
          <a:ln w="9525">
            <a:noFill/>
          </a:ln>
        </p:spPr>
      </p:pic>
      <p:sp>
        <p:nvSpPr>
          <p:cNvPr id="3" name="灯片编号占位符 2"/>
          <p:cNvSpPr>
            <a:spLocks noGrp="1"/>
          </p:cNvSpPr>
          <p:nvPr>
            <p:ph type="sldNum" sz="quarter" idx="12"/>
          </p:nvPr>
        </p:nvSpPr>
        <p:spPr/>
        <p:txBody>
          <a:bodyPr/>
          <a:lstStyle/>
          <a:p>
            <a:fld id="{0C913308-F349-4B6D-A68A-DD1791B4A57B}" type="slidenum">
              <a:rPr lang="zh-CN" altLang="en-US" smtClean="0"/>
              <a:t>26</a:t>
            </a:fld>
            <a:r>
              <a:rPr lang="en-US" altLang="zh-CN" dirty="0"/>
              <a:t>/45</a:t>
            </a:r>
            <a:endParaRPr lang="zh-CN" altLang="en-US" dirty="0"/>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标题 2"/>
          <p:cNvSpPr>
            <a:spLocks noGrp="1"/>
          </p:cNvSpPr>
          <p:nvPr>
            <p:ph type="title"/>
          </p:nvPr>
        </p:nvSpPr>
        <p:spPr/>
        <p:txBody>
          <a:bodyPr/>
          <a:lstStyle/>
          <a:p>
            <a:r>
              <a:rPr lang="zh-CN" altLang="en-US">
                <a:sym typeface="+mn-ea"/>
              </a:rPr>
              <a:t>子网划分的应用</a:t>
            </a:r>
            <a:endParaRPr lang="en-US" altLang="zh-CN"/>
          </a:p>
        </p:txBody>
      </p:sp>
      <p:sp>
        <p:nvSpPr>
          <p:cNvPr id="33794" name="内容占位符 1"/>
          <p:cNvSpPr>
            <a:spLocks noGrp="1"/>
          </p:cNvSpPr>
          <p:nvPr>
            <p:ph idx="1"/>
          </p:nvPr>
        </p:nvSpPr>
        <p:spPr/>
        <p:txBody>
          <a:bodyPr/>
          <a:lstStyle/>
          <a:p>
            <a:r>
              <a:rPr lang="zh-CN" altLang="en-US">
                <a:sym typeface="+mn-ea"/>
              </a:rPr>
              <a:t>子网划分实例</a:t>
            </a:r>
            <a:r>
              <a:rPr lang="en-US" altLang="zh-CN">
                <a:sym typeface="+mn-ea"/>
              </a:rPr>
              <a:t>4-2</a:t>
            </a:r>
            <a:endParaRPr lang="zh-CN" altLang="en-US"/>
          </a:p>
          <a:p>
            <a:pPr lvl="1"/>
            <a:r>
              <a:rPr lang="zh-CN" altLang="en-US"/>
              <a:t>“软”规则</a:t>
            </a:r>
          </a:p>
          <a:p>
            <a:pPr lvl="1"/>
            <a:r>
              <a:rPr lang="zh-CN" altLang="en-US"/>
              <a:t>“硬”规则</a:t>
            </a:r>
          </a:p>
        </p:txBody>
      </p:sp>
      <p:grpSp>
        <p:nvGrpSpPr>
          <p:cNvPr id="2" name="组合 28"/>
          <p:cNvGrpSpPr/>
          <p:nvPr/>
        </p:nvGrpSpPr>
        <p:grpSpPr bwMode="auto">
          <a:xfrm>
            <a:off x="1071563" y="2500313"/>
            <a:ext cx="6985000" cy="4073525"/>
            <a:chOff x="971551" y="2276476"/>
            <a:chExt cx="6985000" cy="4073524"/>
          </a:xfrm>
        </p:grpSpPr>
        <p:grpSp>
          <p:nvGrpSpPr>
            <p:cNvPr id="3" name="Group 18"/>
            <p:cNvGrpSpPr/>
            <p:nvPr/>
          </p:nvGrpSpPr>
          <p:grpSpPr bwMode="auto">
            <a:xfrm>
              <a:off x="971551" y="2276476"/>
              <a:ext cx="6985000" cy="3889375"/>
              <a:chOff x="612" y="1434"/>
              <a:chExt cx="4400" cy="2450"/>
            </a:xfrm>
          </p:grpSpPr>
          <p:sp>
            <p:nvSpPr>
              <p:cNvPr id="41" name="AutoShape 17"/>
              <p:cNvSpPr>
                <a:spLocks noChangeArrowheads="1"/>
              </p:cNvSpPr>
              <p:nvPr/>
            </p:nvSpPr>
            <p:spPr bwMode="auto">
              <a:xfrm>
                <a:off x="612" y="1434"/>
                <a:ext cx="4400" cy="2450"/>
              </a:xfrm>
              <a:prstGeom prst="roundRect">
                <a:avLst>
                  <a:gd name="adj" fmla="val 5472"/>
                </a:avLst>
              </a:prstGeom>
              <a:solidFill>
                <a:schemeClr val="bg1"/>
              </a:solidFill>
              <a:ln w="12700">
                <a:solidFill>
                  <a:schemeClr val="folHlink"/>
                </a:solidFill>
                <a:round/>
              </a:ln>
              <a:effectLst/>
            </p:spPr>
            <p:txBody>
              <a:bodyPr wrap="none" anchor="ctr"/>
              <a:lstStyle/>
              <a:p>
                <a:pPr>
                  <a:defRPr/>
                </a:pPr>
                <a:endParaRPr lang="zh-CN" altLang="en-US" sz="2400">
                  <a:solidFill>
                    <a:schemeClr val="tx2"/>
                  </a:solidFill>
                  <a:effectLst>
                    <a:outerShdw blurRad="38100" dist="38100" dir="2700000" algn="tl">
                      <a:srgbClr val="C0C0C0"/>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3809" name="AutoShape 6"/>
              <p:cNvSpPr>
                <a:spLocks noChangeArrowheads="1"/>
              </p:cNvSpPr>
              <p:nvPr/>
            </p:nvSpPr>
            <p:spPr bwMode="auto">
              <a:xfrm rot="-5400000">
                <a:off x="3938" y="2279"/>
                <a:ext cx="544" cy="578"/>
              </a:xfrm>
              <a:prstGeom prst="leftArrow">
                <a:avLst>
                  <a:gd name="adj1" fmla="val 50000"/>
                  <a:gd name="adj2" fmla="val 32074"/>
                </a:avLst>
              </a:prstGeom>
              <a:gradFill rotWithShape="1">
                <a:gsLst>
                  <a:gs pos="0">
                    <a:srgbClr val="FFFFFF"/>
                  </a:gs>
                  <a:gs pos="100000">
                    <a:srgbClr val="66CCFF"/>
                  </a:gs>
                </a:gsLst>
                <a:lin ang="5400000" scaled="1"/>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3810" name="AutoShape 13"/>
              <p:cNvSpPr>
                <a:spLocks noChangeArrowheads="1"/>
              </p:cNvSpPr>
              <p:nvPr/>
            </p:nvSpPr>
            <p:spPr bwMode="auto">
              <a:xfrm rot="-5400000">
                <a:off x="1361" y="2098"/>
                <a:ext cx="544" cy="578"/>
              </a:xfrm>
              <a:prstGeom prst="leftArrow">
                <a:avLst>
                  <a:gd name="adj1" fmla="val 50000"/>
                  <a:gd name="adj2" fmla="val 33333"/>
                </a:avLst>
              </a:prstGeom>
              <a:gradFill rotWithShape="1">
                <a:gsLst>
                  <a:gs pos="0">
                    <a:srgbClr val="FFFFFF"/>
                  </a:gs>
                  <a:gs pos="100000">
                    <a:srgbClr val="66CCFF"/>
                  </a:gs>
                </a:gsLst>
                <a:lin ang="5400000" scaled="1"/>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3811" name="AutoShape 15"/>
              <p:cNvSpPr>
                <a:spLocks noChangeArrowheads="1"/>
              </p:cNvSpPr>
              <p:nvPr/>
            </p:nvSpPr>
            <p:spPr bwMode="auto">
              <a:xfrm rot="5400000">
                <a:off x="3019" y="1243"/>
                <a:ext cx="204" cy="1270"/>
              </a:xfrm>
              <a:prstGeom prst="upDownArrow">
                <a:avLst>
                  <a:gd name="adj1" fmla="val 50000"/>
                  <a:gd name="adj2" fmla="val 124510"/>
                </a:avLst>
              </a:prstGeom>
              <a:gradFill rotWithShape="1">
                <a:gsLst>
                  <a:gs pos="0">
                    <a:srgbClr val="FFFFFF"/>
                  </a:gs>
                  <a:gs pos="100000">
                    <a:srgbClr val="66CCFF"/>
                  </a:gs>
                </a:gsLst>
                <a:lin ang="0"/>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3812" name="AutoShape 16"/>
              <p:cNvSpPr>
                <a:spLocks noChangeArrowheads="1"/>
              </p:cNvSpPr>
              <p:nvPr/>
            </p:nvSpPr>
            <p:spPr bwMode="auto">
              <a:xfrm rot="5400000">
                <a:off x="3027" y="2557"/>
                <a:ext cx="204" cy="1270"/>
              </a:xfrm>
              <a:prstGeom prst="upDownArrow">
                <a:avLst>
                  <a:gd name="adj1" fmla="val 50000"/>
                  <a:gd name="adj2" fmla="val 124510"/>
                </a:avLst>
              </a:prstGeom>
              <a:gradFill rotWithShape="1">
                <a:gsLst>
                  <a:gs pos="0">
                    <a:srgbClr val="FFFFFF"/>
                  </a:gs>
                  <a:gs pos="100000">
                    <a:srgbClr val="66CCFF"/>
                  </a:gs>
                </a:gsLst>
                <a:lin ang="0"/>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4" name="组合 18"/>
            <p:cNvGrpSpPr/>
            <p:nvPr/>
          </p:nvGrpSpPr>
          <p:grpSpPr bwMode="auto">
            <a:xfrm>
              <a:off x="6142038" y="2446338"/>
              <a:ext cx="1058862" cy="1092200"/>
              <a:chOff x="1139778" y="1822428"/>
              <a:chExt cx="2117754" cy="2117754"/>
            </a:xfrm>
          </p:grpSpPr>
          <p:sp>
            <p:nvSpPr>
              <p:cNvPr id="33805" name="流程图: 或者 8"/>
              <p:cNvSpPr>
                <a:spLocks noChangeArrowheads="1"/>
              </p:cNvSpPr>
              <p:nvPr/>
            </p:nvSpPr>
            <p:spPr bwMode="auto">
              <a:xfrm>
                <a:off x="1139778" y="1822428"/>
                <a:ext cx="2117754" cy="2117754"/>
              </a:xfrm>
              <a:prstGeom prst="flowChartOr">
                <a:avLst/>
              </a:prstGeom>
              <a:noFill/>
              <a:ln w="12700" algn="ctr">
                <a:solidFill>
                  <a:schemeClr val="tx2"/>
                </a:solidFill>
                <a:round/>
              </a:ln>
            </p:spPr>
            <p:txBody>
              <a:bodyPr wrap="none" anchor="ctr" anchorCtr="1"/>
              <a:lstStyle/>
              <a:p>
                <a:pPr algn="ctr"/>
                <a:endParaRPr lang="zh-CN" altLang="zh-CN">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9" name="饼形 12"/>
              <p:cNvSpPr/>
              <p:nvPr/>
            </p:nvSpPr>
            <p:spPr bwMode="auto">
              <a:xfrm>
                <a:off x="1139778" y="1822428"/>
                <a:ext cx="2117756" cy="2117754"/>
              </a:xfrm>
              <a:prstGeom prst="pie">
                <a:avLst>
                  <a:gd name="adj1" fmla="val 10800000"/>
                  <a:gd name="adj2" fmla="val 16200000"/>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lgn="ctr">
                  <a:defRPr/>
                </a:pPr>
                <a:endParaRPr lang="zh-CN" altLang="zh-CN">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3807" name="饼形 13"/>
              <p:cNvSpPr>
                <a:spLocks noChangeArrowheads="1"/>
              </p:cNvSpPr>
              <p:nvPr/>
            </p:nvSpPr>
            <p:spPr bwMode="auto">
              <a:xfrm rot="10800000">
                <a:off x="1139778" y="1822428"/>
                <a:ext cx="2117754" cy="2117754"/>
              </a:xfrm>
              <a:custGeom>
                <a:avLst/>
                <a:gdLst>
                  <a:gd name="T0" fmla="*/ 2117754 w 2117754"/>
                  <a:gd name="T1" fmla="*/ 1058877 h 2117754"/>
                  <a:gd name="T2" fmla="*/ 1058877 w 2117754"/>
                  <a:gd name="T3" fmla="*/ 2117754 h 2117754"/>
                  <a:gd name="T4" fmla="*/ 0 w 2117754"/>
                  <a:gd name="T5" fmla="*/ 1058877 h 2117754"/>
                  <a:gd name="T6" fmla="*/ 1058877 w 2117754"/>
                  <a:gd name="T7" fmla="*/ 0 h 2117754"/>
                  <a:gd name="T8" fmla="*/ 0 60000 65536"/>
                  <a:gd name="T9" fmla="*/ 5898240 60000 65536"/>
                  <a:gd name="T10" fmla="*/ 11796480 60000 65536"/>
                  <a:gd name="T11" fmla="*/ 17694720 60000 65536"/>
                  <a:gd name="T12" fmla="*/ 310138 w 2117754"/>
                  <a:gd name="T13" fmla="*/ 310138 h 2117754"/>
                  <a:gd name="T14" fmla="*/ 1807616 w 2117754"/>
                  <a:gd name="T15" fmla="*/ 1807616 h 2117754"/>
                </a:gdLst>
                <a:ahLst/>
                <a:cxnLst>
                  <a:cxn ang="T8">
                    <a:pos x="T0" y="T1"/>
                  </a:cxn>
                  <a:cxn ang="T9">
                    <a:pos x="T2" y="T3"/>
                  </a:cxn>
                  <a:cxn ang="T10">
                    <a:pos x="T4" y="T5"/>
                  </a:cxn>
                  <a:cxn ang="T11">
                    <a:pos x="T6" y="T7"/>
                  </a:cxn>
                </a:cxnLst>
                <a:rect l="T12" t="T13" r="T14" b="T15"/>
                <a:pathLst>
                  <a:path w="2117754" h="2117754">
                    <a:moveTo>
                      <a:pt x="0" y="1058876"/>
                    </a:moveTo>
                    <a:lnTo>
                      <a:pt x="0" y="1058876"/>
                    </a:lnTo>
                    <a:cubicBezTo>
                      <a:pt x="0" y="474074"/>
                      <a:pt x="474075" y="-1"/>
                      <a:pt x="1058877" y="0"/>
                    </a:cubicBezTo>
                    <a:cubicBezTo>
                      <a:pt x="1058877" y="0"/>
                      <a:pt x="1058877" y="0"/>
                      <a:pt x="1058877" y="0"/>
                    </a:cubicBezTo>
                    <a:lnTo>
                      <a:pt x="1058877" y="1058877"/>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sp>
          <p:nvSpPr>
            <p:cNvPr id="33799" name="饼形 14"/>
            <p:cNvSpPr>
              <a:spLocks noChangeArrowheads="1"/>
            </p:cNvSpPr>
            <p:nvPr/>
          </p:nvSpPr>
          <p:spPr bwMode="auto">
            <a:xfrm rot="5400000">
              <a:off x="6161882" y="4650581"/>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00" name="饼形 14"/>
            <p:cNvSpPr>
              <a:spLocks noChangeArrowheads="1"/>
            </p:cNvSpPr>
            <p:nvPr/>
          </p:nvSpPr>
          <p:spPr bwMode="auto">
            <a:xfrm rot="5400000">
              <a:off x="6198395" y="5307806"/>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01" name="饼形 14"/>
            <p:cNvSpPr>
              <a:spLocks noChangeArrowheads="1"/>
            </p:cNvSpPr>
            <p:nvPr/>
          </p:nvSpPr>
          <p:spPr bwMode="auto">
            <a:xfrm rot="5400000">
              <a:off x="5577682" y="5307806"/>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02" name="饼形 14"/>
            <p:cNvSpPr>
              <a:spLocks noChangeArrowheads="1"/>
            </p:cNvSpPr>
            <p:nvPr/>
          </p:nvSpPr>
          <p:spPr bwMode="auto">
            <a:xfrm rot="5400000">
              <a:off x="5541169" y="4687094"/>
              <a:ext cx="1058863"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3803" name="Rectangle 12"/>
            <p:cNvSpPr>
              <a:spLocks noChangeArrowheads="1"/>
            </p:cNvSpPr>
            <p:nvPr/>
          </p:nvSpPr>
          <p:spPr bwMode="auto">
            <a:xfrm>
              <a:off x="1547813" y="2708275"/>
              <a:ext cx="2233612" cy="433388"/>
            </a:xfrm>
            <a:prstGeom prst="rect">
              <a:avLst/>
            </a:prstGeom>
            <a:noFill/>
            <a:ln w="9525">
              <a:noFill/>
              <a:miter lim="800000"/>
            </a:ln>
          </p:spPr>
          <p:txBody>
            <a:bodyPr/>
            <a:lstStyle/>
            <a:p>
              <a:pPr marL="342900" indent="-342900">
                <a:buSzPct val="80000"/>
                <a:buFont typeface="Wingdings" panose="05000000000000000000" pitchFamily="2" charset="2"/>
                <a:buNone/>
              </a:pPr>
              <a:r>
                <a:rPr lang="en-US" altLang="zh-CN" sz="2400">
                  <a:solidFill>
                    <a:schemeClr val="tx2"/>
                  </a:solidFill>
                  <a:latin typeface="Arial" panose="020B0604020202020204" pitchFamily="34" charset="0"/>
                  <a:ea typeface="微软雅黑" panose="020B0503020204020204" pitchFamily="34" charset="-122"/>
                  <a:cs typeface="Arial" panose="020B0604020202020204" pitchFamily="34" charset="0"/>
                </a:rPr>
                <a:t>10.10.10.0/24</a:t>
              </a:r>
            </a:p>
          </p:txBody>
        </p:sp>
        <p:sp>
          <p:nvSpPr>
            <p:cNvPr id="33804" name="Rectangle 14"/>
            <p:cNvSpPr>
              <a:spLocks noChangeArrowheads="1"/>
            </p:cNvSpPr>
            <p:nvPr/>
          </p:nvSpPr>
          <p:spPr bwMode="auto">
            <a:xfrm>
              <a:off x="1547813" y="4221163"/>
              <a:ext cx="2592387" cy="1873250"/>
            </a:xfrm>
            <a:prstGeom prst="rect">
              <a:avLst/>
            </a:prstGeom>
            <a:noFill/>
            <a:ln w="9525">
              <a:noFill/>
              <a:miter lim="800000"/>
            </a:ln>
          </p:spPr>
          <p:txBody>
            <a:bodyPr/>
            <a:lstStyle/>
            <a:p>
              <a:pPr marL="342900" indent="-342900">
                <a:buSzPct val="80000"/>
                <a:buFont typeface="Wingdings" panose="05000000000000000000" pitchFamily="2" charset="2"/>
                <a:buNone/>
              </a:pPr>
              <a:r>
                <a:rPr lang="en-US" altLang="zh-CN" sz="2400">
                  <a:solidFill>
                    <a:schemeClr val="tx2"/>
                  </a:solidFill>
                  <a:latin typeface="Arial" panose="020B0604020202020204" pitchFamily="34" charset="0"/>
                  <a:ea typeface="微软雅黑" panose="020B0503020204020204" pitchFamily="34" charset="-122"/>
                  <a:cs typeface="Arial" panose="020B0604020202020204" pitchFamily="34" charset="0"/>
                </a:rPr>
                <a:t>10.10.10.0/26</a:t>
              </a:r>
            </a:p>
            <a:p>
              <a:pPr marL="342900" indent="-342900">
                <a:buSzPct val="80000"/>
                <a:buFont typeface="Wingdings" panose="05000000000000000000" pitchFamily="2" charset="2"/>
                <a:buNone/>
              </a:pPr>
              <a:r>
                <a:rPr lang="en-US" altLang="zh-CN" sz="2400">
                  <a:solidFill>
                    <a:schemeClr val="tx2"/>
                  </a:solidFill>
                  <a:latin typeface="Arial" panose="020B0604020202020204" pitchFamily="34" charset="0"/>
                  <a:ea typeface="微软雅黑" panose="020B0503020204020204" pitchFamily="34" charset="-122"/>
                  <a:cs typeface="Arial" panose="020B0604020202020204" pitchFamily="34" charset="0"/>
                </a:rPr>
                <a:t>10.10.10.64/26</a:t>
              </a:r>
            </a:p>
            <a:p>
              <a:pPr marL="342900" indent="-342900">
                <a:buSzPct val="80000"/>
                <a:buFont typeface="Wingdings" panose="05000000000000000000" pitchFamily="2" charset="2"/>
                <a:buNone/>
              </a:pPr>
              <a:r>
                <a:rPr lang="en-US" altLang="zh-CN" sz="2400">
                  <a:solidFill>
                    <a:schemeClr val="tx2"/>
                  </a:solidFill>
                  <a:latin typeface="Arial" panose="020B0604020202020204" pitchFamily="34" charset="0"/>
                  <a:ea typeface="微软雅黑" panose="020B0503020204020204" pitchFamily="34" charset="-122"/>
                  <a:cs typeface="Arial" panose="020B0604020202020204" pitchFamily="34" charset="0"/>
                </a:rPr>
                <a:t>10.10.10.128/26</a:t>
              </a:r>
            </a:p>
            <a:p>
              <a:pPr marL="342900" indent="-342900">
                <a:buSzPct val="80000"/>
                <a:buFont typeface="Wingdings" panose="05000000000000000000" pitchFamily="2" charset="2"/>
                <a:buNone/>
              </a:pPr>
              <a:r>
                <a:rPr lang="en-US" altLang="zh-CN" sz="2400">
                  <a:solidFill>
                    <a:schemeClr val="tx2"/>
                  </a:solidFill>
                  <a:latin typeface="Arial" panose="020B0604020202020204" pitchFamily="34" charset="0"/>
                  <a:ea typeface="微软雅黑" panose="020B0503020204020204" pitchFamily="34" charset="-122"/>
                  <a:cs typeface="Arial" panose="020B0604020202020204" pitchFamily="34" charset="0"/>
                </a:rPr>
                <a:t>10.10.10.192/26</a:t>
              </a:r>
            </a:p>
          </p:txBody>
        </p:sp>
      </p:grpSp>
      <p:sp>
        <p:nvSpPr>
          <p:cNvPr id="5" name="灯片编号占位符 4"/>
          <p:cNvSpPr>
            <a:spLocks noGrp="1"/>
          </p:cNvSpPr>
          <p:nvPr>
            <p:ph type="sldNum" sz="quarter" idx="12"/>
          </p:nvPr>
        </p:nvSpPr>
        <p:spPr/>
        <p:txBody>
          <a:bodyPr/>
          <a:lstStyle/>
          <a:p>
            <a:fld id="{0C913308-F349-4B6D-A68A-DD1791B4A57B}" type="slidenum">
              <a:rPr lang="zh-CN" altLang="en-US" smtClean="0"/>
              <a:t>27</a:t>
            </a:fld>
            <a:r>
              <a:rPr lang="en-US" altLang="zh-CN" dirty="0"/>
              <a:t>/45</a:t>
            </a:r>
            <a:endParaRPr lang="zh-CN"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a:spLocks noGrp="1"/>
          </p:cNvSpPr>
          <p:nvPr>
            <p:ph type="title"/>
          </p:nvPr>
        </p:nvSpPr>
        <p:spPr/>
        <p:txBody>
          <a:bodyPr/>
          <a:lstStyle/>
          <a:p>
            <a:r>
              <a:rPr lang="zh-CN" altLang="en-US">
                <a:sym typeface="+mn-ea"/>
              </a:rPr>
              <a:t>子网划分的应用</a:t>
            </a:r>
            <a:endParaRPr lang="en-US" altLang="zh-CN"/>
          </a:p>
        </p:txBody>
      </p:sp>
      <p:sp>
        <p:nvSpPr>
          <p:cNvPr id="4" name="内容占位符 3"/>
          <p:cNvSpPr>
            <a:spLocks noGrp="1"/>
          </p:cNvSpPr>
          <p:nvPr>
            <p:ph idx="1"/>
          </p:nvPr>
        </p:nvSpPr>
        <p:spPr/>
        <p:txBody>
          <a:bodyPr/>
          <a:lstStyle/>
          <a:p>
            <a:r>
              <a:rPr lang="zh-CN" altLang="en-US">
                <a:sym typeface="+mn-ea"/>
              </a:rPr>
              <a:t>子网划分实例</a:t>
            </a:r>
            <a:r>
              <a:rPr lang="en-US" altLang="zh-CN">
                <a:sym typeface="+mn-ea"/>
              </a:rPr>
              <a:t>4-3</a:t>
            </a:r>
            <a:endParaRPr lang="zh-CN" altLang="en-US"/>
          </a:p>
        </p:txBody>
      </p:sp>
      <p:grpSp>
        <p:nvGrpSpPr>
          <p:cNvPr id="2" name="Group 18"/>
          <p:cNvGrpSpPr/>
          <p:nvPr/>
        </p:nvGrpSpPr>
        <p:grpSpPr bwMode="auto">
          <a:xfrm>
            <a:off x="993775" y="1430338"/>
            <a:ext cx="6985000" cy="2528887"/>
            <a:chOff x="612" y="1434"/>
            <a:chExt cx="4400" cy="2450"/>
          </a:xfrm>
        </p:grpSpPr>
        <p:sp>
          <p:nvSpPr>
            <p:cNvPr id="5" name="AutoShape 17"/>
            <p:cNvSpPr>
              <a:spLocks noChangeArrowheads="1"/>
            </p:cNvSpPr>
            <p:nvPr/>
          </p:nvSpPr>
          <p:spPr bwMode="auto">
            <a:xfrm>
              <a:off x="612" y="1434"/>
              <a:ext cx="4400" cy="2450"/>
            </a:xfrm>
            <a:prstGeom prst="roundRect">
              <a:avLst>
                <a:gd name="adj" fmla="val 5472"/>
              </a:avLst>
            </a:prstGeom>
            <a:solidFill>
              <a:schemeClr val="bg1"/>
            </a:solidFill>
            <a:ln w="12700">
              <a:solidFill>
                <a:schemeClr val="folHlink"/>
              </a:solidFill>
              <a:round/>
            </a:ln>
            <a:effectLst/>
          </p:spPr>
          <p:txBody>
            <a:bodyPr wrap="none" anchor="ctr"/>
            <a:lstStyle/>
            <a:p>
              <a:pPr>
                <a:defRPr/>
              </a:pPr>
              <a:endParaRPr lang="zh-CN" altLang="en-US" sz="2400">
                <a:solidFill>
                  <a:schemeClr val="tx2"/>
                </a:solidFill>
                <a:effectLst>
                  <a:outerShdw blurRad="38100" dist="38100" dir="2700000" algn="tl">
                    <a:srgbClr val="C0C0C0"/>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4841" name="AutoShape 6"/>
            <p:cNvSpPr>
              <a:spLocks noChangeArrowheads="1"/>
            </p:cNvSpPr>
            <p:nvPr/>
          </p:nvSpPr>
          <p:spPr bwMode="auto">
            <a:xfrm rot="-5400000">
              <a:off x="4001" y="2215"/>
              <a:ext cx="527" cy="469"/>
            </a:xfrm>
            <a:prstGeom prst="leftArrow">
              <a:avLst>
                <a:gd name="adj1" fmla="val 50000"/>
                <a:gd name="adj2" fmla="val 32077"/>
              </a:avLst>
            </a:prstGeom>
            <a:gradFill rotWithShape="1">
              <a:gsLst>
                <a:gs pos="0">
                  <a:srgbClr val="FFFFFF"/>
                </a:gs>
                <a:gs pos="100000">
                  <a:srgbClr val="66CCFF"/>
                </a:gs>
              </a:gsLst>
              <a:lin ang="5400000" scaled="1"/>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4842" name="AutoShape 13"/>
            <p:cNvSpPr>
              <a:spLocks noChangeArrowheads="1"/>
            </p:cNvSpPr>
            <p:nvPr/>
          </p:nvSpPr>
          <p:spPr bwMode="auto">
            <a:xfrm rot="-5400000">
              <a:off x="1427" y="2205"/>
              <a:ext cx="496" cy="386"/>
            </a:xfrm>
            <a:prstGeom prst="leftArrow">
              <a:avLst>
                <a:gd name="adj1" fmla="val 50000"/>
                <a:gd name="adj2" fmla="val 33332"/>
              </a:avLst>
            </a:prstGeom>
            <a:gradFill rotWithShape="1">
              <a:gsLst>
                <a:gs pos="0">
                  <a:srgbClr val="FFFFFF"/>
                </a:gs>
                <a:gs pos="100000">
                  <a:srgbClr val="66CCFF"/>
                </a:gs>
              </a:gsLst>
              <a:lin ang="5400000" scaled="1"/>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4843" name="AutoShape 15"/>
            <p:cNvSpPr>
              <a:spLocks noChangeArrowheads="1"/>
            </p:cNvSpPr>
            <p:nvPr/>
          </p:nvSpPr>
          <p:spPr bwMode="auto">
            <a:xfrm rot="5400000">
              <a:off x="2911" y="1243"/>
              <a:ext cx="204" cy="1270"/>
            </a:xfrm>
            <a:prstGeom prst="upDownArrow">
              <a:avLst>
                <a:gd name="adj1" fmla="val 50000"/>
                <a:gd name="adj2" fmla="val 124510"/>
              </a:avLst>
            </a:prstGeom>
            <a:gradFill rotWithShape="1">
              <a:gsLst>
                <a:gs pos="0">
                  <a:srgbClr val="FFFFFF"/>
                </a:gs>
                <a:gs pos="100000">
                  <a:srgbClr val="66CCFF"/>
                </a:gs>
              </a:gsLst>
              <a:lin ang="0"/>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4844" name="AutoShape 16"/>
            <p:cNvSpPr>
              <a:spLocks noChangeArrowheads="1"/>
            </p:cNvSpPr>
            <p:nvPr/>
          </p:nvSpPr>
          <p:spPr bwMode="auto">
            <a:xfrm rot="5400000">
              <a:off x="2893" y="2557"/>
              <a:ext cx="204" cy="1270"/>
            </a:xfrm>
            <a:prstGeom prst="upDownArrow">
              <a:avLst>
                <a:gd name="adj1" fmla="val 50000"/>
                <a:gd name="adj2" fmla="val 124510"/>
              </a:avLst>
            </a:prstGeom>
            <a:gradFill rotWithShape="1">
              <a:gsLst>
                <a:gs pos="0">
                  <a:srgbClr val="FFFFFF"/>
                </a:gs>
                <a:gs pos="100000">
                  <a:srgbClr val="66CCFF"/>
                </a:gs>
              </a:gsLst>
              <a:lin ang="0"/>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34820" name="饼形 14"/>
          <p:cNvSpPr>
            <a:spLocks noChangeArrowheads="1"/>
          </p:cNvSpPr>
          <p:nvPr/>
        </p:nvSpPr>
        <p:spPr bwMode="auto">
          <a:xfrm rot="5400000">
            <a:off x="5650707" y="1554956"/>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821" name="饼形 14"/>
          <p:cNvSpPr>
            <a:spLocks noChangeArrowheads="1"/>
          </p:cNvSpPr>
          <p:nvPr/>
        </p:nvSpPr>
        <p:spPr bwMode="auto">
          <a:xfrm rot="5400000">
            <a:off x="6307932" y="1554956"/>
            <a:ext cx="1058862" cy="1025525"/>
          </a:xfrm>
          <a:custGeom>
            <a:avLst/>
            <a:gdLst>
              <a:gd name="T0" fmla="*/ 1 w 2117725"/>
              <a:gd name="T1" fmla="*/ 0 h 2117725"/>
              <a:gd name="T2" fmla="*/ 1 w 2117725"/>
              <a:gd name="T3" fmla="*/ 0 h 2117725"/>
              <a:gd name="T4" fmla="*/ 0 w 2117725"/>
              <a:gd name="T5" fmla="*/ 0 h 2117725"/>
              <a:gd name="T6" fmla="*/ 1 w 2117725"/>
              <a:gd name="T7" fmla="*/ 0 h 2117725"/>
              <a:gd name="T8" fmla="*/ 0 60000 65536"/>
              <a:gd name="T9" fmla="*/ 5898240 60000 65536"/>
              <a:gd name="T10" fmla="*/ 11796480 60000 65536"/>
              <a:gd name="T11" fmla="*/ 17694720 60000 65536"/>
              <a:gd name="T12" fmla="*/ 310134 w 2117725"/>
              <a:gd name="T13" fmla="*/ 310132 h 2117725"/>
              <a:gd name="T14" fmla="*/ 1807591 w 2117725"/>
              <a:gd name="T15" fmla="*/ 1807595 h 2117725"/>
            </a:gdLst>
            <a:ahLst/>
            <a:cxnLst>
              <a:cxn ang="T8">
                <a:pos x="T0" y="T1"/>
              </a:cxn>
              <a:cxn ang="T9">
                <a:pos x="T2" y="T3"/>
              </a:cxn>
              <a:cxn ang="T10">
                <a:pos x="T4" y="T5"/>
              </a:cxn>
              <a:cxn ang="T11">
                <a:pos x="T6" y="T7"/>
              </a:cxn>
            </a:cxnLst>
            <a:rect l="T12" t="T13" r="T14" b="T15"/>
            <a:pathLst>
              <a:path w="2117725" h="2117725">
                <a:moveTo>
                  <a:pt x="0" y="1058861"/>
                </a:moveTo>
                <a:lnTo>
                  <a:pt x="0" y="1058861"/>
                </a:lnTo>
                <a:cubicBezTo>
                  <a:pt x="0" y="474067"/>
                  <a:pt x="474069" y="-2"/>
                  <a:pt x="1058863" y="-1"/>
                </a:cubicBezTo>
                <a:cubicBezTo>
                  <a:pt x="1058863" y="-1"/>
                  <a:pt x="1058863" y="-1"/>
                  <a:pt x="1058863" y="-1"/>
                </a:cubicBezTo>
                <a:lnTo>
                  <a:pt x="1058863" y="1058863"/>
                </a:lnTo>
                <a:close/>
              </a:path>
            </a:pathLst>
          </a:custGeom>
          <a:solidFill>
            <a:srgbClr val="00B0F0"/>
          </a:solidFill>
          <a:ln w="9525" algn="ctr">
            <a:solidFill>
              <a:srgbClr val="808080"/>
            </a:solidFill>
            <a:round/>
          </a:ln>
        </p:spPr>
        <p:txBody>
          <a:bodyPr rot="10800000" vert="eaVert"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822" name="Rectangle 8"/>
          <p:cNvSpPr>
            <a:spLocks noChangeArrowheads="1"/>
          </p:cNvSpPr>
          <p:nvPr/>
        </p:nvSpPr>
        <p:spPr bwMode="auto">
          <a:xfrm>
            <a:off x="1577975" y="1501775"/>
            <a:ext cx="2592388" cy="936625"/>
          </a:xfrm>
          <a:prstGeom prst="rect">
            <a:avLst/>
          </a:prstGeom>
          <a:noFill/>
          <a:ln w="9525">
            <a:noFill/>
            <a:miter lim="800000"/>
          </a:ln>
        </p:spPr>
        <p:txBody>
          <a:bodyPr/>
          <a:lstStyle/>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10.10.10.128/26</a:t>
            </a:r>
          </a:p>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10.10.10.192/26</a:t>
            </a:r>
          </a:p>
        </p:txBody>
      </p:sp>
      <p:sp>
        <p:nvSpPr>
          <p:cNvPr id="34823" name="Rectangle 10"/>
          <p:cNvSpPr>
            <a:spLocks noChangeArrowheads="1"/>
          </p:cNvSpPr>
          <p:nvPr/>
        </p:nvSpPr>
        <p:spPr bwMode="auto">
          <a:xfrm>
            <a:off x="1614488" y="2633663"/>
            <a:ext cx="2592387" cy="1873250"/>
          </a:xfrm>
          <a:prstGeom prst="rect">
            <a:avLst/>
          </a:prstGeom>
          <a:noFill/>
          <a:ln w="9525">
            <a:noFill/>
            <a:miter lim="800000"/>
          </a:ln>
        </p:spPr>
        <p:txBody>
          <a:bodyPr/>
          <a:lstStyle/>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10.10.10.128/27</a:t>
            </a:r>
          </a:p>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10.10.10.160/27</a:t>
            </a:r>
          </a:p>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10.10.10.192/27</a:t>
            </a:r>
          </a:p>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10.10.10.224/27</a:t>
            </a:r>
          </a:p>
        </p:txBody>
      </p:sp>
      <p:sp>
        <p:nvSpPr>
          <p:cNvPr id="34824" name="饼形 24"/>
          <p:cNvSpPr>
            <a:spLocks noChangeArrowheads="1"/>
          </p:cNvSpPr>
          <p:nvPr/>
        </p:nvSpPr>
        <p:spPr bwMode="auto">
          <a:xfrm rot="8100000">
            <a:off x="6208713" y="3140075"/>
            <a:ext cx="1117600" cy="1168400"/>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825" name="饼形 24"/>
          <p:cNvSpPr>
            <a:spLocks noChangeArrowheads="1"/>
          </p:cNvSpPr>
          <p:nvPr/>
        </p:nvSpPr>
        <p:spPr bwMode="auto">
          <a:xfrm rot="8100000">
            <a:off x="5588000" y="3124200"/>
            <a:ext cx="1117600" cy="1168400"/>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826" name="饼形 24"/>
          <p:cNvSpPr>
            <a:spLocks noChangeArrowheads="1"/>
          </p:cNvSpPr>
          <p:nvPr/>
        </p:nvSpPr>
        <p:spPr bwMode="auto">
          <a:xfrm rot="8100000">
            <a:off x="5551488" y="2649538"/>
            <a:ext cx="1117600" cy="1168400"/>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827" name="饼形 24"/>
          <p:cNvSpPr>
            <a:spLocks noChangeArrowheads="1"/>
          </p:cNvSpPr>
          <p:nvPr/>
        </p:nvSpPr>
        <p:spPr bwMode="auto">
          <a:xfrm rot="8100000">
            <a:off x="6172200" y="2665413"/>
            <a:ext cx="1117600" cy="1168400"/>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nvGrpSpPr>
          <p:cNvPr id="3" name="组合 51"/>
          <p:cNvGrpSpPr/>
          <p:nvPr/>
        </p:nvGrpSpPr>
        <p:grpSpPr bwMode="auto">
          <a:xfrm>
            <a:off x="993775" y="4144963"/>
            <a:ext cx="6985000" cy="2159000"/>
            <a:chOff x="993726" y="3433946"/>
            <a:chExt cx="6985000" cy="2158456"/>
          </a:xfrm>
        </p:grpSpPr>
        <p:sp>
          <p:nvSpPr>
            <p:cNvPr id="19" name="AutoShape 17"/>
            <p:cNvSpPr>
              <a:spLocks noChangeArrowheads="1"/>
            </p:cNvSpPr>
            <p:nvPr/>
          </p:nvSpPr>
          <p:spPr bwMode="auto">
            <a:xfrm>
              <a:off x="993726" y="3575197"/>
              <a:ext cx="6985000" cy="1606145"/>
            </a:xfrm>
            <a:prstGeom prst="roundRect">
              <a:avLst>
                <a:gd name="adj" fmla="val 5472"/>
              </a:avLst>
            </a:prstGeom>
            <a:solidFill>
              <a:schemeClr val="bg1"/>
            </a:solidFill>
            <a:ln w="12700">
              <a:solidFill>
                <a:schemeClr val="folHlink"/>
              </a:solidFill>
              <a:round/>
            </a:ln>
            <a:effectLst/>
          </p:spPr>
          <p:txBody>
            <a:bodyPr wrap="none" anchor="ctr"/>
            <a:lstStyle/>
            <a:p>
              <a:pPr>
                <a:defRPr/>
              </a:pPr>
              <a:endParaRPr lang="zh-CN" altLang="en-US" sz="2400">
                <a:solidFill>
                  <a:schemeClr val="tx2"/>
                </a:solidFill>
                <a:effectLst>
                  <a:outerShdw blurRad="38100" dist="38100" dir="2700000" algn="tl">
                    <a:srgbClr val="C0C0C0"/>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34831" name="AutoShape 13"/>
            <p:cNvSpPr>
              <a:spLocks noChangeArrowheads="1"/>
            </p:cNvSpPr>
            <p:nvPr/>
          </p:nvSpPr>
          <p:spPr bwMode="auto">
            <a:xfrm rot="-5400000">
              <a:off x="2487229" y="4046881"/>
              <a:ext cx="365819" cy="444526"/>
            </a:xfrm>
            <a:prstGeom prst="leftArrow">
              <a:avLst>
                <a:gd name="adj1" fmla="val 50000"/>
                <a:gd name="adj2" fmla="val 33333"/>
              </a:avLst>
            </a:prstGeom>
            <a:gradFill rotWithShape="1">
              <a:gsLst>
                <a:gs pos="0">
                  <a:srgbClr val="FFFFFF"/>
                </a:gs>
                <a:gs pos="100000">
                  <a:srgbClr val="66CCFF"/>
                </a:gs>
              </a:gsLst>
              <a:lin ang="5400000" scaled="1"/>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4832" name="AutoShape 15"/>
            <p:cNvSpPr>
              <a:spLocks noChangeArrowheads="1"/>
            </p:cNvSpPr>
            <p:nvPr/>
          </p:nvSpPr>
          <p:spPr bwMode="auto">
            <a:xfrm rot="5400000">
              <a:off x="4700030" y="2915745"/>
              <a:ext cx="210568" cy="2016125"/>
            </a:xfrm>
            <a:prstGeom prst="upDownArrow">
              <a:avLst>
                <a:gd name="adj1" fmla="val 50000"/>
                <a:gd name="adj2" fmla="val 124515"/>
              </a:avLst>
            </a:prstGeom>
            <a:gradFill rotWithShape="1">
              <a:gsLst>
                <a:gs pos="0">
                  <a:srgbClr val="FFFFFF"/>
                </a:gs>
                <a:gs pos="100000">
                  <a:srgbClr val="66CCFF"/>
                </a:gs>
              </a:gsLst>
              <a:lin ang="0"/>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4833" name="AutoShape 16"/>
            <p:cNvSpPr>
              <a:spLocks noChangeArrowheads="1"/>
            </p:cNvSpPr>
            <p:nvPr/>
          </p:nvSpPr>
          <p:spPr bwMode="auto">
            <a:xfrm rot="5400000">
              <a:off x="4671455" y="3840690"/>
              <a:ext cx="210568" cy="2016125"/>
            </a:xfrm>
            <a:prstGeom prst="upDownArrow">
              <a:avLst>
                <a:gd name="adj1" fmla="val 50000"/>
                <a:gd name="adj2" fmla="val 124515"/>
              </a:avLst>
            </a:prstGeom>
            <a:gradFill rotWithShape="1">
              <a:gsLst>
                <a:gs pos="0">
                  <a:srgbClr val="FFFFFF"/>
                </a:gs>
                <a:gs pos="100000">
                  <a:srgbClr val="66CCFF"/>
                </a:gs>
              </a:gsLst>
              <a:lin ang="0"/>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34834" name="Rectangle 8"/>
            <p:cNvSpPr>
              <a:spLocks noChangeArrowheads="1"/>
            </p:cNvSpPr>
            <p:nvPr/>
          </p:nvSpPr>
          <p:spPr bwMode="auto">
            <a:xfrm>
              <a:off x="1650995" y="3730582"/>
              <a:ext cx="2592388" cy="936625"/>
            </a:xfrm>
            <a:prstGeom prst="rect">
              <a:avLst/>
            </a:prstGeom>
            <a:noFill/>
            <a:ln w="9525">
              <a:noFill/>
              <a:miter lim="800000"/>
            </a:ln>
          </p:spPr>
          <p:txBody>
            <a:bodyPr/>
            <a:lstStyle/>
            <a:p>
              <a:pPr marL="342900" indent="-342900">
                <a:buSzPct val="80000"/>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10.10.10.224/27</a:t>
              </a:r>
            </a:p>
          </p:txBody>
        </p:sp>
        <p:sp>
          <p:nvSpPr>
            <p:cNvPr id="34835" name="Rectangle 10"/>
            <p:cNvSpPr>
              <a:spLocks noChangeArrowheads="1"/>
            </p:cNvSpPr>
            <p:nvPr/>
          </p:nvSpPr>
          <p:spPr bwMode="auto">
            <a:xfrm>
              <a:off x="1614482" y="4524390"/>
              <a:ext cx="2154232" cy="949338"/>
            </a:xfrm>
            <a:prstGeom prst="rect">
              <a:avLst/>
            </a:prstGeom>
            <a:noFill/>
            <a:ln w="9525">
              <a:noFill/>
              <a:miter lim="800000"/>
            </a:ln>
          </p:spPr>
          <p:txBody>
            <a:bodyPr/>
            <a:lstStyle/>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10.10.10.224/28</a:t>
              </a:r>
            </a:p>
            <a:p>
              <a:pPr marL="342900" indent="-342900">
                <a:buSzPct val="80000"/>
                <a:buFont typeface="Wingdings" panose="05000000000000000000" pitchFamily="2" charset="2"/>
                <a:buNone/>
              </a:pPr>
              <a:r>
                <a:rPr lang="en-US" altLang="zh-CN" sz="2000">
                  <a:solidFill>
                    <a:schemeClr val="tx2"/>
                  </a:solidFill>
                  <a:latin typeface="Arial" panose="020B0604020202020204" pitchFamily="34" charset="0"/>
                  <a:ea typeface="微软雅黑" panose="020B0503020204020204" pitchFamily="34" charset="-122"/>
                  <a:cs typeface="Arial" panose="020B0604020202020204" pitchFamily="34" charset="0"/>
                </a:rPr>
                <a:t>10.10.10.240/28</a:t>
              </a:r>
            </a:p>
          </p:txBody>
        </p:sp>
        <p:sp>
          <p:nvSpPr>
            <p:cNvPr id="34836" name="饼形 24"/>
            <p:cNvSpPr>
              <a:spLocks noChangeArrowheads="1"/>
            </p:cNvSpPr>
            <p:nvPr/>
          </p:nvSpPr>
          <p:spPr bwMode="auto">
            <a:xfrm rot="8100000">
              <a:off x="5843788" y="3433946"/>
              <a:ext cx="1117600" cy="1168400"/>
            </a:xfrm>
            <a:custGeom>
              <a:avLst/>
              <a:gdLst>
                <a:gd name="T0" fmla="*/ 1 w 2117725"/>
                <a:gd name="T1" fmla="*/ 1 h 2117725"/>
                <a:gd name="T2" fmla="*/ 1 w 2117725"/>
                <a:gd name="T3" fmla="*/ 1 h 2117725"/>
                <a:gd name="T4" fmla="*/ 0 w 2117725"/>
                <a:gd name="T5" fmla="*/ 1 h 2117725"/>
                <a:gd name="T6" fmla="*/ 1 w 2117725"/>
                <a:gd name="T7" fmla="*/ 0 h 2117725"/>
                <a:gd name="T8" fmla="*/ 0 60000 65536"/>
                <a:gd name="T9" fmla="*/ 5898240 60000 65536"/>
                <a:gd name="T10" fmla="*/ 11796480 60000 65536"/>
                <a:gd name="T11" fmla="*/ 17694720 60000 65536"/>
                <a:gd name="T12" fmla="*/ 310136 w 2117725"/>
                <a:gd name="T13" fmla="*/ 310133 h 2117725"/>
                <a:gd name="T14" fmla="*/ 1807593 w 2117725"/>
                <a:gd name="T15" fmla="*/ 1807592 h 2117725"/>
              </a:gdLst>
              <a:ahLst/>
              <a:cxnLst>
                <a:cxn ang="T8">
                  <a:pos x="T0" y="T1"/>
                </a:cxn>
                <a:cxn ang="T9">
                  <a:pos x="T2" y="T3"/>
                </a:cxn>
                <a:cxn ang="T10">
                  <a:pos x="T4" y="T5"/>
                </a:cxn>
                <a:cxn ang="T11">
                  <a:pos x="T6" y="T7"/>
                </a:cxn>
              </a:cxnLst>
              <a:rect l="T12" t="T13" r="T14" b="T15"/>
              <a:pathLst>
                <a:path w="2117725" h="2117725">
                  <a:moveTo>
                    <a:pt x="0" y="1058859"/>
                  </a:moveTo>
                  <a:lnTo>
                    <a:pt x="0" y="1058859"/>
                  </a:lnTo>
                  <a:cubicBezTo>
                    <a:pt x="1" y="776785"/>
                    <a:pt x="112549" y="506370"/>
                    <a:pt x="312683" y="307593"/>
                  </a:cubicBezTo>
                  <a:lnTo>
                    <a:pt x="1058863" y="1058863"/>
                  </a:lnTo>
                  <a:close/>
                </a:path>
              </a:pathLst>
            </a:custGeom>
            <a:solidFill>
              <a:srgbClr val="00B0F0"/>
            </a:solidFill>
            <a:ln w="9525" algn="ctr">
              <a:solidFill>
                <a:srgbClr val="808080"/>
              </a:solidFill>
              <a:round/>
            </a:ln>
          </p:spPr>
          <p:txBody>
            <a:bodyPr rot="10800000" wrap="none" anchor="ctr" anchorCtr="1"/>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34837" name="AutoShape 13"/>
            <p:cNvSpPr>
              <a:spLocks noChangeArrowheads="1"/>
            </p:cNvSpPr>
            <p:nvPr/>
          </p:nvSpPr>
          <p:spPr bwMode="auto">
            <a:xfrm rot="-5400000">
              <a:off x="6546543" y="4165898"/>
              <a:ext cx="365819" cy="444526"/>
            </a:xfrm>
            <a:prstGeom prst="leftArrow">
              <a:avLst>
                <a:gd name="adj1" fmla="val 50000"/>
                <a:gd name="adj2" fmla="val 33333"/>
              </a:avLst>
            </a:prstGeom>
            <a:gradFill rotWithShape="1">
              <a:gsLst>
                <a:gs pos="0">
                  <a:srgbClr val="FFFFFF"/>
                </a:gs>
                <a:gs pos="100000">
                  <a:srgbClr val="66CCFF"/>
                </a:gs>
              </a:gsLst>
              <a:lin ang="5400000" scaled="1"/>
            </a:gradFill>
            <a:ln w="9525">
              <a:solidFill>
                <a:srgbClr val="66CCFF"/>
              </a:solidFill>
              <a:miter lim="800000"/>
            </a:ln>
          </p:spPr>
          <p:txBody>
            <a:bodyPr vert="eaVert" wrap="none" anchor="ctr"/>
            <a:lstStyle/>
            <a:p>
              <a:endParaRPr lang="zh-CN" altLang="en-US" sz="240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27" name="饼形 26"/>
            <p:cNvSpPr/>
            <p:nvPr/>
          </p:nvSpPr>
          <p:spPr bwMode="auto">
            <a:xfrm rot="9420000">
              <a:off x="5286326" y="4289392"/>
              <a:ext cx="1303338" cy="1303010"/>
            </a:xfrm>
            <a:prstGeom prst="pie">
              <a:avLst>
                <a:gd name="adj1" fmla="val 10800010"/>
                <a:gd name="adj2" fmla="val 12186586"/>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defRPr/>
              </a:pPr>
              <a:endParaRPr lang="zh-CN" altLang="en-US">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sp>
          <p:nvSpPr>
            <p:cNvPr id="28" name="饼形 27"/>
            <p:cNvSpPr/>
            <p:nvPr/>
          </p:nvSpPr>
          <p:spPr bwMode="auto">
            <a:xfrm rot="9420000">
              <a:off x="6059439" y="4289392"/>
              <a:ext cx="1303337" cy="1303010"/>
            </a:xfrm>
            <a:prstGeom prst="pie">
              <a:avLst>
                <a:gd name="adj1" fmla="val 10800010"/>
                <a:gd name="adj2" fmla="val 12186586"/>
              </a:avLst>
            </a:prstGeom>
            <a:solidFill>
              <a:srgbClr val="00B0F0"/>
            </a:solidFill>
            <a:ln w="9525" cap="flat" cmpd="sng" algn="ctr">
              <a:solidFill>
                <a:srgbClr val="808080"/>
              </a:solidFill>
              <a:prstDash val="solid"/>
              <a:round/>
              <a:headEnd type="none" w="med" len="med"/>
              <a:tailEnd type="none" w="med" len="med"/>
            </a:ln>
            <a:effectLst/>
          </p:spPr>
          <p:txBody>
            <a:bodyPr wrap="none" anchor="ctr" anchorCtr="1"/>
            <a:lstStyle/>
            <a:p>
              <a:pPr>
                <a:defRPr/>
              </a:pPr>
              <a:endParaRPr lang="zh-CN" altLang="en-US">
                <a:solidFill>
                  <a:schemeClr val="tx2"/>
                </a:solidFill>
                <a:effectLst>
                  <a:outerShdw blurRad="38100" dist="38100" dir="2700000" algn="tl">
                    <a:srgbClr val="000000">
                      <a:alpha val="43137"/>
                    </a:srgbClr>
                  </a:outerShdw>
                </a:effectLst>
                <a:latin typeface="Arial" panose="020B0604020202020204" pitchFamily="34" charset="0"/>
                <a:ea typeface="微软雅黑" panose="020B0503020204020204" pitchFamily="34" charset="-122"/>
                <a:cs typeface="Arial" panose="020B0604020202020204" pitchFamily="34" charset="0"/>
              </a:endParaRPr>
            </a:p>
          </p:txBody>
        </p:sp>
      </p:grpSp>
      <p:sp>
        <p:nvSpPr>
          <p:cNvPr id="29" name="TextBox 28"/>
          <p:cNvSpPr txBox="1"/>
          <p:nvPr/>
        </p:nvSpPr>
        <p:spPr>
          <a:xfrm>
            <a:off x="928688" y="5958205"/>
            <a:ext cx="7095490" cy="398780"/>
          </a:xfrm>
          <a:prstGeom prst="rect">
            <a:avLst/>
          </a:prstGeom>
          <a:noFill/>
        </p:spPr>
        <p:txBody>
          <a:bodyPr wrap="none">
            <a:spAutoFit/>
          </a:bodyPr>
          <a:lstStyle/>
          <a:p>
            <a:pPr>
              <a:defRPr/>
            </a:pP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将</a:t>
            </a:r>
            <a:r>
              <a:rPr lang="en-US" altLang="zh-CN"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10.10.10.240/28</a:t>
            </a:r>
            <a:r>
              <a:rPr lang="zh-CN" altLang="en-US" sz="2000" b="1" dirty="0">
                <a:solidFill>
                  <a:srgbClr val="001E7F"/>
                </a:solidFill>
                <a:latin typeface="Arial" panose="020B0604020202020204" pitchFamily="34" charset="0"/>
                <a:ea typeface="微软雅黑" panose="020B0503020204020204" pitchFamily="34" charset="-122"/>
                <a:cs typeface="Arial" panose="020B0604020202020204" pitchFamily="34" charset="0"/>
              </a:rPr>
              <a:t>继续划分子网，分配给管理地址和互联地址</a:t>
            </a:r>
          </a:p>
        </p:txBody>
      </p:sp>
      <p:sp>
        <p:nvSpPr>
          <p:cNvPr id="6" name="灯片编号占位符 5"/>
          <p:cNvSpPr>
            <a:spLocks noGrp="1"/>
          </p:cNvSpPr>
          <p:nvPr>
            <p:ph type="sldNum" sz="quarter" idx="12"/>
          </p:nvPr>
        </p:nvSpPr>
        <p:spPr/>
        <p:txBody>
          <a:bodyPr/>
          <a:lstStyle/>
          <a:p>
            <a:fld id="{0C913308-F349-4B6D-A68A-DD1791B4A57B}" type="slidenum">
              <a:rPr lang="zh-CN" altLang="en-US" smtClean="0"/>
              <a:t>28</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
                                        </p:tgtEl>
                                        <p:attrNameLst>
                                          <p:attrName>style.visibility</p:attrName>
                                        </p:attrNameLst>
                                      </p:cBhvr>
                                      <p:to>
                                        <p:strVal val="visible"/>
                                      </p:to>
                                    </p:set>
                                    <p:anim calcmode="lin" valueType="num">
                                      <p:cBhvr additive="base">
                                        <p:cTn id="13" dur="500" fill="hold"/>
                                        <p:tgtEl>
                                          <p:spTgt spid="29"/>
                                        </p:tgtEl>
                                        <p:attrNameLst>
                                          <p:attrName>ppt_x</p:attrName>
                                        </p:attrNameLst>
                                      </p:cBhvr>
                                      <p:tavLst>
                                        <p:tav tm="0">
                                          <p:val>
                                            <p:strVal val="#ppt_x"/>
                                          </p:val>
                                        </p:tav>
                                        <p:tav tm="100000">
                                          <p:val>
                                            <p:strVal val="#ppt_x"/>
                                          </p:val>
                                        </p:tav>
                                      </p:tavLst>
                                    </p:anim>
                                    <p:anim calcmode="lin" valueType="num">
                                      <p:cBhvr additive="base">
                                        <p:cTn id="14"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
          <p:cNvSpPr>
            <a:spLocks noGrp="1"/>
          </p:cNvSpPr>
          <p:nvPr>
            <p:ph type="title"/>
          </p:nvPr>
        </p:nvSpPr>
        <p:spPr/>
        <p:txBody>
          <a:bodyPr/>
          <a:lstStyle/>
          <a:p>
            <a:r>
              <a:rPr lang="zh-CN" altLang="en-US">
                <a:sym typeface="+mn-ea"/>
              </a:rPr>
              <a:t>子网划分的应用</a:t>
            </a:r>
            <a:endParaRPr lang="en-US" altLang="zh-CN"/>
          </a:p>
        </p:txBody>
      </p:sp>
      <p:sp>
        <p:nvSpPr>
          <p:cNvPr id="2" name="内容占位符 1"/>
          <p:cNvSpPr>
            <a:spLocks noGrp="1"/>
          </p:cNvSpPr>
          <p:nvPr>
            <p:ph idx="1"/>
          </p:nvPr>
        </p:nvSpPr>
        <p:spPr>
          <a:xfrm>
            <a:off x="323528" y="981362"/>
            <a:ext cx="8496944" cy="5381337"/>
          </a:xfrm>
        </p:spPr>
        <p:txBody>
          <a:bodyPr/>
          <a:lstStyle/>
          <a:p>
            <a:r>
              <a:rPr lang="zh-CN" altLang="en-US">
                <a:sym typeface="+mn-ea"/>
              </a:rPr>
              <a:t>子网划分实例</a:t>
            </a:r>
            <a:r>
              <a:rPr lang="en-US" altLang="zh-CN">
                <a:sym typeface="+mn-ea"/>
              </a:rPr>
              <a:t>4-4</a:t>
            </a:r>
            <a:endParaRPr lang="zh-CN" altLang="en-US"/>
          </a:p>
        </p:txBody>
      </p:sp>
      <p:graphicFrame>
        <p:nvGraphicFramePr>
          <p:cNvPr id="5" name="表格 4"/>
          <p:cNvGraphicFramePr/>
          <p:nvPr>
            <p:custDataLst>
              <p:tags r:id="rId1"/>
            </p:custDataLst>
          </p:nvPr>
        </p:nvGraphicFramePr>
        <p:xfrm>
          <a:off x="305752" y="1624965"/>
          <a:ext cx="8655368" cy="4099849"/>
        </p:xfrm>
        <a:graphic>
          <a:graphicData uri="http://schemas.openxmlformats.org/drawingml/2006/table">
            <a:tbl>
              <a:tblPr>
                <a:tableStyleId>{5940675A-B579-460E-94D1-54222C63F5DA}</a:tableStyleId>
              </a:tblPr>
              <a:tblGrid>
                <a:gridCol w="684848">
                  <a:extLst>
                    <a:ext uri="{9D8B030D-6E8A-4147-A177-3AD203B41FA5}">
                      <a16:colId xmlns:a16="http://schemas.microsoft.com/office/drawing/2014/main" val="20000"/>
                    </a:ext>
                  </a:extLst>
                </a:gridCol>
                <a:gridCol w="181356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4480560">
                  <a:extLst>
                    <a:ext uri="{9D8B030D-6E8A-4147-A177-3AD203B41FA5}">
                      <a16:colId xmlns:a16="http://schemas.microsoft.com/office/drawing/2014/main" val="20003"/>
                    </a:ext>
                  </a:extLst>
                </a:gridCol>
                <a:gridCol w="1036320">
                  <a:extLst>
                    <a:ext uri="{9D8B030D-6E8A-4147-A177-3AD203B41FA5}">
                      <a16:colId xmlns:a16="http://schemas.microsoft.com/office/drawing/2014/main" val="20004"/>
                    </a:ext>
                  </a:extLst>
                </a:gridCol>
              </a:tblGrid>
              <a:tr h="448945">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楼层</a:t>
                      </a:r>
                    </a:p>
                  </a:txBody>
                  <a:tcPr marL="60125" marR="60125" marT="0" marB="22268"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部</a:t>
                      </a:r>
                      <a:r>
                        <a:rPr lang="en-US"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a:t>
                      </a:r>
                      <a:r>
                        <a:rPr lang="zh-CN"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门</a:t>
                      </a:r>
                    </a:p>
                  </a:txBody>
                  <a:tcPr marL="60125" marR="60125" marT="0" marB="22268"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主机</a:t>
                      </a:r>
                    </a:p>
                  </a:txBody>
                  <a:tcPr marL="60125" marR="60125" marT="0" marB="22268"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en-US"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IP</a:t>
                      </a:r>
                      <a:r>
                        <a:rPr lang="zh-CN" sz="1800" u="none" kern="1200" baseline="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地址</a:t>
                      </a:r>
                    </a:p>
                  </a:txBody>
                  <a:tcPr marL="60125" marR="60125" marT="0" marB="22268" anchor="ctr">
                    <a:solidFill>
                      <a:srgbClr val="0034DC"/>
                    </a:solidFill>
                  </a:tcPr>
                </a:tc>
                <a:tc>
                  <a:txBody>
                    <a:bodyPr/>
                    <a:lstStyle/>
                    <a:p>
                      <a:pPr marL="0" lvl="0" indent="0" algn="ctr" defTabSz="685800" rtl="0" eaLnBrk="1" fontAlgn="base" latinLnBrk="0" hangingPunct="1">
                        <a:lnSpc>
                          <a:spcPct val="100000"/>
                        </a:lnSpc>
                        <a:spcBef>
                          <a:spcPct val="0"/>
                        </a:spcBef>
                        <a:spcAft>
                          <a:spcPct val="0"/>
                        </a:spcAft>
                        <a:buNone/>
                      </a:pPr>
                      <a:r>
                        <a:rPr lang="zh-CN" sz="1800" u="none" kern="1200" baseline="0" dirty="0">
                          <a:solidFill>
                            <a:schemeClr val="bg1"/>
                          </a:solidFill>
                          <a:latin typeface="微软雅黑" panose="020B0503020204020204" pitchFamily="34" charset="-122"/>
                          <a:ea typeface="微软雅黑" panose="020B0503020204020204" pitchFamily="34" charset="-122"/>
                        </a:rPr>
                        <a:t>子网掩码</a:t>
                      </a:r>
                    </a:p>
                  </a:txBody>
                  <a:tcPr marL="60125" marR="60125" marT="0" marB="22268" anchor="ctr">
                    <a:solidFill>
                      <a:srgbClr val="0034DC"/>
                    </a:solidFill>
                  </a:tcPr>
                </a:tc>
                <a:extLst>
                  <a:ext uri="{0D108BD9-81ED-4DB2-BD59-A6C34878D82A}">
                    <a16:rowId xmlns:a16="http://schemas.microsoft.com/office/drawing/2014/main" val="10000"/>
                  </a:ext>
                </a:extLst>
              </a:tr>
              <a:tr h="436880">
                <a:tc rowSpan="2">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一层</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生产部</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45</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10.10.10.1～45，10.10.10.62为网关</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/26</a:t>
                      </a:r>
                    </a:p>
                  </a:txBody>
                  <a:tcPr marL="60125" marR="60125" marT="0" marB="22268" anchor="ctr"/>
                </a:tc>
                <a:extLst>
                  <a:ext uri="{0D108BD9-81ED-4DB2-BD59-A6C34878D82A}">
                    <a16:rowId xmlns:a16="http://schemas.microsoft.com/office/drawing/2014/main" val="10001"/>
                  </a:ext>
                </a:extLst>
              </a:tr>
              <a:tr h="431165">
                <a:tc vMerge="1">
                  <a:txBody>
                    <a:bodyPr/>
                    <a:lstStyle/>
                    <a:p>
                      <a:endParaRPr lang="zh-CN"/>
                    </a:p>
                  </a:txBody>
                  <a:tcP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研发部</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45</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10.10.10.65～110，10.10.10.126为网关</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/26</a:t>
                      </a:r>
                    </a:p>
                  </a:txBody>
                  <a:tcPr marL="60125" marR="60125" marT="0" marB="22268" anchor="ctr"/>
                </a:tc>
                <a:extLst>
                  <a:ext uri="{0D108BD9-81ED-4DB2-BD59-A6C34878D82A}">
                    <a16:rowId xmlns:a16="http://schemas.microsoft.com/office/drawing/2014/main" val="10002"/>
                  </a:ext>
                </a:extLst>
              </a:tr>
              <a:tr h="411162">
                <a:tc rowSpan="2">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二层</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a:latin typeface="微软雅黑" panose="020B0503020204020204" pitchFamily="34" charset="-122"/>
                          <a:ea typeface="微软雅黑" panose="020B0503020204020204" pitchFamily="34" charset="-122"/>
                        </a:rPr>
                        <a:t>销售部</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10.10.10.129～153，10.10.10.158为网关</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/27</a:t>
                      </a:r>
                    </a:p>
                  </a:txBody>
                  <a:tcPr marL="60125" marR="60125" marT="0" marB="22268" anchor="ctr"/>
                </a:tc>
                <a:extLst>
                  <a:ext uri="{0D108BD9-81ED-4DB2-BD59-A6C34878D82A}">
                    <a16:rowId xmlns:a16="http://schemas.microsoft.com/office/drawing/2014/main" val="10003"/>
                  </a:ext>
                </a:extLst>
              </a:tr>
              <a:tr h="411162">
                <a:tc vMerge="1">
                  <a:txBody>
                    <a:bodyPr/>
                    <a:lstStyle/>
                    <a:p>
                      <a:endParaRPr lang="zh-CN"/>
                    </a:p>
                  </a:txBody>
                  <a:tcP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服务器组</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6</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10.10.10.225～230，10.10.10.238为网关</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/28</a:t>
                      </a:r>
                    </a:p>
                  </a:txBody>
                  <a:tcPr marL="60125" marR="60125" marT="0" marB="22268" anchor="ctr"/>
                </a:tc>
                <a:extLst>
                  <a:ext uri="{0D108BD9-81ED-4DB2-BD59-A6C34878D82A}">
                    <a16:rowId xmlns:a16="http://schemas.microsoft.com/office/drawing/2014/main" val="10004"/>
                  </a:ext>
                </a:extLst>
              </a:tr>
              <a:tr h="411162">
                <a:tc rowSpan="2">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三层</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财务部</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25</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10.10.10.161～185，10.10.10.190为网关</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/27</a:t>
                      </a:r>
                    </a:p>
                  </a:txBody>
                  <a:tcPr marL="60125" marR="60125" marT="0" marB="22268" anchor="ctr"/>
                </a:tc>
                <a:extLst>
                  <a:ext uri="{0D108BD9-81ED-4DB2-BD59-A6C34878D82A}">
                    <a16:rowId xmlns:a16="http://schemas.microsoft.com/office/drawing/2014/main" val="10005"/>
                  </a:ext>
                </a:extLst>
              </a:tr>
              <a:tr h="368128">
                <a:tc vMerge="1">
                  <a:txBody>
                    <a:bodyPr/>
                    <a:lstStyle/>
                    <a:p>
                      <a:endParaRPr lang="zh-CN"/>
                    </a:p>
                  </a:txBody>
                  <a:tcP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客服部</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25</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10.10.10.193～217，10.10.10.222为网关</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/27</a:t>
                      </a:r>
                    </a:p>
                  </a:txBody>
                  <a:tcPr marL="60125" marR="60125" marT="0" marB="22268" anchor="ctr"/>
                </a:tc>
                <a:extLst>
                  <a:ext uri="{0D108BD9-81ED-4DB2-BD59-A6C34878D82A}">
                    <a16:rowId xmlns:a16="http://schemas.microsoft.com/office/drawing/2014/main" val="10006"/>
                  </a:ext>
                </a:extLst>
              </a:tr>
              <a:tr h="406820">
                <a:tc rowSpan="3">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二楼机房</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dirty="0">
                          <a:latin typeface="微软雅黑" panose="020B0503020204020204" pitchFamily="34" charset="-122"/>
                          <a:ea typeface="微软雅黑" panose="020B0503020204020204" pitchFamily="34" charset="-122"/>
                        </a:rPr>
                        <a:t>设备互联地址</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10.10.10.253</a:t>
                      </a:r>
                      <a:r>
                        <a:rPr lang="zh-CN"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254</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/30</a:t>
                      </a:r>
                    </a:p>
                  </a:txBody>
                  <a:tcPr marL="60125" marR="60125" marT="0" marB="22268" anchor="ctr"/>
                </a:tc>
                <a:extLst>
                  <a:ext uri="{0D108BD9-81ED-4DB2-BD59-A6C34878D82A}">
                    <a16:rowId xmlns:a16="http://schemas.microsoft.com/office/drawing/2014/main" val="10007"/>
                  </a:ext>
                </a:extLst>
              </a:tr>
              <a:tr h="171192">
                <a:tc vMerge="1">
                  <a:txBody>
                    <a:bodyPr/>
                    <a:lstStyle/>
                    <a:p>
                      <a:endParaRPr lang="zh-CN"/>
                    </a:p>
                  </a:txBody>
                  <a:tcP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a:latin typeface="微软雅黑" panose="020B0503020204020204" pitchFamily="34" charset="-122"/>
                          <a:ea typeface="微软雅黑" panose="020B0503020204020204" pitchFamily="34" charset="-122"/>
                        </a:rPr>
                        <a:t>交换机管理地址</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4</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10.10.10.241</a:t>
                      </a:r>
                      <a:r>
                        <a:rPr lang="zh-CN"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a:t>
                      </a:r>
                      <a:r>
                        <a:rPr lang="en-US" sz="1600" u="none" kern="1200" baseline="0" dirty="0">
                          <a:latin typeface="微软雅黑" panose="020B0503020204020204" pitchFamily="34" charset="-122"/>
                          <a:ea typeface="微软雅黑" panose="020B0503020204020204" pitchFamily="34" charset="-122"/>
                          <a:cs typeface="微软雅黑" panose="020B0503020204020204" pitchFamily="34" charset="-122"/>
                        </a:rPr>
                        <a:t>244</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/29</a:t>
                      </a:r>
                    </a:p>
                  </a:txBody>
                  <a:tcPr marL="60125" marR="60125" marT="0" marB="22268" anchor="ctr"/>
                </a:tc>
                <a:extLst>
                  <a:ext uri="{0D108BD9-81ED-4DB2-BD59-A6C34878D82A}">
                    <a16:rowId xmlns:a16="http://schemas.microsoft.com/office/drawing/2014/main" val="10008"/>
                  </a:ext>
                </a:extLst>
              </a:tr>
              <a:tr h="411162">
                <a:tc vMerge="1">
                  <a:txBody>
                    <a:bodyPr/>
                    <a:lstStyle/>
                    <a:p>
                      <a:endParaRPr lang="zh-CN"/>
                    </a:p>
                  </a:txBody>
                  <a:tcPr/>
                </a:tc>
                <a:tc>
                  <a:txBody>
                    <a:bodyPr/>
                    <a:lstStyle/>
                    <a:p>
                      <a:pPr marL="0" lvl="0" indent="0" algn="l" defTabSz="685800" rtl="0" eaLnBrk="1" fontAlgn="base" latinLnBrk="0" hangingPunct="1">
                        <a:lnSpc>
                          <a:spcPct val="160000"/>
                        </a:lnSpc>
                        <a:spcBef>
                          <a:spcPct val="0"/>
                        </a:spcBef>
                        <a:spcAft>
                          <a:spcPct val="0"/>
                        </a:spcAft>
                        <a:buFont typeface="+mj-lt"/>
                        <a:buNone/>
                      </a:pPr>
                      <a:r>
                        <a:rPr lang="zh-CN" sz="1600" u="none" kern="1200" baseline="0">
                          <a:latin typeface="微软雅黑" panose="020B0503020204020204" pitchFamily="34" charset="-122"/>
                          <a:ea typeface="微软雅黑" panose="020B0503020204020204" pitchFamily="34" charset="-122"/>
                        </a:rPr>
                        <a:t>路由器管理地址</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a:latin typeface="微软雅黑" panose="020B0503020204020204" pitchFamily="34" charset="-122"/>
                          <a:ea typeface="微软雅黑" panose="020B0503020204020204" pitchFamily="34" charset="-122"/>
                        </a:rPr>
                        <a:t>1</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10.10.10.248</a:t>
                      </a:r>
                    </a:p>
                  </a:txBody>
                  <a:tcPr marL="60125" marR="60125" marT="0" marB="22268" anchor="ctr"/>
                </a:tc>
                <a:tc>
                  <a:txBody>
                    <a:bodyPr/>
                    <a:lstStyle/>
                    <a:p>
                      <a:pPr marL="0" lvl="0" indent="0" algn="l" defTabSz="685800" rtl="0" eaLnBrk="1" fontAlgn="base" latinLnBrk="0" hangingPunct="1">
                        <a:lnSpc>
                          <a:spcPct val="160000"/>
                        </a:lnSpc>
                        <a:spcBef>
                          <a:spcPct val="0"/>
                        </a:spcBef>
                        <a:spcAft>
                          <a:spcPct val="0"/>
                        </a:spcAft>
                        <a:buFont typeface="+mj-lt"/>
                        <a:buNone/>
                      </a:pPr>
                      <a:r>
                        <a:rPr lang="en-US" sz="1600" u="none" kern="1200" baseline="0" dirty="0">
                          <a:latin typeface="微软雅黑" panose="020B0503020204020204" pitchFamily="34" charset="-122"/>
                          <a:ea typeface="微软雅黑" panose="020B0503020204020204" pitchFamily="34" charset="-122"/>
                        </a:rPr>
                        <a:t>/32</a:t>
                      </a:r>
                    </a:p>
                  </a:txBody>
                  <a:tcPr marL="60125" marR="60125" marT="0" marB="22268" anchor="ctr"/>
                </a:tc>
                <a:extLst>
                  <a:ext uri="{0D108BD9-81ED-4DB2-BD59-A6C34878D82A}">
                    <a16:rowId xmlns:a16="http://schemas.microsoft.com/office/drawing/2014/main" val="10009"/>
                  </a:ext>
                </a:extLst>
              </a:tr>
            </a:tbl>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t>29</a:t>
            </a:fld>
            <a:r>
              <a:rPr lang="en-US" altLang="zh-CN" dirty="0"/>
              <a:t>/45</a:t>
            </a:r>
            <a:endParaRPr lang="zh-CN" altLang="en-US" dirty="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小结</a:t>
            </a:r>
          </a:p>
        </p:txBody>
      </p:sp>
      <p:sp>
        <p:nvSpPr>
          <p:cNvPr id="3" name="内容占位符 2"/>
          <p:cNvSpPr>
            <a:spLocks noGrp="1"/>
          </p:cNvSpPr>
          <p:nvPr>
            <p:ph idx="1"/>
          </p:nvPr>
        </p:nvSpPr>
        <p:spPr/>
        <p:txBody>
          <a:bodyPr/>
          <a:lstStyle/>
          <a:p>
            <a:r>
              <a:rPr lang="zh-CN" altLang="en-US"/>
              <a:t>如何计算指定</a:t>
            </a:r>
            <a:r>
              <a:rPr lang="en-US" altLang="zh-CN"/>
              <a:t> </a:t>
            </a:r>
            <a:r>
              <a:rPr lang="zh-CN" altLang="en-US"/>
              <a:t>IP地址的子网地址和广播地址</a:t>
            </a:r>
          </a:p>
          <a:p>
            <a:r>
              <a:rPr lang="zh-CN" altLang="en-US"/>
              <a:t>简述规划</a:t>
            </a:r>
            <a:r>
              <a:rPr lang="en-US" altLang="zh-CN"/>
              <a:t> </a:t>
            </a:r>
            <a:r>
              <a:rPr lang="zh-CN" altLang="en-US"/>
              <a:t>IP地址遵循的“软”规则</a:t>
            </a:r>
          </a:p>
          <a:p>
            <a:r>
              <a:rPr lang="zh-CN" altLang="en-US">
                <a:sym typeface="+mn-ea"/>
              </a:rPr>
              <a:t>简述规划</a:t>
            </a:r>
            <a:r>
              <a:rPr lang="en-US" altLang="zh-CN">
                <a:sym typeface="+mn-ea"/>
              </a:rPr>
              <a:t> </a:t>
            </a:r>
            <a:r>
              <a:rPr lang="zh-CN" altLang="en-US">
                <a:sym typeface="+mn-ea"/>
              </a:rPr>
              <a:t>IP地址遵循的“硬”规则</a:t>
            </a:r>
          </a:p>
          <a:p>
            <a:endParaRPr lang="zh-CN" altLang="en-US"/>
          </a:p>
        </p:txBody>
      </p:sp>
      <p:grpSp>
        <p:nvGrpSpPr>
          <p:cNvPr id="5" name="组合 4"/>
          <p:cNvGrpSpPr/>
          <p:nvPr/>
        </p:nvGrpSpPr>
        <p:grpSpPr>
          <a:xfrm>
            <a:off x="2933700" y="2995295"/>
            <a:ext cx="3218180" cy="3455035"/>
            <a:chOff x="4620" y="4717"/>
            <a:chExt cx="5068" cy="5441"/>
          </a:xfrm>
        </p:grpSpPr>
        <p:pic>
          <p:nvPicPr>
            <p:cNvPr id="17" name="图片 16" descr="摄图网_402090509_迷宫中解决问题等距（企业商用）"/>
            <p:cNvPicPr>
              <a:picLocks noChangeAspect="1"/>
            </p:cNvPicPr>
            <p:nvPr/>
          </p:nvPicPr>
          <p:blipFill>
            <a:blip r:embed="rId6"/>
            <a:stretch>
              <a:fillRect/>
            </a:stretch>
          </p:blipFill>
          <p:spPr>
            <a:xfrm>
              <a:off x="4620" y="4717"/>
              <a:ext cx="5068" cy="5068"/>
            </a:xfrm>
            <a:prstGeom prst="rect">
              <a:avLst/>
            </a:prstGeom>
          </p:spPr>
        </p:pic>
        <p:grpSp>
          <p:nvGrpSpPr>
            <p:cNvPr id="8" name="组合 7"/>
            <p:cNvGrpSpPr/>
            <p:nvPr/>
          </p:nvGrpSpPr>
          <p:grpSpPr>
            <a:xfrm>
              <a:off x="5087" y="9254"/>
              <a:ext cx="4279" cy="904"/>
              <a:chOff x="2635654" y="5025223"/>
              <a:chExt cx="2717165" cy="573757"/>
            </a:xfrm>
          </p:grpSpPr>
          <p:sp>
            <p:nvSpPr>
              <p:cNvPr id="9" name="圆角矩形 8"/>
              <p:cNvSpPr/>
              <p:nvPr>
                <p:custDataLst>
                  <p:tags r:id="rId1"/>
                </p:custDataLst>
              </p:nvPr>
            </p:nvSpPr>
            <p:spPr>
              <a:xfrm>
                <a:off x="2796944" y="5131903"/>
                <a:ext cx="2555875" cy="360045"/>
              </a:xfrm>
              <a:prstGeom prst="round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2"/>
                </p:custDataLst>
              </p:nvPr>
            </p:nvSpPr>
            <p:spPr>
              <a:xfrm>
                <a:off x="2635654" y="5025223"/>
                <a:ext cx="573757" cy="573757"/>
              </a:xfrm>
              <a:prstGeom prst="ellipse">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5"/>
              <p:cNvSpPr txBox="1"/>
              <p:nvPr>
                <p:custDataLst>
                  <p:tags r:id="rId3"/>
                </p:custDataLst>
              </p:nvPr>
            </p:nvSpPr>
            <p:spPr>
              <a:xfrm>
                <a:off x="3272559" y="5142698"/>
                <a:ext cx="2079625" cy="337185"/>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教员解决共性问题</a:t>
                </a:r>
              </a:p>
            </p:txBody>
          </p:sp>
          <p:pic>
            <p:nvPicPr>
              <p:cNvPr id="14" name="图片 13" descr="1"/>
              <p:cNvPicPr>
                <a:picLocks noChangeAspect="1"/>
              </p:cNvPicPr>
              <p:nvPr>
                <p:custDataLst>
                  <p:tags r:id="rId4"/>
                </p:custDataLst>
              </p:nvPr>
            </p:nvPicPr>
            <p:blipFill>
              <a:blip r:embed="rId7"/>
              <a:stretch>
                <a:fillRect/>
              </a:stretch>
            </p:blipFill>
            <p:spPr>
              <a:xfrm>
                <a:off x="2770196" y="5125836"/>
                <a:ext cx="348886" cy="372531"/>
              </a:xfrm>
              <a:prstGeom prst="rect">
                <a:avLst/>
              </a:prstGeom>
            </p:spPr>
          </p:pic>
        </p:grpSp>
      </p:grpSp>
      <p:sp>
        <p:nvSpPr>
          <p:cNvPr id="4" name="灯片编号占位符 3"/>
          <p:cNvSpPr>
            <a:spLocks noGrp="1"/>
          </p:cNvSpPr>
          <p:nvPr>
            <p:ph type="sldNum" sz="quarter" idx="12"/>
          </p:nvPr>
        </p:nvSpPr>
        <p:spPr/>
        <p:txBody>
          <a:bodyPr/>
          <a:lstStyle/>
          <a:p>
            <a:fld id="{0C913308-F349-4B6D-A68A-DD1791B4A57B}" type="slidenum">
              <a:rPr lang="zh-CN" altLang="en-US" smtClean="0"/>
              <a:t>30</a:t>
            </a:fld>
            <a:r>
              <a:rPr lang="en-US" altLang="zh-CN" dirty="0"/>
              <a:t>/45</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en-US" altLang="zh-CN"/>
              <a:t>IP</a:t>
            </a:r>
            <a:r>
              <a:rPr lang="zh-CN" altLang="en-US"/>
              <a:t>地址汇总</a:t>
            </a:r>
            <a:endParaRPr lang="en-US" altLang="zh-CN"/>
          </a:p>
        </p:txBody>
      </p:sp>
      <p:sp>
        <p:nvSpPr>
          <p:cNvPr id="22532" name="Rectangle 3"/>
          <p:cNvSpPr>
            <a:spLocks noGrp="1" noChangeArrowheads="1"/>
          </p:cNvSpPr>
          <p:nvPr>
            <p:ph idx="1"/>
          </p:nvPr>
        </p:nvSpPr>
        <p:spPr/>
        <p:txBody>
          <a:bodyPr/>
          <a:lstStyle/>
          <a:p>
            <a:r>
              <a:rPr lang="en-US" altLang="zh-CN"/>
              <a:t>IP</a:t>
            </a:r>
            <a:r>
              <a:rPr lang="zh-CN" altLang="en-US"/>
              <a:t>地址汇总</a:t>
            </a:r>
            <a:endParaRPr lang="en-US" altLang="zh-CN"/>
          </a:p>
          <a:p>
            <a:pPr lvl="1"/>
            <a:r>
              <a:rPr lang="zh-CN" altLang="en-US"/>
              <a:t>网段</a:t>
            </a:r>
            <a:r>
              <a:rPr lang="en-US" altLang="zh-CN"/>
              <a:t>172.16.0.0/24</a:t>
            </a:r>
            <a:r>
              <a:rPr lang="zh-CN" altLang="en-US"/>
              <a:t>～</a:t>
            </a:r>
            <a:r>
              <a:rPr lang="en-US" altLang="zh-CN"/>
              <a:t>172.16.7.0/24</a:t>
            </a:r>
            <a:r>
              <a:rPr lang="zh-CN" altLang="en-US"/>
              <a:t>汇总成一个网段</a:t>
            </a:r>
            <a:endParaRPr lang="en-US" altLang="zh-CN"/>
          </a:p>
          <a:p>
            <a:pPr lvl="1"/>
            <a:endParaRPr lang="en-US" altLang="zh-CN"/>
          </a:p>
        </p:txBody>
      </p:sp>
      <p:sp>
        <p:nvSpPr>
          <p:cNvPr id="85" name="矩形 84"/>
          <p:cNvSpPr>
            <a:spLocks noChangeArrowheads="1"/>
          </p:cNvSpPr>
          <p:nvPr/>
        </p:nvSpPr>
        <p:spPr bwMode="auto">
          <a:xfrm>
            <a:off x="2746375" y="4962525"/>
            <a:ext cx="5659438" cy="460375"/>
          </a:xfrm>
          <a:prstGeom prst="rect">
            <a:avLst/>
          </a:prstGeom>
          <a:noFill/>
          <a:ln w="9525">
            <a:noFill/>
            <a:miter lim="800000"/>
          </a:ln>
        </p:spPr>
        <p:txBody>
          <a:bodyPr>
            <a:spAutoFit/>
          </a:bodyPr>
          <a:lstStyle/>
          <a:p>
            <a:r>
              <a:rPr lang="en-US" altLang="zh-CN" sz="2400" b="1" dirty="0">
                <a:solidFill>
                  <a:srgbClr val="FF0000"/>
                </a:solidFill>
                <a:latin typeface="宋体" panose="02010600030101010101" pitchFamily="2" charset="-122"/>
                <a:ea typeface="宋体" panose="02010600030101010101" pitchFamily="2" charset="-122"/>
                <a:cs typeface="Arial" panose="020B0604020202020204" pitchFamily="34" charset="0"/>
              </a:rPr>
              <a:t>10101100.00010000.00000</a:t>
            </a:r>
            <a:r>
              <a:rPr lang="en-US" altLang="zh-CN" sz="2400" b="1" dirty="0">
                <a:latin typeface="宋体" panose="02010600030101010101" pitchFamily="2" charset="-122"/>
                <a:ea typeface="宋体" panose="02010600030101010101" pitchFamily="2" charset="-122"/>
                <a:cs typeface="Arial" panose="020B0604020202020204" pitchFamily="34" charset="0"/>
              </a:rPr>
              <a:t>000.00000000</a:t>
            </a:r>
          </a:p>
        </p:txBody>
      </p:sp>
      <p:cxnSp>
        <p:nvCxnSpPr>
          <p:cNvPr id="73" name="直接连接符 72"/>
          <p:cNvCxnSpPr>
            <a:cxnSpLocks noChangeShapeType="1"/>
          </p:cNvCxnSpPr>
          <p:nvPr/>
        </p:nvCxnSpPr>
        <p:spPr bwMode="auto">
          <a:xfrm>
            <a:off x="446088" y="5006975"/>
            <a:ext cx="7923212" cy="1588"/>
          </a:xfrm>
          <a:prstGeom prst="line">
            <a:avLst/>
          </a:prstGeom>
          <a:noFill/>
          <a:ln w="25400" algn="ctr">
            <a:solidFill>
              <a:srgbClr val="FF3300"/>
            </a:solidFill>
            <a:round/>
          </a:ln>
        </p:spPr>
      </p:cxnSp>
      <p:cxnSp>
        <p:nvCxnSpPr>
          <p:cNvPr id="74" name="直接连接符 73"/>
          <p:cNvCxnSpPr>
            <a:cxnSpLocks noChangeShapeType="1"/>
          </p:cNvCxnSpPr>
          <p:nvPr/>
        </p:nvCxnSpPr>
        <p:spPr bwMode="auto">
          <a:xfrm rot="5400000">
            <a:off x="4790948" y="3720199"/>
            <a:ext cx="3190875" cy="3175"/>
          </a:xfrm>
          <a:prstGeom prst="line">
            <a:avLst/>
          </a:prstGeom>
          <a:noFill/>
          <a:ln w="25400" algn="ctr">
            <a:solidFill>
              <a:srgbClr val="FF3300"/>
            </a:solidFill>
            <a:round/>
          </a:ln>
        </p:spPr>
      </p:cxnSp>
      <p:sp>
        <p:nvSpPr>
          <p:cNvPr id="22536" name="矩形 78"/>
          <p:cNvSpPr>
            <a:spLocks noChangeArrowheads="1"/>
          </p:cNvSpPr>
          <p:nvPr/>
        </p:nvSpPr>
        <p:spPr bwMode="auto">
          <a:xfrm>
            <a:off x="409575" y="2073275"/>
            <a:ext cx="2281238" cy="3046095"/>
          </a:xfrm>
          <a:prstGeom prst="rect">
            <a:avLst/>
          </a:prstGeom>
          <a:noFill/>
          <a:ln w="9525">
            <a:noFill/>
            <a:miter lim="800000"/>
          </a:ln>
        </p:spPr>
        <p:txBody>
          <a:bodyPr>
            <a:spAutoFit/>
          </a:bodyPr>
          <a:lstStyle/>
          <a:p>
            <a:r>
              <a:rPr lang="en-US" altLang="zh-CN" sz="2400">
                <a:latin typeface="Arial" panose="020B0604020202020204" pitchFamily="34" charset="0"/>
                <a:ea typeface="微软雅黑" panose="020B0503020204020204" pitchFamily="34" charset="-122"/>
                <a:cs typeface="Arial" panose="020B0604020202020204" pitchFamily="34" charset="0"/>
              </a:rPr>
              <a:t>172.16.0.0/24</a:t>
            </a:r>
          </a:p>
          <a:p>
            <a:r>
              <a:rPr lang="en-US" altLang="zh-CN" sz="2400">
                <a:latin typeface="Arial" panose="020B0604020202020204" pitchFamily="34" charset="0"/>
                <a:ea typeface="微软雅黑" panose="020B0503020204020204" pitchFamily="34" charset="-122"/>
                <a:cs typeface="Arial" panose="020B0604020202020204" pitchFamily="34" charset="0"/>
              </a:rPr>
              <a:t>172.16.1.0/24</a:t>
            </a:r>
          </a:p>
          <a:p>
            <a:r>
              <a:rPr lang="en-US" altLang="zh-CN" sz="2400">
                <a:latin typeface="Arial" panose="020B0604020202020204" pitchFamily="34" charset="0"/>
                <a:ea typeface="微软雅黑" panose="020B0503020204020204" pitchFamily="34" charset="-122"/>
                <a:cs typeface="Arial" panose="020B0604020202020204" pitchFamily="34" charset="0"/>
              </a:rPr>
              <a:t>172.16.2.0/24</a:t>
            </a:r>
          </a:p>
          <a:p>
            <a:r>
              <a:rPr lang="en-US" altLang="zh-CN" sz="2400">
                <a:latin typeface="Arial" panose="020B0604020202020204" pitchFamily="34" charset="0"/>
                <a:ea typeface="微软雅黑" panose="020B0503020204020204" pitchFamily="34" charset="-122"/>
                <a:cs typeface="Arial" panose="020B0604020202020204" pitchFamily="34" charset="0"/>
              </a:rPr>
              <a:t>172.16.3.0/24</a:t>
            </a:r>
          </a:p>
          <a:p>
            <a:r>
              <a:rPr lang="en-US" altLang="zh-CN" sz="2400">
                <a:latin typeface="Arial" panose="020B0604020202020204" pitchFamily="34" charset="0"/>
                <a:ea typeface="微软雅黑" panose="020B0503020204020204" pitchFamily="34" charset="-122"/>
                <a:cs typeface="Arial" panose="020B0604020202020204" pitchFamily="34" charset="0"/>
              </a:rPr>
              <a:t>172.16.4.0/24</a:t>
            </a:r>
          </a:p>
          <a:p>
            <a:r>
              <a:rPr lang="en-US" altLang="zh-CN" sz="2400">
                <a:latin typeface="Arial" panose="020B0604020202020204" pitchFamily="34" charset="0"/>
                <a:ea typeface="微软雅黑" panose="020B0503020204020204" pitchFamily="34" charset="-122"/>
                <a:cs typeface="Arial" panose="020B0604020202020204" pitchFamily="34" charset="0"/>
              </a:rPr>
              <a:t>172.16.5.0/24</a:t>
            </a:r>
          </a:p>
          <a:p>
            <a:r>
              <a:rPr lang="en-US" altLang="zh-CN" sz="2400">
                <a:latin typeface="Arial" panose="020B0604020202020204" pitchFamily="34" charset="0"/>
                <a:ea typeface="微软雅黑" panose="020B0503020204020204" pitchFamily="34" charset="-122"/>
                <a:cs typeface="Arial" panose="020B0604020202020204" pitchFamily="34" charset="0"/>
              </a:rPr>
              <a:t>172.16.6.0/24</a:t>
            </a:r>
          </a:p>
          <a:p>
            <a:r>
              <a:rPr lang="en-US" altLang="zh-CN" sz="2400">
                <a:latin typeface="Arial" panose="020B0604020202020204" pitchFamily="34" charset="0"/>
                <a:ea typeface="微软雅黑" panose="020B0503020204020204" pitchFamily="34" charset="-122"/>
                <a:cs typeface="Arial" panose="020B0604020202020204" pitchFamily="34" charset="0"/>
              </a:rPr>
              <a:t>172.16.7.0/24</a:t>
            </a:r>
          </a:p>
        </p:txBody>
      </p:sp>
      <p:sp>
        <p:nvSpPr>
          <p:cNvPr id="80" name="矩形 79"/>
          <p:cNvSpPr>
            <a:spLocks noChangeArrowheads="1"/>
          </p:cNvSpPr>
          <p:nvPr/>
        </p:nvSpPr>
        <p:spPr bwMode="auto">
          <a:xfrm>
            <a:off x="2755900" y="2041525"/>
            <a:ext cx="5805488" cy="3046095"/>
          </a:xfrm>
          <a:prstGeom prst="rect">
            <a:avLst/>
          </a:prstGeom>
          <a:noFill/>
          <a:ln w="9525">
            <a:noFill/>
            <a:miter lim="800000"/>
          </a:ln>
        </p:spPr>
        <p:txBody>
          <a:bodyPr>
            <a:spAutoFit/>
          </a:bodyPr>
          <a:lstStyle/>
          <a:p>
            <a:r>
              <a:rPr lang="en-US" altLang="zh-CN" sz="2400" b="1">
                <a:latin typeface="宋体" panose="02010600030101010101" pitchFamily="2" charset="-122"/>
                <a:ea typeface="宋体" panose="02010600030101010101" pitchFamily="2" charset="-122"/>
              </a:rPr>
              <a:t>10101100.00010000.00000000.00000000</a:t>
            </a:r>
          </a:p>
          <a:p>
            <a:r>
              <a:rPr lang="en-US" altLang="zh-CN" sz="2400" b="1">
                <a:latin typeface="宋体" panose="02010600030101010101" pitchFamily="2" charset="-122"/>
                <a:ea typeface="宋体" panose="02010600030101010101" pitchFamily="2" charset="-122"/>
              </a:rPr>
              <a:t>10101100.00010000.00000001.00000000</a:t>
            </a:r>
          </a:p>
          <a:p>
            <a:r>
              <a:rPr lang="en-US" altLang="zh-CN" sz="2400" b="1">
                <a:latin typeface="宋体" panose="02010600030101010101" pitchFamily="2" charset="-122"/>
                <a:ea typeface="宋体" panose="02010600030101010101" pitchFamily="2" charset="-122"/>
              </a:rPr>
              <a:t>10101100.00010000.00000010.00000000</a:t>
            </a:r>
          </a:p>
          <a:p>
            <a:r>
              <a:rPr lang="en-US" altLang="zh-CN" sz="2400" b="1">
                <a:latin typeface="宋体" panose="02010600030101010101" pitchFamily="2" charset="-122"/>
                <a:ea typeface="宋体" panose="02010600030101010101" pitchFamily="2" charset="-122"/>
              </a:rPr>
              <a:t>10101100.00010000.00000011.00000000</a:t>
            </a:r>
          </a:p>
          <a:p>
            <a:r>
              <a:rPr lang="en-US" altLang="zh-CN" sz="2400" b="1">
                <a:latin typeface="宋体" panose="02010600030101010101" pitchFamily="2" charset="-122"/>
                <a:ea typeface="宋体" panose="02010600030101010101" pitchFamily="2" charset="-122"/>
              </a:rPr>
              <a:t>10101100.00010000.00000100.00000000</a:t>
            </a:r>
          </a:p>
          <a:p>
            <a:r>
              <a:rPr lang="en-US" altLang="zh-CN" sz="2400" b="1">
                <a:latin typeface="宋体" panose="02010600030101010101" pitchFamily="2" charset="-122"/>
                <a:ea typeface="宋体" panose="02010600030101010101" pitchFamily="2" charset="-122"/>
              </a:rPr>
              <a:t>10101100.00010000.00000101.00000000</a:t>
            </a:r>
          </a:p>
          <a:p>
            <a:r>
              <a:rPr lang="en-US" altLang="zh-CN" sz="2400" b="1">
                <a:latin typeface="宋体" panose="02010600030101010101" pitchFamily="2" charset="-122"/>
                <a:ea typeface="宋体" panose="02010600030101010101" pitchFamily="2" charset="-122"/>
              </a:rPr>
              <a:t>10101100.00010000.00000110.00000000</a:t>
            </a:r>
          </a:p>
          <a:p>
            <a:r>
              <a:rPr lang="en-US" altLang="zh-CN" sz="2400" b="1">
                <a:latin typeface="宋体" panose="02010600030101010101" pitchFamily="2" charset="-122"/>
                <a:ea typeface="宋体" panose="02010600030101010101" pitchFamily="2" charset="-122"/>
              </a:rPr>
              <a:t>10101100.00010000.00000111.00000000</a:t>
            </a:r>
          </a:p>
        </p:txBody>
      </p:sp>
      <p:sp>
        <p:nvSpPr>
          <p:cNvPr id="84" name="矩形 83"/>
          <p:cNvSpPr>
            <a:spLocks noChangeArrowheads="1"/>
          </p:cNvSpPr>
          <p:nvPr/>
        </p:nvSpPr>
        <p:spPr bwMode="auto">
          <a:xfrm>
            <a:off x="2757488" y="2041525"/>
            <a:ext cx="5805487" cy="3046095"/>
          </a:xfrm>
          <a:prstGeom prst="rect">
            <a:avLst/>
          </a:prstGeom>
          <a:noFill/>
          <a:ln w="9525">
            <a:noFill/>
            <a:miter lim="800000"/>
          </a:ln>
        </p:spPr>
        <p:txBody>
          <a:bodyPr>
            <a:spAutoFit/>
          </a:bodyPr>
          <a:lstStyle/>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000.00000000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001.00000000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010.00000000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011.00000000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100.00000000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101.00000000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110.00000000</a:t>
            </a:r>
          </a:p>
          <a:p>
            <a:r>
              <a:rPr lang="en-US" altLang="zh-CN" sz="2400" b="1" dirty="0">
                <a:solidFill>
                  <a:srgbClr val="FF0000"/>
                </a:solidFill>
                <a:latin typeface="宋体" panose="02010600030101010101" pitchFamily="2" charset="-122"/>
                <a:ea typeface="宋体" panose="02010600030101010101" pitchFamily="2" charset="-122"/>
              </a:rPr>
              <a:t>10101100.00010000.00000</a:t>
            </a:r>
            <a:r>
              <a:rPr lang="en-US" altLang="zh-CN" sz="2400" b="1" dirty="0">
                <a:latin typeface="宋体" panose="02010600030101010101" pitchFamily="2" charset="-122"/>
                <a:ea typeface="宋体" panose="02010600030101010101" pitchFamily="2" charset="-122"/>
              </a:rPr>
              <a:t>111.00000000</a:t>
            </a:r>
          </a:p>
        </p:txBody>
      </p:sp>
      <p:sp>
        <p:nvSpPr>
          <p:cNvPr id="86" name="矩形 85"/>
          <p:cNvSpPr>
            <a:spLocks noChangeArrowheads="1"/>
          </p:cNvSpPr>
          <p:nvPr/>
        </p:nvSpPr>
        <p:spPr bwMode="auto">
          <a:xfrm>
            <a:off x="414338" y="4999038"/>
            <a:ext cx="2046605" cy="460375"/>
          </a:xfrm>
          <a:prstGeom prst="rect">
            <a:avLst/>
          </a:prstGeom>
          <a:noFill/>
          <a:ln w="9525">
            <a:noFill/>
            <a:miter lim="800000"/>
          </a:ln>
        </p:spPr>
        <p:txBody>
          <a:bodyPr wrap="none">
            <a:spAutoFit/>
          </a:bodyPr>
          <a:lstStyle/>
          <a:p>
            <a:r>
              <a:rPr lang="en-US" altLang="zh-CN" sz="2400">
                <a:latin typeface="Arial" panose="020B0604020202020204" pitchFamily="34" charset="0"/>
                <a:ea typeface="微软雅黑" panose="020B0503020204020204" pitchFamily="34" charset="-122"/>
                <a:cs typeface="Arial" panose="020B0604020202020204" pitchFamily="34" charset="0"/>
              </a:rPr>
              <a:t>172.16.0.0/21</a:t>
            </a:r>
          </a:p>
        </p:txBody>
      </p:sp>
      <p:sp>
        <p:nvSpPr>
          <p:cNvPr id="87" name="AutoShape 5"/>
          <p:cNvSpPr>
            <a:spLocks noChangeArrowheads="1"/>
          </p:cNvSpPr>
          <p:nvPr/>
        </p:nvSpPr>
        <p:spPr bwMode="auto">
          <a:xfrm>
            <a:off x="1322388" y="5765800"/>
            <a:ext cx="1606550" cy="328613"/>
          </a:xfrm>
          <a:prstGeom prst="wedgeRoundRectCallout">
            <a:avLst>
              <a:gd name="adj1" fmla="val -48228"/>
              <a:gd name="adj2" fmla="val -181450"/>
              <a:gd name="adj3" fmla="val 16667"/>
            </a:avLst>
          </a:prstGeom>
          <a:noFill/>
          <a:ln w="19050">
            <a:solidFill>
              <a:srgbClr val="FFC000"/>
            </a:solidFill>
          </a:ln>
          <a:extLst>
            <a:ext uri="{909E8E84-426E-40DD-AFC4-6F175D3DCCD1}">
              <a14:hiddenFill xmlns:a14="http://schemas.microsoft.com/office/drawing/2010/main">
                <a:solidFill>
                  <a:schemeClr val="accent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l">
              <a:buClrTx/>
              <a:buSzTx/>
              <a:buFontTx/>
            </a:pPr>
            <a:r>
              <a:rPr lang="zh-CN" altLang="en-US">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汇总后的地址</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31</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 calcmode="lin" valueType="num">
                                      <p:cBhvr additive="base">
                                        <p:cTn id="7" dur="500" fill="hold"/>
                                        <p:tgtEl>
                                          <p:spTgt spid="74"/>
                                        </p:tgtEl>
                                        <p:attrNameLst>
                                          <p:attrName>ppt_x</p:attrName>
                                        </p:attrNameLst>
                                      </p:cBhvr>
                                      <p:tavLst>
                                        <p:tav tm="0">
                                          <p:val>
                                            <p:strVal val="#ppt_x"/>
                                          </p:val>
                                        </p:tav>
                                        <p:tav tm="100000">
                                          <p:val>
                                            <p:strVal val="#ppt_x"/>
                                          </p:val>
                                        </p:tav>
                                      </p:tavLst>
                                    </p:anim>
                                    <p:anim calcmode="lin" valueType="num">
                                      <p:cBhvr additive="base">
                                        <p:cTn id="8" dur="500" fill="hold"/>
                                        <p:tgtEl>
                                          <p:spTgt spid="74"/>
                                        </p:tgtEl>
                                        <p:attrNameLst>
                                          <p:attrName>ppt_y</p:attrName>
                                        </p:attrNameLst>
                                      </p:cBhvr>
                                      <p:tavLst>
                                        <p:tav tm="0">
                                          <p:val>
                                            <p:strVal val="1+#ppt_h/2"/>
                                          </p:val>
                                        </p:tav>
                                        <p:tav tm="100000">
                                          <p:val>
                                            <p:strVal val="#ppt_y"/>
                                          </p:val>
                                        </p:tav>
                                      </p:tavLst>
                                    </p:anim>
                                  </p:childTnLst>
                                </p:cTn>
                              </p:par>
                              <p:par>
                                <p:cTn id="9" presetID="10" presetClass="exit" presetSubtype="0" fill="hold" nodeType="withEffect">
                                  <p:stCondLst>
                                    <p:cond delay="0"/>
                                  </p:stCondLst>
                                  <p:childTnLst>
                                    <p:animEffect transition="out" filter="fade">
                                      <p:cBhvr>
                                        <p:cTn id="10" dur="1000"/>
                                        <p:tgtEl>
                                          <p:spTgt spid="80"/>
                                        </p:tgtEl>
                                      </p:cBhvr>
                                    </p:animEffect>
                                    <p:set>
                                      <p:cBhvr>
                                        <p:cTn id="11" dur="1" fill="hold">
                                          <p:stCondLst>
                                            <p:cond delay="999"/>
                                          </p:stCondLst>
                                        </p:cTn>
                                        <p:tgtEl>
                                          <p:spTgt spid="80"/>
                                        </p:tgtEl>
                                        <p:attrNameLst>
                                          <p:attrName>style.visibility</p:attrName>
                                        </p:attrNameLst>
                                      </p:cBhvr>
                                      <p:to>
                                        <p:strVal val="hidden"/>
                                      </p:to>
                                    </p:set>
                                  </p:childTnLst>
                                </p:cTn>
                              </p:par>
                              <p:par>
                                <p:cTn id="12" presetID="10" presetClass="entr" presetSubtype="0" fill="hold" nodeType="withEffect">
                                  <p:stCondLst>
                                    <p:cond delay="0"/>
                                  </p:stCondLst>
                                  <p:childTnLst>
                                    <p:set>
                                      <p:cBhvr>
                                        <p:cTn id="13" dur="1" fill="hold">
                                          <p:stCondLst>
                                            <p:cond delay="0"/>
                                          </p:stCondLst>
                                        </p:cTn>
                                        <p:tgtEl>
                                          <p:spTgt spid="84"/>
                                        </p:tgtEl>
                                        <p:attrNameLst>
                                          <p:attrName>style.visibility</p:attrName>
                                        </p:attrNameLst>
                                      </p:cBhvr>
                                      <p:to>
                                        <p:strVal val="visible"/>
                                      </p:to>
                                    </p:set>
                                    <p:animEffect transition="in" filter="fade">
                                      <p:cBhvr>
                                        <p:cTn id="14" dur="500"/>
                                        <p:tgtEl>
                                          <p:spTgt spid="84"/>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73"/>
                                        </p:tgtEl>
                                        <p:attrNameLst>
                                          <p:attrName>style.visibility</p:attrName>
                                        </p:attrNameLst>
                                      </p:cBhvr>
                                      <p:to>
                                        <p:strVal val="visible"/>
                                      </p:to>
                                    </p:set>
                                    <p:anim calcmode="lin" valueType="num">
                                      <p:cBhvr additive="base">
                                        <p:cTn id="19" dur="500" fill="hold"/>
                                        <p:tgtEl>
                                          <p:spTgt spid="73"/>
                                        </p:tgtEl>
                                        <p:attrNameLst>
                                          <p:attrName>ppt_x</p:attrName>
                                        </p:attrNameLst>
                                      </p:cBhvr>
                                      <p:tavLst>
                                        <p:tav tm="0">
                                          <p:val>
                                            <p:strVal val="0-#ppt_w/2"/>
                                          </p:val>
                                        </p:tav>
                                        <p:tav tm="100000">
                                          <p:val>
                                            <p:strVal val="#ppt_x"/>
                                          </p:val>
                                        </p:tav>
                                      </p:tavLst>
                                    </p:anim>
                                    <p:anim calcmode="lin" valueType="num">
                                      <p:cBhvr additive="base">
                                        <p:cTn id="20" dur="500" fill="hold"/>
                                        <p:tgtEl>
                                          <p:spTgt spid="73"/>
                                        </p:tgtEl>
                                        <p:attrNameLst>
                                          <p:attrName>ppt_y</p:attrName>
                                        </p:attrNameLst>
                                      </p:cBhvr>
                                      <p:tavLst>
                                        <p:tav tm="0">
                                          <p:val>
                                            <p:strVal val="#ppt_y"/>
                                          </p:val>
                                        </p:tav>
                                        <p:tav tm="100000">
                                          <p:val>
                                            <p:strVal val="#ppt_y"/>
                                          </p:val>
                                        </p:tav>
                                      </p:tavLst>
                                    </p:anim>
                                  </p:childTnLst>
                                </p:cTn>
                              </p:par>
                              <p:par>
                                <p:cTn id="21" presetID="10" presetClass="exit" presetSubtype="0" fill="hold" nodeType="withEffect">
                                  <p:stCondLst>
                                    <p:cond delay="0"/>
                                  </p:stCondLst>
                                  <p:childTnLst>
                                    <p:animEffect transition="out" filter="fade">
                                      <p:cBhvr>
                                        <p:cTn id="22" dur="500"/>
                                        <p:tgtEl>
                                          <p:spTgt spid="84"/>
                                        </p:tgtEl>
                                      </p:cBhvr>
                                    </p:animEffect>
                                    <p:set>
                                      <p:cBhvr>
                                        <p:cTn id="23" dur="1" fill="hold">
                                          <p:stCondLst>
                                            <p:cond delay="499"/>
                                          </p:stCondLst>
                                        </p:cTn>
                                        <p:tgtEl>
                                          <p:spTgt spid="84"/>
                                        </p:tgtEl>
                                        <p:attrNameLst>
                                          <p:attrName>style.visibility</p:attrName>
                                        </p:attrNameLst>
                                      </p:cBhvr>
                                      <p:to>
                                        <p:strVal val="hidden"/>
                                      </p:to>
                                    </p:set>
                                  </p:childTnLst>
                                </p:cTn>
                              </p:par>
                              <p:par>
                                <p:cTn id="24" presetID="10" presetClass="entr" presetSubtype="0" fill="hold" nodeType="withEffect">
                                  <p:stCondLst>
                                    <p:cond delay="0"/>
                                  </p:stCondLst>
                                  <p:childTnLst>
                                    <p:set>
                                      <p:cBhvr>
                                        <p:cTn id="25" dur="1" fill="hold">
                                          <p:stCondLst>
                                            <p:cond delay="0"/>
                                          </p:stCondLst>
                                        </p:cTn>
                                        <p:tgtEl>
                                          <p:spTgt spid="80"/>
                                        </p:tgtEl>
                                        <p:attrNameLst>
                                          <p:attrName>style.visibility</p:attrName>
                                        </p:attrNameLst>
                                      </p:cBhvr>
                                      <p:to>
                                        <p:strVal val="visible"/>
                                      </p:to>
                                    </p:set>
                                    <p:animEffect transition="in" filter="fade">
                                      <p:cBhvr>
                                        <p:cTn id="26" dur="500"/>
                                        <p:tgtEl>
                                          <p:spTgt spid="80"/>
                                        </p:tgtEl>
                                      </p:cBhvr>
                                    </p:animEffect>
                                  </p:childTnLst>
                                </p:cTn>
                              </p:par>
                              <p:par>
                                <p:cTn id="27" presetID="2" presetClass="entr" presetSubtype="4" fill="hold" nodeType="withEffect">
                                  <p:stCondLst>
                                    <p:cond delay="0"/>
                                  </p:stCondLst>
                                  <p:childTnLst>
                                    <p:set>
                                      <p:cBhvr>
                                        <p:cTn id="28" dur="1" fill="hold">
                                          <p:stCondLst>
                                            <p:cond delay="0"/>
                                          </p:stCondLst>
                                        </p:cTn>
                                        <p:tgtEl>
                                          <p:spTgt spid="85"/>
                                        </p:tgtEl>
                                        <p:attrNameLst>
                                          <p:attrName>style.visibility</p:attrName>
                                        </p:attrNameLst>
                                      </p:cBhvr>
                                      <p:to>
                                        <p:strVal val="visible"/>
                                      </p:to>
                                    </p:set>
                                    <p:anim calcmode="lin" valueType="num">
                                      <p:cBhvr additive="base">
                                        <p:cTn id="29" dur="500" fill="hold"/>
                                        <p:tgtEl>
                                          <p:spTgt spid="85"/>
                                        </p:tgtEl>
                                        <p:attrNameLst>
                                          <p:attrName>ppt_x</p:attrName>
                                        </p:attrNameLst>
                                      </p:cBhvr>
                                      <p:tavLst>
                                        <p:tav tm="0">
                                          <p:val>
                                            <p:strVal val="#ppt_x"/>
                                          </p:val>
                                        </p:tav>
                                        <p:tav tm="100000">
                                          <p:val>
                                            <p:strVal val="#ppt_x"/>
                                          </p:val>
                                        </p:tav>
                                      </p:tavLst>
                                    </p:anim>
                                    <p:anim calcmode="lin" valueType="num">
                                      <p:cBhvr additive="base">
                                        <p:cTn id="30"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86"/>
                                        </p:tgtEl>
                                        <p:attrNameLst>
                                          <p:attrName>style.visibility</p:attrName>
                                        </p:attrNameLst>
                                      </p:cBhvr>
                                      <p:to>
                                        <p:strVal val="visible"/>
                                      </p:to>
                                    </p:set>
                                    <p:anim calcmode="lin" valueType="num">
                                      <p:cBhvr additive="base">
                                        <p:cTn id="35" dur="500" fill="hold"/>
                                        <p:tgtEl>
                                          <p:spTgt spid="86"/>
                                        </p:tgtEl>
                                        <p:attrNameLst>
                                          <p:attrName>ppt_x</p:attrName>
                                        </p:attrNameLst>
                                      </p:cBhvr>
                                      <p:tavLst>
                                        <p:tav tm="0">
                                          <p:val>
                                            <p:strVal val="#ppt_x"/>
                                          </p:val>
                                        </p:tav>
                                        <p:tav tm="100000">
                                          <p:val>
                                            <p:strVal val="#ppt_x"/>
                                          </p:val>
                                        </p:tav>
                                      </p:tavLst>
                                    </p:anim>
                                    <p:anim calcmode="lin" valueType="num">
                                      <p:cBhvr additive="base">
                                        <p:cTn id="36" dur="500" fill="hold"/>
                                        <p:tgtEl>
                                          <p:spTgt spid="86"/>
                                        </p:tgtEl>
                                        <p:attrNameLst>
                                          <p:attrName>ppt_y</p:attrName>
                                        </p:attrNameLst>
                                      </p:cBhvr>
                                      <p:tavLst>
                                        <p:tav tm="0">
                                          <p:val>
                                            <p:strVal val="1+#ppt_h/2"/>
                                          </p:val>
                                        </p:tav>
                                        <p:tav tm="100000">
                                          <p:val>
                                            <p:strVal val="#ppt_y"/>
                                          </p:val>
                                        </p:tav>
                                      </p:tavLst>
                                    </p:anim>
                                  </p:childTnLst>
                                </p:cTn>
                              </p:par>
                            </p:childTnLst>
                          </p:cTn>
                        </p:par>
                        <p:par>
                          <p:cTn id="37" fill="hold">
                            <p:stCondLst>
                              <p:cond delay="500"/>
                            </p:stCondLst>
                            <p:childTnLst>
                              <p:par>
                                <p:cTn id="38" presetID="22" presetClass="entr" presetSubtype="8" fill="hold" grpId="0" nodeType="afterEffect">
                                  <p:stCondLst>
                                    <p:cond delay="0"/>
                                  </p:stCondLst>
                                  <p:childTnLst>
                                    <p:set>
                                      <p:cBhvr>
                                        <p:cTn id="39" dur="1" fill="hold">
                                          <p:stCondLst>
                                            <p:cond delay="0"/>
                                          </p:stCondLst>
                                        </p:cTn>
                                        <p:tgtEl>
                                          <p:spTgt spid="87"/>
                                        </p:tgtEl>
                                        <p:attrNameLst>
                                          <p:attrName>style.visibility</p:attrName>
                                        </p:attrNameLst>
                                      </p:cBhvr>
                                      <p:to>
                                        <p:strVal val="visible"/>
                                      </p:to>
                                    </p:set>
                                    <p:animEffect transition="in" filter="wipe(left)">
                                      <p:cBhvr>
                                        <p:cTn id="40" dur="500"/>
                                        <p:tgtEl>
                                          <p:spTgt spid="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标题 2"/>
          <p:cNvSpPr>
            <a:spLocks noGrp="1"/>
          </p:cNvSpPr>
          <p:nvPr>
            <p:ph type="title"/>
          </p:nvPr>
        </p:nvSpPr>
        <p:spPr/>
        <p:txBody>
          <a:bodyPr/>
          <a:lstStyle/>
          <a:p>
            <a:r>
              <a:rPr lang="en-US" altLang="zh-CN"/>
              <a:t>IP</a:t>
            </a:r>
            <a:r>
              <a:rPr lang="zh-CN" altLang="en-US"/>
              <a:t>地址汇总</a:t>
            </a:r>
            <a:endParaRPr lang="en-US" altLang="zh-CN"/>
          </a:p>
        </p:txBody>
      </p:sp>
      <p:sp>
        <p:nvSpPr>
          <p:cNvPr id="36866" name="内容占位符 1"/>
          <p:cNvSpPr>
            <a:spLocks noGrp="1"/>
          </p:cNvSpPr>
          <p:nvPr>
            <p:ph idx="1"/>
          </p:nvPr>
        </p:nvSpPr>
        <p:spPr/>
        <p:txBody>
          <a:bodyPr/>
          <a:lstStyle/>
          <a:p>
            <a:r>
              <a:rPr lang="zh-CN" altLang="en-US"/>
              <a:t>超网</a:t>
            </a:r>
          </a:p>
          <a:p>
            <a:pPr lvl="1"/>
            <a:r>
              <a:rPr lang="zh-CN" altLang="en-US"/>
              <a:t>使用一个子网掩码将多个有类别的网络（有类地址）聚合成单个网络地址</a:t>
            </a:r>
            <a:endParaRPr lang="en-US" altLang="zh-CN"/>
          </a:p>
          <a:p>
            <a:pPr lvl="1"/>
            <a:endParaRPr lang="en-US" altLang="zh-CN"/>
          </a:p>
          <a:p>
            <a:pPr marL="323850" lvl="1" indent="0">
              <a:buNone/>
            </a:pPr>
            <a:r>
              <a:rPr lang="en-US" altLang="zh-CN"/>
              <a:t>193.168.0.0/24</a:t>
            </a:r>
          </a:p>
          <a:p>
            <a:pPr marL="323850" lvl="1" indent="0">
              <a:buNone/>
            </a:pPr>
            <a:r>
              <a:rPr lang="en-US" altLang="zh-CN"/>
              <a:t>                             	193.168.0.0/23</a:t>
            </a:r>
          </a:p>
          <a:p>
            <a:pPr marL="323850" lvl="1" indent="0">
              <a:buNone/>
            </a:pPr>
            <a:r>
              <a:rPr lang="en-US" altLang="zh-CN"/>
              <a:t>193.168.1.0/24</a:t>
            </a:r>
            <a:endParaRPr lang="zh-CN" altLang="en-US"/>
          </a:p>
          <a:p>
            <a:endParaRPr lang="zh-CN" altLang="en-US"/>
          </a:p>
        </p:txBody>
      </p:sp>
      <p:sp>
        <p:nvSpPr>
          <p:cNvPr id="4" name="AutoShape 8"/>
          <p:cNvSpPr/>
          <p:nvPr/>
        </p:nvSpPr>
        <p:spPr bwMode="auto">
          <a:xfrm flipH="1">
            <a:off x="2701925" y="2564765"/>
            <a:ext cx="314325" cy="868045"/>
          </a:xfrm>
          <a:prstGeom prst="leftBrace">
            <a:avLst>
              <a:gd name="adj1" fmla="val 49016"/>
              <a:gd name="adj2" fmla="val 50000"/>
            </a:avLst>
          </a:prstGeom>
          <a:noFill/>
          <a:ln w="28575">
            <a:solidFill>
              <a:srgbClr val="000000"/>
            </a:solidFill>
            <a:round/>
          </a:ln>
        </p:spPr>
        <p:txBody>
          <a:bodyPr wrap="none" anchor="ctr"/>
          <a:lstStyle/>
          <a:p>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32</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866">
                                            <p:txEl>
                                              <p:pRg st="3" end="3"/>
                                            </p:txEl>
                                          </p:spTgt>
                                        </p:tgtEl>
                                        <p:attrNameLst>
                                          <p:attrName>style.visibility</p:attrName>
                                        </p:attrNameLst>
                                      </p:cBhvr>
                                      <p:to>
                                        <p:strVal val="visible"/>
                                      </p:to>
                                    </p:set>
                                    <p:animEffect transition="in" filter="wipe(left)">
                                      <p:cBhvr>
                                        <p:cTn id="7" dur="500"/>
                                        <p:tgtEl>
                                          <p:spTgt spid="36866">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6866">
                                            <p:txEl>
                                              <p:pRg st="5" end="5"/>
                                            </p:txEl>
                                          </p:spTgt>
                                        </p:tgtEl>
                                        <p:attrNameLst>
                                          <p:attrName>style.visibility</p:attrName>
                                        </p:attrNameLst>
                                      </p:cBhvr>
                                      <p:to>
                                        <p:strVal val="visible"/>
                                      </p:to>
                                    </p:set>
                                    <p:animEffect transition="in" filter="wipe(left)">
                                      <p:cBhvr>
                                        <p:cTn id="10" dur="500"/>
                                        <p:tgtEl>
                                          <p:spTgt spid="36866">
                                            <p:txEl>
                                              <p:pRg st="5" end="5"/>
                                            </p:txEl>
                                          </p:spTgt>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left)">
                                      <p:cBhvr>
                                        <p:cTn id="14" dur="500"/>
                                        <p:tgtEl>
                                          <p:spTgt spid="4"/>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36866">
                                            <p:txEl>
                                              <p:pRg st="4" end="4"/>
                                            </p:txEl>
                                          </p:spTgt>
                                        </p:tgtEl>
                                        <p:attrNameLst>
                                          <p:attrName>style.visibility</p:attrName>
                                        </p:attrNameLst>
                                      </p:cBhvr>
                                      <p:to>
                                        <p:strVal val="visible"/>
                                      </p:to>
                                    </p:set>
                                    <p:animEffect transition="in" filter="wipe(left)">
                                      <p:cBhvr>
                                        <p:cTn id="18" dur="500"/>
                                        <p:tgtEl>
                                          <p:spTgt spid="3686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标题 2"/>
          <p:cNvSpPr>
            <a:spLocks noGrp="1"/>
          </p:cNvSpPr>
          <p:nvPr>
            <p:ph type="title"/>
          </p:nvPr>
        </p:nvSpPr>
        <p:spPr/>
        <p:txBody>
          <a:bodyPr/>
          <a:lstStyle/>
          <a:p>
            <a:r>
              <a:rPr lang="zh-CN" altLang="en-US"/>
              <a:t>请思考</a:t>
            </a:r>
          </a:p>
        </p:txBody>
      </p:sp>
      <p:sp>
        <p:nvSpPr>
          <p:cNvPr id="28674" name="内容占位符 1"/>
          <p:cNvSpPr>
            <a:spLocks noGrp="1"/>
          </p:cNvSpPr>
          <p:nvPr>
            <p:ph idx="1"/>
          </p:nvPr>
        </p:nvSpPr>
        <p:spPr/>
        <p:txBody>
          <a:bodyPr/>
          <a:lstStyle/>
          <a:p>
            <a:r>
              <a:rPr lang="zh-CN" altLang="en-US"/>
              <a:t>将下面</a:t>
            </a:r>
            <a:r>
              <a:rPr lang="en-US" altLang="zh-CN"/>
              <a:t>IP</a:t>
            </a:r>
            <a:r>
              <a:rPr lang="zh-CN" altLang="en-US"/>
              <a:t>地址段汇总成为一个地址段，要求汇总地址恰好包含所有地址，即要求汇总地址段子网掩码最长</a:t>
            </a:r>
          </a:p>
          <a:p>
            <a:pPr lvl="2"/>
            <a:r>
              <a:rPr lang="en-US" altLang="zh-CN"/>
              <a:t>10.16.5.0/24</a:t>
            </a:r>
            <a:r>
              <a:rPr lang="zh-CN" altLang="en-US"/>
              <a:t>、</a:t>
            </a:r>
            <a:r>
              <a:rPr lang="en-US" altLang="zh-CN"/>
              <a:t>10.16.7.0/24</a:t>
            </a:r>
            <a:r>
              <a:rPr lang="zh-CN" altLang="en-US"/>
              <a:t>、</a:t>
            </a:r>
            <a:r>
              <a:rPr lang="en-US" altLang="zh-CN"/>
              <a:t>10.16.8.0/24</a:t>
            </a:r>
            <a:endParaRPr lang="zh-CN" altLang="en-US"/>
          </a:p>
          <a:p>
            <a:pPr lvl="2"/>
            <a:r>
              <a:rPr lang="en-US" altLang="zh-CN"/>
              <a:t>192.168.5.8/29</a:t>
            </a:r>
            <a:r>
              <a:rPr lang="zh-CN" altLang="en-US"/>
              <a:t>、</a:t>
            </a:r>
            <a:r>
              <a:rPr lang="en-US" altLang="zh-CN"/>
              <a:t>192.168.5.16/28</a:t>
            </a:r>
          </a:p>
          <a:p>
            <a:pPr lvl="2"/>
            <a:endParaRPr lang="en-US" altLang="zh-CN"/>
          </a:p>
        </p:txBody>
      </p:sp>
      <p:pic>
        <p:nvPicPr>
          <p:cNvPr id="5" name="图片 4" descr="摄图网_401538411_问号（企业商用）"/>
          <p:cNvPicPr>
            <a:picLocks noChangeAspect="1"/>
          </p:cNvPicPr>
          <p:nvPr>
            <p:custDataLst>
              <p:tags r:id="rId1"/>
            </p:custDataLst>
          </p:nvPr>
        </p:nvPicPr>
        <p:blipFill>
          <a:blip r:embed="rId4"/>
          <a:stretch>
            <a:fillRect/>
          </a:stretch>
        </p:blipFill>
        <p:spPr>
          <a:xfrm>
            <a:off x="2555875" y="2916555"/>
            <a:ext cx="3660775" cy="3660775"/>
          </a:xfrm>
          <a:prstGeom prst="rect">
            <a:avLst/>
          </a:prstGeom>
        </p:spPr>
      </p:pic>
      <p:sp>
        <p:nvSpPr>
          <p:cNvPr id="2" name="灯片编号占位符 1"/>
          <p:cNvSpPr>
            <a:spLocks noGrp="1"/>
          </p:cNvSpPr>
          <p:nvPr>
            <p:ph type="sldNum" sz="quarter" idx="12"/>
          </p:nvPr>
        </p:nvSpPr>
        <p:spPr/>
        <p:txBody>
          <a:bodyPr/>
          <a:lstStyle/>
          <a:p>
            <a:fld id="{0C913308-F349-4B6D-A68A-DD1791B4A57B}" type="slidenum">
              <a:rPr lang="zh-CN" altLang="en-US" smtClean="0"/>
              <a:t>33</a:t>
            </a:fld>
            <a:r>
              <a:rPr lang="en-US" altLang="zh-CN" dirty="0"/>
              <a:t>/45</a:t>
            </a:r>
            <a:endParaRPr lang="zh-CN" altLang="en-US" dirty="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标题 2"/>
          <p:cNvSpPr>
            <a:spLocks noGrp="1"/>
          </p:cNvSpPr>
          <p:nvPr>
            <p:ph type="title"/>
          </p:nvPr>
        </p:nvSpPr>
        <p:spPr/>
        <p:txBody>
          <a:bodyPr/>
          <a:lstStyle/>
          <a:p>
            <a:r>
              <a:rPr lang="zh-CN" altLang="zh-CN"/>
              <a:t>IP</a:t>
            </a:r>
            <a:r>
              <a:rPr lang="zh-CN"/>
              <a:t>地址规划及应用</a:t>
            </a:r>
            <a:endParaRPr lang="zh-CN" altLang="en-US"/>
          </a:p>
        </p:txBody>
      </p:sp>
      <p:sp>
        <p:nvSpPr>
          <p:cNvPr id="36866" name="内容占位符 1"/>
          <p:cNvSpPr>
            <a:spLocks noGrp="1"/>
          </p:cNvSpPr>
          <p:nvPr>
            <p:ph idx="1"/>
          </p:nvPr>
        </p:nvSpPr>
        <p:spPr/>
        <p:txBody>
          <a:bodyPr/>
          <a:lstStyle/>
          <a:p>
            <a:r>
              <a:rPr lang="en-US" altLang="zh-CN"/>
              <a:t>IP</a:t>
            </a:r>
            <a:r>
              <a:rPr lang="zh-CN" altLang="en-US"/>
              <a:t>地址规划原则</a:t>
            </a:r>
          </a:p>
          <a:p>
            <a:pPr lvl="1"/>
            <a:r>
              <a:rPr lang="zh-CN" altLang="en-US"/>
              <a:t>唯一性</a:t>
            </a:r>
          </a:p>
          <a:p>
            <a:pPr lvl="2"/>
            <a:r>
              <a:rPr lang="zh-CN" altLang="en-US"/>
              <a:t>IP地址是主机和设备在网络中的标识</a:t>
            </a:r>
          </a:p>
          <a:p>
            <a:pPr lvl="2"/>
            <a:r>
              <a:rPr lang="zh-CN" altLang="en-US"/>
              <a:t>一个IP网络中不能有两个主机使用相同的IP地址，否则将无法寻址</a:t>
            </a:r>
          </a:p>
          <a:p>
            <a:pPr lvl="1"/>
            <a:r>
              <a:rPr lang="zh-CN" altLang="en-US"/>
              <a:t>可扩展性</a:t>
            </a:r>
          </a:p>
          <a:p>
            <a:pPr lvl="2"/>
            <a:r>
              <a:rPr lang="zh-CN" altLang="en-US"/>
              <a:t>IP地址分配时，要留有余量，以满足网络扩展的需要</a:t>
            </a:r>
          </a:p>
          <a:p>
            <a:pPr lvl="1"/>
            <a:r>
              <a:rPr lang="zh-CN" altLang="en-US"/>
              <a:t>连续性</a:t>
            </a:r>
          </a:p>
          <a:p>
            <a:pPr lvl="2"/>
            <a:r>
              <a:rPr lang="zh-CN" altLang="en-US"/>
              <a:t>分配连续的 IP地址要有利于地址管理和地址汇总</a:t>
            </a:r>
          </a:p>
          <a:p>
            <a:pPr lvl="1"/>
            <a:r>
              <a:rPr lang="zh-CN" altLang="en-US"/>
              <a:t>实意性</a:t>
            </a:r>
          </a:p>
          <a:p>
            <a:pPr lvl="2"/>
            <a:r>
              <a:rPr lang="en-US" altLang="zh-CN"/>
              <a:t>在分配IP地址时</a:t>
            </a:r>
            <a:r>
              <a:rPr lang="zh-CN" altLang="en-US"/>
              <a:t>，</a:t>
            </a:r>
            <a:r>
              <a:rPr lang="en-US" altLang="zh-CN"/>
              <a:t>尽量使所分配的IP地址具有一定的实际意义</a:t>
            </a:r>
          </a:p>
          <a:p>
            <a:r>
              <a:rPr lang="en-US" altLang="zh-CN"/>
              <a:t>IP</a:t>
            </a:r>
            <a:r>
              <a:rPr lang="zh-CN" altLang="en-US"/>
              <a:t>地址规划注意事项</a:t>
            </a:r>
          </a:p>
          <a:p>
            <a:pPr lvl="1"/>
            <a:r>
              <a:rPr lang="zh-CN" altLang="en-US"/>
              <a:t>配置Loopback地址时，使用的子网掩码为32</a:t>
            </a:r>
          </a:p>
          <a:p>
            <a:pPr lvl="1"/>
            <a:r>
              <a:rPr lang="zh-CN" altLang="en-US"/>
              <a:t>配置互联地址时，使用的子网掩码为30</a:t>
            </a:r>
          </a:p>
          <a:p>
            <a:pPr lvl="1"/>
            <a:r>
              <a:rPr lang="zh-CN"/>
              <a:t>要</a:t>
            </a:r>
            <a:r>
              <a:t>对各业务网关进行统一设定</a:t>
            </a:r>
          </a:p>
          <a:p>
            <a:endParaRPr lang="zh-CN" altLang="en-US"/>
          </a:p>
        </p:txBody>
      </p:sp>
      <p:sp>
        <p:nvSpPr>
          <p:cNvPr id="2" name="灯片编号占位符 1"/>
          <p:cNvSpPr>
            <a:spLocks noGrp="1"/>
          </p:cNvSpPr>
          <p:nvPr>
            <p:ph type="sldNum" sz="quarter" idx="12"/>
          </p:nvPr>
        </p:nvSpPr>
        <p:spPr/>
        <p:txBody>
          <a:bodyPr/>
          <a:lstStyle/>
          <a:p>
            <a:fld id="{0C913308-F349-4B6D-A68A-DD1791B4A57B}" type="slidenum">
              <a:rPr lang="zh-CN" altLang="en-US" smtClean="0"/>
              <a:t>34</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6866">
                                            <p:txEl>
                                              <p:pRg st="10" end="10"/>
                                            </p:txEl>
                                          </p:spTgt>
                                        </p:tgtEl>
                                        <p:attrNameLst>
                                          <p:attrName>style.visibility</p:attrName>
                                        </p:attrNameLst>
                                      </p:cBhvr>
                                      <p:to>
                                        <p:strVal val="visible"/>
                                      </p:to>
                                    </p:set>
                                    <p:animEffect transition="in" filter="blinds(horizontal)">
                                      <p:cBhvr>
                                        <p:cTn id="7" dur="500"/>
                                        <p:tgtEl>
                                          <p:spTgt spid="36866">
                                            <p:txEl>
                                              <p:pRg st="10" end="1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6866">
                                            <p:txEl>
                                              <p:pRg st="11" end="11"/>
                                            </p:txEl>
                                          </p:spTgt>
                                        </p:tgtEl>
                                        <p:attrNameLst>
                                          <p:attrName>style.visibility</p:attrName>
                                        </p:attrNameLst>
                                      </p:cBhvr>
                                      <p:to>
                                        <p:strVal val="visible"/>
                                      </p:to>
                                    </p:set>
                                    <p:animEffect transition="in" filter="blinds(horizontal)">
                                      <p:cBhvr>
                                        <p:cTn id="10" dur="500"/>
                                        <p:tgtEl>
                                          <p:spTgt spid="36866">
                                            <p:txEl>
                                              <p:pRg st="11" end="1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6866">
                                            <p:txEl>
                                              <p:pRg st="12" end="12"/>
                                            </p:txEl>
                                          </p:spTgt>
                                        </p:tgtEl>
                                        <p:attrNameLst>
                                          <p:attrName>style.visibility</p:attrName>
                                        </p:attrNameLst>
                                      </p:cBhvr>
                                      <p:to>
                                        <p:strVal val="visible"/>
                                      </p:to>
                                    </p:set>
                                    <p:animEffect transition="in" filter="blinds(horizontal)">
                                      <p:cBhvr>
                                        <p:cTn id="13" dur="500"/>
                                        <p:tgtEl>
                                          <p:spTgt spid="36866">
                                            <p:txEl>
                                              <p:pRg st="12" end="12"/>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6866">
                                            <p:txEl>
                                              <p:pRg st="13" end="13"/>
                                            </p:txEl>
                                          </p:spTgt>
                                        </p:tgtEl>
                                        <p:attrNameLst>
                                          <p:attrName>style.visibility</p:attrName>
                                        </p:attrNameLst>
                                      </p:cBhvr>
                                      <p:to>
                                        <p:strVal val="visible"/>
                                      </p:to>
                                    </p:set>
                                    <p:animEffect transition="in" filter="blinds(horizontal)">
                                      <p:cBhvr>
                                        <p:cTn id="16" dur="500"/>
                                        <p:tgtEl>
                                          <p:spTgt spid="36866">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标题 2"/>
          <p:cNvSpPr>
            <a:spLocks noGrp="1"/>
          </p:cNvSpPr>
          <p:nvPr>
            <p:ph type="title"/>
          </p:nvPr>
        </p:nvSpPr>
        <p:spPr/>
        <p:txBody>
          <a:bodyPr/>
          <a:lstStyle/>
          <a:p>
            <a:r>
              <a:rPr lang="en-US" altLang="zh-CN"/>
              <a:t>IP</a:t>
            </a:r>
            <a:r>
              <a:rPr lang="zh-CN" altLang="en-US"/>
              <a:t>地址规划及应用</a:t>
            </a:r>
            <a:endParaRPr lang="en-US" altLang="zh-CN"/>
          </a:p>
        </p:txBody>
      </p:sp>
      <p:sp>
        <p:nvSpPr>
          <p:cNvPr id="37890" name="内容占位符 1"/>
          <p:cNvSpPr>
            <a:spLocks noGrp="1"/>
          </p:cNvSpPr>
          <p:nvPr>
            <p:ph idx="1"/>
          </p:nvPr>
        </p:nvSpPr>
        <p:spPr/>
        <p:txBody>
          <a:bodyPr/>
          <a:lstStyle/>
          <a:p>
            <a:r>
              <a:rPr lang="en-US" altLang="zh-CN">
                <a:sym typeface="+mn-ea"/>
              </a:rPr>
              <a:t>IP</a:t>
            </a:r>
            <a:r>
              <a:rPr lang="zh-CN" altLang="en-US">
                <a:sym typeface="+mn-ea"/>
              </a:rPr>
              <a:t>地址规划实例</a:t>
            </a:r>
            <a:r>
              <a:rPr lang="en-US" altLang="zh-CN">
                <a:sym typeface="+mn-ea"/>
              </a:rPr>
              <a:t>5-1</a:t>
            </a:r>
            <a:endParaRPr lang="zh-CN" altLang="en-US"/>
          </a:p>
          <a:p>
            <a:pPr lvl="1"/>
            <a:r>
              <a:rPr lang="zh-CN" altLang="en-US"/>
              <a:t>网络需求</a:t>
            </a:r>
          </a:p>
          <a:p>
            <a:pPr lvl="2"/>
            <a:r>
              <a:rPr lang="en-US" altLang="zh-CN"/>
              <a:t>BDQN</a:t>
            </a:r>
            <a:r>
              <a:rPr lang="zh-CN" altLang="en-US"/>
              <a:t>公司为全国范围的金融公司，并有多家分公司</a:t>
            </a:r>
          </a:p>
          <a:p>
            <a:pPr lvl="2"/>
            <a:r>
              <a:rPr lang="zh-CN" altLang="en-US"/>
              <a:t>公司要将网络改造成一个全国范围的局域网</a:t>
            </a:r>
          </a:p>
          <a:p>
            <a:pPr lvl="2"/>
            <a:r>
              <a:rPr lang="zh-CN" altLang="en-US"/>
              <a:t>公司建立网络之前需对各公司的</a:t>
            </a:r>
            <a:r>
              <a:rPr lang="en-US" altLang="zh-CN"/>
              <a:t>IP</a:t>
            </a:r>
            <a:r>
              <a:rPr lang="zh-CN" altLang="en-US"/>
              <a:t>地址进行统一规划</a:t>
            </a:r>
          </a:p>
          <a:p>
            <a:endParaRPr lang="zh-CN" altLang="en-US"/>
          </a:p>
        </p:txBody>
      </p:sp>
      <p:pic>
        <p:nvPicPr>
          <p:cNvPr id="2" name="图片 -2147482595" descr="图4.15 BDQN公司的网络拓扑图"/>
          <p:cNvPicPr>
            <a:picLocks noChangeAspect="1"/>
          </p:cNvPicPr>
          <p:nvPr/>
        </p:nvPicPr>
        <p:blipFill>
          <a:blip r:embed="rId3"/>
          <a:stretch>
            <a:fillRect/>
          </a:stretch>
        </p:blipFill>
        <p:spPr>
          <a:xfrm>
            <a:off x="1908175" y="2886075"/>
            <a:ext cx="5236210" cy="3562350"/>
          </a:xfrm>
          <a:prstGeom prst="rect">
            <a:avLst/>
          </a:prstGeom>
          <a:noFill/>
          <a:ln w="9525">
            <a:noFill/>
          </a:ln>
        </p:spPr>
      </p:pic>
      <p:sp>
        <p:nvSpPr>
          <p:cNvPr id="3" name="灯片编号占位符 2"/>
          <p:cNvSpPr>
            <a:spLocks noGrp="1"/>
          </p:cNvSpPr>
          <p:nvPr>
            <p:ph type="sldNum" sz="quarter" idx="12"/>
          </p:nvPr>
        </p:nvSpPr>
        <p:spPr/>
        <p:txBody>
          <a:bodyPr/>
          <a:lstStyle/>
          <a:p>
            <a:fld id="{0C913308-F349-4B6D-A68A-DD1791B4A57B}" type="slidenum">
              <a:rPr lang="zh-CN" altLang="en-US" smtClean="0"/>
              <a:t>35</a:t>
            </a:fld>
            <a:r>
              <a:rPr lang="en-US" altLang="zh-CN" dirty="0"/>
              <a:t>/45</a:t>
            </a:r>
            <a:endParaRPr lang="zh-CN" altLang="en-US" dirty="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标题 2"/>
          <p:cNvSpPr>
            <a:spLocks noGrp="1"/>
          </p:cNvSpPr>
          <p:nvPr>
            <p:ph type="title"/>
          </p:nvPr>
        </p:nvSpPr>
        <p:spPr/>
        <p:txBody>
          <a:bodyPr/>
          <a:lstStyle/>
          <a:p>
            <a:r>
              <a:rPr lang="en-US" altLang="zh-CN">
                <a:sym typeface="+mn-ea"/>
              </a:rPr>
              <a:t>IP</a:t>
            </a:r>
            <a:r>
              <a:rPr lang="zh-CN" altLang="en-US">
                <a:sym typeface="+mn-ea"/>
              </a:rPr>
              <a:t>地址规划及应用</a:t>
            </a:r>
            <a:endParaRPr lang="en-US" altLang="zh-CN"/>
          </a:p>
        </p:txBody>
      </p:sp>
      <p:sp>
        <p:nvSpPr>
          <p:cNvPr id="38914" name="内容占位符 1"/>
          <p:cNvSpPr>
            <a:spLocks noGrp="1"/>
          </p:cNvSpPr>
          <p:nvPr>
            <p:ph idx="1"/>
          </p:nvPr>
        </p:nvSpPr>
        <p:spPr/>
        <p:txBody>
          <a:bodyPr/>
          <a:lstStyle/>
          <a:p>
            <a:r>
              <a:rPr lang="en-US" altLang="zh-CN">
                <a:sym typeface="+mn-ea"/>
              </a:rPr>
              <a:t>IP</a:t>
            </a:r>
            <a:r>
              <a:rPr lang="zh-CN" altLang="en-US">
                <a:sym typeface="+mn-ea"/>
              </a:rPr>
              <a:t>地址规划实例</a:t>
            </a:r>
            <a:r>
              <a:rPr lang="en-US" altLang="zh-CN">
                <a:sym typeface="+mn-ea"/>
              </a:rPr>
              <a:t>5-2</a:t>
            </a:r>
            <a:endParaRPr lang="en-US" altLang="zh-CN"/>
          </a:p>
          <a:p>
            <a:pPr lvl="1"/>
            <a:r>
              <a:rPr lang="en-US" altLang="zh-CN"/>
              <a:t>BDQN</a:t>
            </a:r>
            <a:r>
              <a:rPr lang="zh-CN" altLang="en-US"/>
              <a:t>公司将</a:t>
            </a:r>
            <a:r>
              <a:rPr lang="en-US" altLang="zh-CN"/>
              <a:t>10.0.0.0/8</a:t>
            </a:r>
            <a:r>
              <a:rPr lang="zh-CN" altLang="en-US"/>
              <a:t>网段分为</a:t>
            </a:r>
            <a:r>
              <a:rPr lang="en-US" altLang="zh-CN"/>
              <a:t>256</a:t>
            </a:r>
            <a:r>
              <a:rPr lang="zh-CN" altLang="en-US"/>
              <a:t>个</a:t>
            </a:r>
            <a:r>
              <a:rPr lang="en-US" altLang="zh-CN"/>
              <a:t>B</a:t>
            </a:r>
            <a:r>
              <a:rPr lang="zh-CN" altLang="en-US"/>
              <a:t>类地址，每个公司分配一个</a:t>
            </a:r>
            <a:r>
              <a:rPr lang="en-US" altLang="zh-CN"/>
              <a:t>B</a:t>
            </a:r>
            <a:r>
              <a:rPr lang="zh-CN" altLang="en-US"/>
              <a:t>类地址</a:t>
            </a:r>
          </a:p>
          <a:p>
            <a:pPr lvl="1"/>
            <a:r>
              <a:rPr lang="zh-CN" altLang="en-US"/>
              <a:t>下面仅以总公司及下属10个分公司为例对IP地址进行规划，在规划时需要考虑设备的Loopback地址、互联地址</a:t>
            </a:r>
          </a:p>
        </p:txBody>
      </p:sp>
      <p:graphicFrame>
        <p:nvGraphicFramePr>
          <p:cNvPr id="2" name="表格 1"/>
          <p:cNvGraphicFramePr/>
          <p:nvPr>
            <p:custDataLst>
              <p:tags r:id="rId1"/>
            </p:custDataLst>
          </p:nvPr>
        </p:nvGraphicFramePr>
        <p:xfrm>
          <a:off x="1620520" y="2900680"/>
          <a:ext cx="6419215" cy="3185160"/>
        </p:xfrm>
        <a:graphic>
          <a:graphicData uri="http://schemas.openxmlformats.org/drawingml/2006/table">
            <a:tbl>
              <a:tblPr firstRow="1" bandRow="1">
                <a:tableStyleId>{5940675A-B579-460E-94D1-54222C63F5DA}</a:tableStyleId>
              </a:tblPr>
              <a:tblGrid>
                <a:gridCol w="891540">
                  <a:extLst>
                    <a:ext uri="{9D8B030D-6E8A-4147-A177-3AD203B41FA5}">
                      <a16:colId xmlns:a16="http://schemas.microsoft.com/office/drawing/2014/main" val="20000"/>
                    </a:ext>
                  </a:extLst>
                </a:gridCol>
                <a:gridCol w="2737485">
                  <a:extLst>
                    <a:ext uri="{9D8B030D-6E8A-4147-A177-3AD203B41FA5}">
                      <a16:colId xmlns:a16="http://schemas.microsoft.com/office/drawing/2014/main" val="20001"/>
                    </a:ext>
                  </a:extLst>
                </a:gridCol>
                <a:gridCol w="2790190">
                  <a:extLst>
                    <a:ext uri="{9D8B030D-6E8A-4147-A177-3AD203B41FA5}">
                      <a16:colId xmlns:a16="http://schemas.microsoft.com/office/drawing/2014/main" val="20002"/>
                    </a:ext>
                  </a:extLst>
                </a:gridCol>
              </a:tblGrid>
              <a:tr h="260985">
                <a:tc>
                  <a:txBody>
                    <a:bodyPr/>
                    <a:lstStyle/>
                    <a:p>
                      <a:pPr indent="0" algn="ctr">
                        <a:buNone/>
                      </a:pPr>
                      <a:r>
                        <a:rPr lang="en-US" sz="1600">
                          <a:solidFill>
                            <a:schemeClr val="bg1"/>
                          </a:solidFill>
                          <a:latin typeface="微软雅黑" panose="020B0503020204020204" pitchFamily="34" charset="-122"/>
                          <a:ea typeface="微软雅黑" panose="020B0503020204020204" pitchFamily="34" charset="-122"/>
                        </a:rPr>
                        <a:t>编号</a:t>
                      </a:r>
                      <a:endParaRPr lang="en-US" altLang="en-US" sz="16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600">
                          <a:solidFill>
                            <a:schemeClr val="bg1"/>
                          </a:solidFill>
                          <a:latin typeface="微软雅黑" panose="020B0503020204020204" pitchFamily="34" charset="-122"/>
                          <a:ea typeface="微软雅黑" panose="020B0503020204020204" pitchFamily="34" charset="-122"/>
                        </a:rPr>
                        <a:t>分公司或销售总点名称</a:t>
                      </a:r>
                      <a:endParaRPr lang="en-US" altLang="en-US" sz="16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IP地址段</a:t>
                      </a:r>
                      <a:endParaRPr lang="en-US" altLang="en-US"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solidFill>
                      <a:srgbClr val="0034DC"/>
                    </a:solidFill>
                  </a:tcPr>
                </a:tc>
                <a:extLst>
                  <a:ext uri="{0D108BD9-81ED-4DB2-BD59-A6C34878D82A}">
                    <a16:rowId xmlns:a16="http://schemas.microsoft.com/office/drawing/2014/main" val="10000"/>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1</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北京总公司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10.0.0.0/16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1"/>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上海分公司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10.1.0.0/16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2"/>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3</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青岛分公司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10.2.0.0/16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3"/>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4</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沈阳分公司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10.3.0.0/16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4"/>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5</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哈尔滨分公司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10.4.0.0/16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5"/>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银川分公司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10.5.0.0/16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6"/>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7</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杭州分公司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10.6.0.0/16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7"/>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8</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石家庄分公司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10.7.0.0/16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8"/>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9</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拉萨分公司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10.8.0.0/16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9"/>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10</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成都分公司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10.9.0.0/16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10"/>
                  </a:ext>
                </a:extLst>
              </a:tr>
              <a:tr h="260985">
                <a:tc>
                  <a:txBody>
                    <a:bodyPr/>
                    <a:lstStyle/>
                    <a:p>
                      <a:pPr indent="0" algn="ctr">
                        <a:buNone/>
                      </a:pPr>
                      <a:r>
                        <a:rPr lang="en-US" sz="1600">
                          <a:latin typeface="微软雅黑" panose="020B0503020204020204" pitchFamily="34" charset="-122"/>
                          <a:ea typeface="微软雅黑" panose="020B0503020204020204" pitchFamily="34" charset="-122"/>
                        </a:rPr>
                        <a:t>11</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深圳分公司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10.10.0.0/16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11"/>
                  </a:ext>
                </a:extLst>
              </a:tr>
            </a:tbl>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t>36</a:t>
            </a:fld>
            <a:r>
              <a:rPr lang="en-US" altLang="zh-CN" dirty="0"/>
              <a:t>/45</a:t>
            </a:r>
            <a:endParaRPr lang="zh-CN" altLang="en-US" dirty="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标题 2"/>
          <p:cNvSpPr>
            <a:spLocks noGrp="1"/>
          </p:cNvSpPr>
          <p:nvPr>
            <p:ph type="title"/>
          </p:nvPr>
        </p:nvSpPr>
        <p:spPr/>
        <p:txBody>
          <a:bodyPr/>
          <a:lstStyle/>
          <a:p>
            <a:r>
              <a:rPr lang="en-US" altLang="zh-CN">
                <a:sym typeface="+mn-ea"/>
              </a:rPr>
              <a:t>IP</a:t>
            </a:r>
            <a:r>
              <a:rPr lang="zh-CN" altLang="en-US">
                <a:sym typeface="+mn-ea"/>
              </a:rPr>
              <a:t>地址规划及应用</a:t>
            </a:r>
            <a:endParaRPr lang="en-US" altLang="zh-CN"/>
          </a:p>
        </p:txBody>
      </p:sp>
      <p:sp>
        <p:nvSpPr>
          <p:cNvPr id="39938" name="内容占位符 1"/>
          <p:cNvSpPr>
            <a:spLocks noGrp="1"/>
          </p:cNvSpPr>
          <p:nvPr>
            <p:ph idx="1"/>
          </p:nvPr>
        </p:nvSpPr>
        <p:spPr/>
        <p:txBody>
          <a:bodyPr/>
          <a:lstStyle/>
          <a:p>
            <a:r>
              <a:rPr lang="en-US" altLang="zh-CN">
                <a:sym typeface="+mn-ea"/>
              </a:rPr>
              <a:t>IP</a:t>
            </a:r>
            <a:r>
              <a:rPr lang="zh-CN" altLang="en-US">
                <a:sym typeface="+mn-ea"/>
              </a:rPr>
              <a:t>地址规划实例</a:t>
            </a:r>
            <a:r>
              <a:rPr lang="en-US" altLang="zh-CN">
                <a:sym typeface="+mn-ea"/>
              </a:rPr>
              <a:t>5-3</a:t>
            </a:r>
            <a:endParaRPr lang="zh-CN" altLang="en-US"/>
          </a:p>
          <a:p>
            <a:pPr lvl="1"/>
            <a:r>
              <a:rPr lang="zh-CN" altLang="en-US"/>
              <a:t>互联地址规划</a:t>
            </a:r>
            <a:endParaRPr lang="en-US" altLang="zh-CN"/>
          </a:p>
          <a:p>
            <a:pPr lvl="2"/>
            <a:r>
              <a:rPr lang="zh-CN" altLang="en-US"/>
              <a:t>总、分公司网关路由器间互联地址</a:t>
            </a:r>
            <a:endParaRPr lang="en-US" altLang="zh-CN"/>
          </a:p>
          <a:p>
            <a:pPr lvl="2"/>
            <a:r>
              <a:rPr lang="zh-CN" altLang="en-US"/>
              <a:t>公司内部设备互联地址</a:t>
            </a:r>
            <a:endParaRPr lang="en-US" altLang="zh-CN"/>
          </a:p>
          <a:p>
            <a:endParaRPr lang="en-US" altLang="zh-CN"/>
          </a:p>
        </p:txBody>
      </p:sp>
      <p:sp>
        <p:nvSpPr>
          <p:cNvPr id="4" name="内容占位符 17"/>
          <p:cNvSpPr txBox="1"/>
          <p:nvPr/>
        </p:nvSpPr>
        <p:spPr bwMode="auto">
          <a:xfrm>
            <a:off x="407988" y="1263650"/>
            <a:ext cx="8229600" cy="4879975"/>
          </a:xfrm>
          <a:prstGeom prst="rect">
            <a:avLst/>
          </a:prstGeom>
          <a:noFill/>
          <a:ln w="9525">
            <a:noFill/>
            <a:miter lim="800000"/>
          </a:ln>
        </p:spPr>
        <p:txBody>
          <a:bodyPr/>
          <a:lstStyle/>
          <a:p>
            <a:pPr marL="342900" indent="-342900" eaLnBrk="0" hangingPunct="0">
              <a:spcBef>
                <a:spcPts val="670"/>
              </a:spcBef>
              <a:buClr>
                <a:schemeClr val="hlink"/>
              </a:buClr>
              <a:defRPr/>
            </a:pPr>
            <a:endParaRPr lang="zh-CN" altLang="en-US" sz="2800" b="1" kern="0" dirty="0">
              <a:solidFill>
                <a:schemeClr val="tx2"/>
              </a:solidFill>
              <a:latin typeface="Arial" panose="020B0604020202020204" pitchFamily="34" charset="0"/>
              <a:ea typeface="微软雅黑" panose="020B0503020204020204" pitchFamily="34" charset="-122"/>
              <a:cs typeface="Arial" panose="020B0604020202020204" pitchFamily="34" charset="0"/>
            </a:endParaRPr>
          </a:p>
        </p:txBody>
      </p:sp>
      <p:sp>
        <p:nvSpPr>
          <p:cNvPr id="6" name="矩形 5"/>
          <p:cNvSpPr/>
          <p:nvPr/>
        </p:nvSpPr>
        <p:spPr>
          <a:xfrm>
            <a:off x="-155575" y="3507740"/>
            <a:ext cx="5330825" cy="368300"/>
          </a:xfrm>
          <a:prstGeom prst="rect">
            <a:avLst/>
          </a:prstGeom>
        </p:spPr>
        <p:txBody>
          <a:bodyPr>
            <a:spAutoFit/>
          </a:bodyPr>
          <a:lstStyle/>
          <a:p>
            <a:pPr marL="742950" lvl="1" indent="-285750">
              <a:spcBef>
                <a:spcPct val="20000"/>
              </a:spcBef>
              <a:buClr>
                <a:schemeClr val="tx1"/>
              </a:buClr>
              <a:defRPr/>
            </a:pPr>
            <a:r>
              <a:rPr lang="zh-CN" altLang="en-US" b="1" kern="0" dirty="0">
                <a:solidFill>
                  <a:srgbClr val="FF3300"/>
                </a:solidFill>
                <a:latin typeface="Arial" panose="020B0604020202020204" pitchFamily="34" charset="0"/>
                <a:ea typeface="微软雅黑" panose="020B0503020204020204" pitchFamily="34" charset="-122"/>
                <a:cs typeface="Arial" panose="020B0604020202020204" pitchFamily="34" charset="0"/>
              </a:rPr>
              <a:t>总公司与分公司网关路由器间的互联地址表</a:t>
            </a:r>
            <a:endParaRPr lang="en-US" altLang="zh-CN" b="1" kern="0" dirty="0">
              <a:solidFill>
                <a:srgbClr val="FF3300"/>
              </a:solidFill>
              <a:latin typeface="Arial" panose="020B0604020202020204" pitchFamily="34" charset="0"/>
              <a:ea typeface="微软雅黑" panose="020B0503020204020204" pitchFamily="34" charset="-122"/>
              <a:cs typeface="Arial" panose="020B0604020202020204" pitchFamily="34" charset="0"/>
            </a:endParaRPr>
          </a:p>
        </p:txBody>
      </p:sp>
      <p:sp>
        <p:nvSpPr>
          <p:cNvPr id="18" name="矩形 17"/>
          <p:cNvSpPr/>
          <p:nvPr/>
        </p:nvSpPr>
        <p:spPr>
          <a:xfrm>
            <a:off x="1492250" y="3711575"/>
            <a:ext cx="5330825" cy="368300"/>
          </a:xfrm>
          <a:prstGeom prst="rect">
            <a:avLst/>
          </a:prstGeom>
        </p:spPr>
        <p:txBody>
          <a:bodyPr>
            <a:spAutoFit/>
          </a:bodyPr>
          <a:lstStyle/>
          <a:p>
            <a:pPr marL="742950" lvl="1" indent="-285750">
              <a:spcBef>
                <a:spcPct val="20000"/>
              </a:spcBef>
              <a:buClr>
                <a:schemeClr val="tx1"/>
              </a:buClr>
              <a:defRPr/>
            </a:pPr>
            <a:r>
              <a:rPr lang="zh-CN" altLang="en-US" b="1" kern="0" dirty="0">
                <a:solidFill>
                  <a:srgbClr val="FF3300"/>
                </a:solidFill>
                <a:latin typeface="Arial" panose="020B0604020202020204" pitchFamily="34" charset="0"/>
                <a:ea typeface="微软雅黑" panose="020B0503020204020204" pitchFamily="34" charset="-122"/>
                <a:cs typeface="Arial" panose="020B0604020202020204" pitchFamily="34" charset="0"/>
              </a:rPr>
              <a:t>公司内部设备互连地址</a:t>
            </a:r>
            <a:endParaRPr lang="en-US" altLang="zh-CN" b="1" kern="0" dirty="0">
              <a:solidFill>
                <a:srgbClr val="FF3300"/>
              </a:solidFill>
              <a:latin typeface="Arial" panose="020B0604020202020204" pitchFamily="34" charset="0"/>
              <a:ea typeface="微软雅黑" panose="020B0503020204020204" pitchFamily="34" charset="-122"/>
              <a:cs typeface="Arial" panose="020B0604020202020204" pitchFamily="34" charset="0"/>
            </a:endParaRPr>
          </a:p>
        </p:txBody>
      </p:sp>
      <p:pic>
        <p:nvPicPr>
          <p:cNvPr id="2" name="图片 -2147482597" descr="图4.16 各公司内部网络三层交换机和路由器连接拓扑图"/>
          <p:cNvPicPr>
            <a:picLocks noChangeAspect="1"/>
          </p:cNvPicPr>
          <p:nvPr/>
        </p:nvPicPr>
        <p:blipFill>
          <a:blip r:embed="rId5"/>
          <a:stretch>
            <a:fillRect/>
          </a:stretch>
        </p:blipFill>
        <p:spPr>
          <a:xfrm>
            <a:off x="5147945" y="1053465"/>
            <a:ext cx="3176270" cy="2865755"/>
          </a:xfrm>
          <a:prstGeom prst="rect">
            <a:avLst/>
          </a:prstGeom>
          <a:noFill/>
          <a:ln w="9525">
            <a:noFill/>
          </a:ln>
        </p:spPr>
      </p:pic>
      <p:graphicFrame>
        <p:nvGraphicFramePr>
          <p:cNvPr id="3" name="表格 2"/>
          <p:cNvGraphicFramePr/>
          <p:nvPr>
            <p:custDataLst>
              <p:tags r:id="rId1"/>
            </p:custDataLst>
          </p:nvPr>
        </p:nvGraphicFramePr>
        <p:xfrm>
          <a:off x="1422718" y="4294505"/>
          <a:ext cx="5761038" cy="1644650"/>
        </p:xfrm>
        <a:graphic>
          <a:graphicData uri="http://schemas.openxmlformats.org/drawingml/2006/table">
            <a:tbl>
              <a:tblPr firstRow="1" bandRow="1">
                <a:tableStyleId>{5940675A-B579-460E-94D1-54222C63F5DA}</a:tableStyleId>
              </a:tblPr>
              <a:tblGrid>
                <a:gridCol w="1042988">
                  <a:extLst>
                    <a:ext uri="{9D8B030D-6E8A-4147-A177-3AD203B41FA5}">
                      <a16:colId xmlns:a16="http://schemas.microsoft.com/office/drawing/2014/main" val="20000"/>
                    </a:ext>
                  </a:extLst>
                </a:gridCol>
                <a:gridCol w="1557337">
                  <a:extLst>
                    <a:ext uri="{9D8B030D-6E8A-4147-A177-3AD203B41FA5}">
                      <a16:colId xmlns:a16="http://schemas.microsoft.com/office/drawing/2014/main" val="20001"/>
                    </a:ext>
                  </a:extLst>
                </a:gridCol>
                <a:gridCol w="1581150">
                  <a:extLst>
                    <a:ext uri="{9D8B030D-6E8A-4147-A177-3AD203B41FA5}">
                      <a16:colId xmlns:a16="http://schemas.microsoft.com/office/drawing/2014/main" val="20002"/>
                    </a:ext>
                  </a:extLst>
                </a:gridCol>
                <a:gridCol w="1579563">
                  <a:extLst>
                    <a:ext uri="{9D8B030D-6E8A-4147-A177-3AD203B41FA5}">
                      <a16:colId xmlns:a16="http://schemas.microsoft.com/office/drawing/2014/main" val="20003"/>
                    </a:ext>
                  </a:extLst>
                </a:gridCol>
              </a:tblGrid>
              <a:tr h="0">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公司名称</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网关路由器</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核心交换机1</a:t>
                      </a:r>
                      <a:endParaRPr lang="en-US"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核心交换机2</a:t>
                      </a:r>
                      <a:endParaRPr lang="en-US"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solidFill>
                      <a:srgbClr val="0034DC"/>
                    </a:solidFill>
                  </a:tcPr>
                </a:tc>
                <a:extLst>
                  <a:ext uri="{0D108BD9-81ED-4DB2-BD59-A6C34878D82A}">
                    <a16:rowId xmlns:a16="http://schemas.microsoft.com/office/drawing/2014/main" val="10000"/>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北京总公司</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10.0.254.1</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10.0.254.2</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1"/>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10.0.254.5</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10.0.254.6</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2"/>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10.0.254.9</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10.0.254.10</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3"/>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上海分公司</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10.1.254.1</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10.1.254.2</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4"/>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10.1.254.5</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10.1.254.6</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5"/>
                  </a:ext>
                </a:extLst>
              </a:tr>
              <a:tr h="234950">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 </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10.1.254.9</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10.1.254.10</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6"/>
                  </a:ext>
                </a:extLst>
              </a:tr>
            </a:tbl>
          </a:graphicData>
        </a:graphic>
      </p:graphicFrame>
      <p:graphicFrame>
        <p:nvGraphicFramePr>
          <p:cNvPr id="7" name="表格 6"/>
          <p:cNvGraphicFramePr/>
          <p:nvPr>
            <p:custDataLst>
              <p:tags r:id="rId2"/>
            </p:custDataLst>
          </p:nvPr>
        </p:nvGraphicFramePr>
        <p:xfrm>
          <a:off x="323215" y="3940175"/>
          <a:ext cx="8231505" cy="2542531"/>
        </p:xfrm>
        <a:graphic>
          <a:graphicData uri="http://schemas.openxmlformats.org/drawingml/2006/table">
            <a:tbl>
              <a:tblPr firstRow="1" bandRow="1">
                <a:tableStyleId>{5940675A-B579-460E-94D1-54222C63F5DA}</a:tableStyleId>
              </a:tblPr>
              <a:tblGrid>
                <a:gridCol w="735330">
                  <a:extLst>
                    <a:ext uri="{9D8B030D-6E8A-4147-A177-3AD203B41FA5}">
                      <a16:colId xmlns:a16="http://schemas.microsoft.com/office/drawing/2014/main" val="20000"/>
                    </a:ext>
                  </a:extLst>
                </a:gridCol>
                <a:gridCol w="1545590">
                  <a:extLst>
                    <a:ext uri="{9D8B030D-6E8A-4147-A177-3AD203B41FA5}">
                      <a16:colId xmlns:a16="http://schemas.microsoft.com/office/drawing/2014/main" val="20001"/>
                    </a:ext>
                  </a:extLst>
                </a:gridCol>
                <a:gridCol w="2091055">
                  <a:extLst>
                    <a:ext uri="{9D8B030D-6E8A-4147-A177-3AD203B41FA5}">
                      <a16:colId xmlns:a16="http://schemas.microsoft.com/office/drawing/2014/main" val="20002"/>
                    </a:ext>
                  </a:extLst>
                </a:gridCol>
                <a:gridCol w="1925955">
                  <a:extLst>
                    <a:ext uri="{9D8B030D-6E8A-4147-A177-3AD203B41FA5}">
                      <a16:colId xmlns:a16="http://schemas.microsoft.com/office/drawing/2014/main" val="20003"/>
                    </a:ext>
                  </a:extLst>
                </a:gridCol>
                <a:gridCol w="1933575">
                  <a:extLst>
                    <a:ext uri="{9D8B030D-6E8A-4147-A177-3AD203B41FA5}">
                      <a16:colId xmlns:a16="http://schemas.microsoft.com/office/drawing/2014/main" val="20004"/>
                    </a:ext>
                  </a:extLst>
                </a:gridCol>
              </a:tblGrid>
              <a:tr h="231140">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编号</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17779">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公司名称</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17779">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总公司路由器接口地址</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17779">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分公司路由器接口地址</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17779">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子网掩码</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17779">
                    <a:solidFill>
                      <a:srgbClr val="0034DC"/>
                    </a:solidFill>
                  </a:tcPr>
                </a:tc>
                <a:extLst>
                  <a:ext uri="{0D108BD9-81ED-4DB2-BD59-A6C34878D82A}">
                    <a16:rowId xmlns:a16="http://schemas.microsoft.com/office/drawing/2014/main" val="10000"/>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1</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上海分公司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10.254.0.1</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10.254.0.2</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1"/>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2</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青岛分公司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10.254.0.5</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10.254.0.6</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2"/>
                  </a:ext>
                </a:extLst>
              </a:tr>
              <a:tr h="231140">
                <a:tc>
                  <a:txBody>
                    <a:bodyPr/>
                    <a:lstStyle/>
                    <a:p>
                      <a:pPr indent="0" algn="ctr">
                        <a:buNone/>
                      </a:pPr>
                      <a:r>
                        <a:rPr lang="en-US" sz="1400">
                          <a:latin typeface="微软雅黑" panose="020B0503020204020204" pitchFamily="34" charset="-122"/>
                          <a:ea typeface="微软雅黑" panose="020B0503020204020204" pitchFamily="34" charset="-122"/>
                        </a:rPr>
                        <a:t>3</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沈阳分公司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10.254.0.9</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10.254.0.10</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3"/>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4</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哈尔滨分公司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10.254.0.13</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10.254.0.14</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4"/>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5</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银川分公司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10.254.0.17</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10.254.0.18</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5"/>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6</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杭州分公司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10.254.0.21</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10.254.0.22</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6"/>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7</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石家庄分公司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10.254.0.25</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10.254.0.26</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7"/>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8</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拉萨分公司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10.254.0.29</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10.254.0.30</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8"/>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9</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成都分公司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10.254.0.33</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10.254.0.34</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09"/>
                  </a:ext>
                </a:extLst>
              </a:tr>
              <a:tr h="203835">
                <a:tc>
                  <a:txBody>
                    <a:bodyPr/>
                    <a:lstStyle/>
                    <a:p>
                      <a:pPr indent="0" algn="ctr">
                        <a:buNone/>
                      </a:pPr>
                      <a:r>
                        <a:rPr lang="en-US" sz="1400">
                          <a:latin typeface="微软雅黑" panose="020B0503020204020204" pitchFamily="34" charset="-122"/>
                          <a:ea typeface="微软雅黑" panose="020B0503020204020204" pitchFamily="34" charset="-122"/>
                        </a:rPr>
                        <a:t>10</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深圳分公司</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10.254.0.37</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10.254.0.38</a:t>
                      </a:r>
                      <a:endParaRPr lang="en-US" altLang="en-US" sz="1400">
                        <a:latin typeface="微软雅黑" panose="020B0503020204020204" pitchFamily="34" charset="-122"/>
                        <a:ea typeface="微软雅黑" panose="020B0503020204020204" pitchFamily="34" charset="-122"/>
                      </a:endParaRPr>
                    </a:p>
                  </a:txBody>
                  <a:tcPr marL="68580" marR="68580" marT="0" marB="17779"/>
                </a:tc>
                <a:tc>
                  <a:txBody>
                    <a:bodyPr/>
                    <a:lstStyle/>
                    <a:p>
                      <a:pPr indent="0" algn="ctr">
                        <a:buNone/>
                      </a:pPr>
                      <a:r>
                        <a:rPr lang="en-US" sz="1400">
                          <a:latin typeface="微软雅黑" panose="020B0503020204020204" pitchFamily="34" charset="-122"/>
                          <a:ea typeface="微软雅黑" panose="020B0503020204020204" pitchFamily="34" charset="-122"/>
                        </a:rPr>
                        <a:t>255.255.255.252</a:t>
                      </a:r>
                      <a:endParaRPr lang="en-US" altLang="en-US" sz="1400">
                        <a:latin typeface="微软雅黑" panose="020B0503020204020204" pitchFamily="34" charset="-122"/>
                        <a:ea typeface="微软雅黑" panose="020B0503020204020204" pitchFamily="34" charset="-122"/>
                      </a:endParaRPr>
                    </a:p>
                  </a:txBody>
                  <a:tcPr marL="68580" marR="68580" marT="0" marB="17779"/>
                </a:tc>
                <a:extLst>
                  <a:ext uri="{0D108BD9-81ED-4DB2-BD59-A6C34878D82A}">
                    <a16:rowId xmlns:a16="http://schemas.microsoft.com/office/drawing/2014/main" val="10010"/>
                  </a:ext>
                </a:extLst>
              </a:tr>
            </a:tbl>
          </a:graphicData>
        </a:graphic>
      </p:graphicFrame>
      <p:sp>
        <p:nvSpPr>
          <p:cNvPr id="5" name="灯片编号占位符 4"/>
          <p:cNvSpPr>
            <a:spLocks noGrp="1"/>
          </p:cNvSpPr>
          <p:nvPr>
            <p:ph type="sldNum" sz="quarter" idx="12"/>
          </p:nvPr>
        </p:nvSpPr>
        <p:spPr/>
        <p:txBody>
          <a:bodyPr/>
          <a:lstStyle/>
          <a:p>
            <a:fld id="{0C913308-F349-4B6D-A68A-DD1791B4A57B}" type="slidenum">
              <a:rPr lang="zh-CN" altLang="en-US" smtClean="0"/>
              <a:t>37</a:t>
            </a:fld>
            <a:r>
              <a:rPr lang="en-US" altLang="zh-CN" dirty="0"/>
              <a:t>/45</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6"/>
                                        </p:tgtEl>
                                      </p:cBhvr>
                                    </p:animEffect>
                                    <p:set>
                                      <p:cBhvr>
                                        <p:cTn id="7" dur="1" fill="hold">
                                          <p:stCondLst>
                                            <p:cond delay="499"/>
                                          </p:stCondLst>
                                        </p:cTn>
                                        <p:tgtEl>
                                          <p:spTgt spid="6"/>
                                        </p:tgtEl>
                                        <p:attrNameLst>
                                          <p:attrName>style.visibility</p:attrName>
                                        </p:attrNameLst>
                                      </p:cBhvr>
                                      <p:to>
                                        <p:strVal val="hidden"/>
                                      </p:to>
                                    </p:set>
                                  </p:childTnLst>
                                </p:cTn>
                              </p:par>
                              <p:par>
                                <p:cTn id="8" presetID="3" presetClass="exit" presetSubtype="10" fill="hold" nodeType="withEffect">
                                  <p:stCondLst>
                                    <p:cond delay="0"/>
                                  </p:stCondLst>
                                  <p:childTnLst>
                                    <p:animEffect transition="out" filter="blinds(horizontal)">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blinds(horizontal)">
                                      <p:cBhvr>
                                        <p:cTn id="15" dur="500"/>
                                        <p:tgtEl>
                                          <p:spTgt spid="18"/>
                                        </p:tgtEl>
                                      </p:cBhvr>
                                    </p:animEffect>
                                  </p:childTnLst>
                                </p:cTn>
                              </p:par>
                              <p:par>
                                <p:cTn id="16" presetID="3" presetClass="entr" presetSubtype="10"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标题 2"/>
          <p:cNvSpPr>
            <a:spLocks noGrp="1"/>
          </p:cNvSpPr>
          <p:nvPr>
            <p:ph type="title"/>
          </p:nvPr>
        </p:nvSpPr>
        <p:spPr/>
        <p:txBody>
          <a:bodyPr/>
          <a:lstStyle/>
          <a:p>
            <a:r>
              <a:rPr lang="en-US" altLang="zh-CN">
                <a:sym typeface="+mn-ea"/>
              </a:rPr>
              <a:t>IP</a:t>
            </a:r>
            <a:r>
              <a:rPr lang="zh-CN" altLang="en-US">
                <a:sym typeface="+mn-ea"/>
              </a:rPr>
              <a:t>地址规划及应用</a:t>
            </a:r>
            <a:endParaRPr lang="en-US" altLang="zh-CN"/>
          </a:p>
        </p:txBody>
      </p:sp>
      <p:sp>
        <p:nvSpPr>
          <p:cNvPr id="40962" name="内容占位符 1"/>
          <p:cNvSpPr>
            <a:spLocks noGrp="1"/>
          </p:cNvSpPr>
          <p:nvPr>
            <p:ph idx="1"/>
          </p:nvPr>
        </p:nvSpPr>
        <p:spPr/>
        <p:txBody>
          <a:bodyPr/>
          <a:lstStyle/>
          <a:p>
            <a:r>
              <a:rPr lang="en-US" altLang="zh-CN">
                <a:sym typeface="+mn-ea"/>
              </a:rPr>
              <a:t>IP</a:t>
            </a:r>
            <a:r>
              <a:rPr lang="zh-CN" altLang="en-US">
                <a:sym typeface="+mn-ea"/>
              </a:rPr>
              <a:t>地址规划实例</a:t>
            </a:r>
            <a:r>
              <a:rPr lang="en-US" altLang="zh-CN">
                <a:sym typeface="+mn-ea"/>
              </a:rPr>
              <a:t>5-4</a:t>
            </a:r>
            <a:endParaRPr lang="zh-CN" altLang="en-US"/>
          </a:p>
          <a:p>
            <a:pPr lvl="1"/>
            <a:r>
              <a:rPr lang="zh-CN" altLang="en-US"/>
              <a:t>各公司网关路由器管理地址</a:t>
            </a:r>
          </a:p>
          <a:p>
            <a:pPr lvl="2"/>
            <a:r>
              <a:rPr lang="zh-CN" altLang="en-US"/>
              <a:t>网关路由器</a:t>
            </a:r>
            <a:r>
              <a:rPr lang="en-US" altLang="zh-CN"/>
              <a:t>Loopback</a:t>
            </a:r>
            <a:r>
              <a:rPr lang="zh-CN" altLang="en-US"/>
              <a:t>地址使用</a:t>
            </a:r>
            <a:r>
              <a:rPr lang="en-US" altLang="zh-CN"/>
              <a:t>192.168.0.0/24</a:t>
            </a:r>
            <a:r>
              <a:rPr lang="zh-CN" altLang="en-US"/>
              <a:t>网段</a:t>
            </a:r>
          </a:p>
          <a:p>
            <a:endParaRPr lang="zh-CN" altLang="en-US"/>
          </a:p>
        </p:txBody>
      </p:sp>
      <p:graphicFrame>
        <p:nvGraphicFramePr>
          <p:cNvPr id="2" name="表格 1"/>
          <p:cNvGraphicFramePr/>
          <p:nvPr>
            <p:custDataLst>
              <p:tags r:id="rId1"/>
            </p:custDataLst>
          </p:nvPr>
        </p:nvGraphicFramePr>
        <p:xfrm>
          <a:off x="1691323" y="2476500"/>
          <a:ext cx="5761038" cy="3185160"/>
        </p:xfrm>
        <a:graphic>
          <a:graphicData uri="http://schemas.openxmlformats.org/drawingml/2006/table">
            <a:tbl>
              <a:tblPr firstRow="1" bandRow="1">
                <a:tableStyleId>{5940675A-B579-460E-94D1-54222C63F5DA}</a:tableStyleId>
              </a:tblPr>
              <a:tblGrid>
                <a:gridCol w="785813">
                  <a:extLst>
                    <a:ext uri="{9D8B030D-6E8A-4147-A177-3AD203B41FA5}">
                      <a16:colId xmlns:a16="http://schemas.microsoft.com/office/drawing/2014/main" val="20000"/>
                    </a:ext>
                  </a:extLst>
                </a:gridCol>
                <a:gridCol w="2389187">
                  <a:extLst>
                    <a:ext uri="{9D8B030D-6E8A-4147-A177-3AD203B41FA5}">
                      <a16:colId xmlns:a16="http://schemas.microsoft.com/office/drawing/2014/main" val="20001"/>
                    </a:ext>
                  </a:extLst>
                </a:gridCol>
                <a:gridCol w="2586038">
                  <a:extLst>
                    <a:ext uri="{9D8B030D-6E8A-4147-A177-3AD203B41FA5}">
                      <a16:colId xmlns:a16="http://schemas.microsoft.com/office/drawing/2014/main" val="20002"/>
                    </a:ext>
                  </a:extLst>
                </a:gridCol>
              </a:tblGrid>
              <a:tr h="0">
                <a:tc>
                  <a:txBody>
                    <a:bodyPr/>
                    <a:lstStyle/>
                    <a:p>
                      <a:pPr indent="0" algn="ctr">
                        <a:buNone/>
                      </a:pPr>
                      <a:r>
                        <a:rPr lang="en-US" sz="1600">
                          <a:solidFill>
                            <a:schemeClr val="bg1"/>
                          </a:solidFill>
                          <a:latin typeface="微软雅黑" panose="020B0503020204020204" pitchFamily="34" charset="-122"/>
                          <a:ea typeface="微软雅黑" panose="020B0503020204020204" pitchFamily="34" charset="-122"/>
                        </a:rPr>
                        <a:t>编号</a:t>
                      </a:r>
                      <a:endParaRPr lang="en-US" altLang="en-US" sz="16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600">
                          <a:solidFill>
                            <a:schemeClr val="bg1"/>
                          </a:solidFill>
                          <a:latin typeface="微软雅黑" panose="020B0503020204020204" pitchFamily="34" charset="-122"/>
                          <a:ea typeface="微软雅黑" panose="020B0503020204020204" pitchFamily="34" charset="-122"/>
                        </a:rPr>
                        <a:t>公司名称</a:t>
                      </a:r>
                      <a:endParaRPr lang="en-US" altLang="en-US" sz="16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IP地址</a:t>
                      </a:r>
                      <a:endParaRPr lang="en-US" altLang="en-US" sz="16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solidFill>
                      <a:srgbClr val="0034DC"/>
                    </a:solidFill>
                  </a:tcPr>
                </a:tc>
                <a:extLst>
                  <a:ext uri="{0D108BD9-81ED-4DB2-BD59-A6C34878D82A}">
                    <a16:rowId xmlns:a16="http://schemas.microsoft.com/office/drawing/2014/main" val="10000"/>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1</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北京总公司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192.168.0.1/32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1"/>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上海分公司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192.168.0.2/32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2"/>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3</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青岛分公司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192.168.0.3/32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3"/>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4</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沈阳分公司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192.168.0.4/32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4"/>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5</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哈尔滨分公司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192.168.0.5/32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5"/>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6</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银川分公司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192.168.0.6/32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6"/>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7</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杭州分公司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192.168.0.7/32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7"/>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8</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石家庄分公司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192.168.0.8/32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8"/>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9</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拉萨分公司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192.168.0.9/32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9"/>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10</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成都分公司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192.168.0.10/32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10"/>
                  </a:ext>
                </a:extLst>
              </a:tr>
              <a:tr h="0">
                <a:tc>
                  <a:txBody>
                    <a:bodyPr/>
                    <a:lstStyle/>
                    <a:p>
                      <a:pPr indent="0" algn="ctr">
                        <a:buNone/>
                      </a:pPr>
                      <a:r>
                        <a:rPr lang="en-US" sz="1600">
                          <a:latin typeface="微软雅黑" panose="020B0503020204020204" pitchFamily="34" charset="-122"/>
                          <a:ea typeface="微软雅黑" panose="020B0503020204020204" pitchFamily="34" charset="-122"/>
                        </a:rPr>
                        <a:t>11</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深圳分公司</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600">
                          <a:latin typeface="微软雅黑" panose="020B0503020204020204" pitchFamily="34" charset="-122"/>
                          <a:ea typeface="微软雅黑" panose="020B0503020204020204" pitchFamily="34" charset="-122"/>
                        </a:rPr>
                        <a:t>192.168.0.11/32</a:t>
                      </a:r>
                      <a:endParaRPr lang="en-US" altLang="en-US" sz="16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11"/>
                  </a:ext>
                </a:extLst>
              </a:tr>
            </a:tbl>
          </a:graphicData>
        </a:graphic>
      </p:graphicFrame>
      <p:sp>
        <p:nvSpPr>
          <p:cNvPr id="3" name="灯片编号占位符 2"/>
          <p:cNvSpPr>
            <a:spLocks noGrp="1"/>
          </p:cNvSpPr>
          <p:nvPr>
            <p:ph type="sldNum" sz="quarter" idx="12"/>
          </p:nvPr>
        </p:nvSpPr>
        <p:spPr/>
        <p:txBody>
          <a:bodyPr/>
          <a:lstStyle/>
          <a:p>
            <a:fld id="{0C913308-F349-4B6D-A68A-DD1791B4A57B}" type="slidenum">
              <a:rPr lang="zh-CN" altLang="en-US" smtClean="0"/>
              <a:t>38</a:t>
            </a:fld>
            <a:r>
              <a:rPr lang="en-US" altLang="zh-CN" dirty="0"/>
              <a:t>/45</a:t>
            </a:r>
            <a:endParaRPr lang="zh-CN" altLang="en-US" dirty="0"/>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标题 2"/>
          <p:cNvSpPr>
            <a:spLocks noGrp="1"/>
          </p:cNvSpPr>
          <p:nvPr>
            <p:ph type="title"/>
          </p:nvPr>
        </p:nvSpPr>
        <p:spPr/>
        <p:txBody>
          <a:bodyPr/>
          <a:lstStyle/>
          <a:p>
            <a:r>
              <a:rPr lang="en-US" altLang="zh-CN">
                <a:sym typeface="+mn-ea"/>
              </a:rPr>
              <a:t>IP</a:t>
            </a:r>
            <a:r>
              <a:rPr lang="zh-CN" altLang="en-US">
                <a:sym typeface="+mn-ea"/>
              </a:rPr>
              <a:t>地址规划及应用</a:t>
            </a:r>
            <a:endParaRPr lang="en-US" altLang="zh-CN"/>
          </a:p>
        </p:txBody>
      </p:sp>
      <p:sp>
        <p:nvSpPr>
          <p:cNvPr id="41986" name="内容占位符 1"/>
          <p:cNvSpPr>
            <a:spLocks noGrp="1"/>
          </p:cNvSpPr>
          <p:nvPr>
            <p:ph idx="1"/>
          </p:nvPr>
        </p:nvSpPr>
        <p:spPr/>
        <p:txBody>
          <a:bodyPr/>
          <a:lstStyle/>
          <a:p>
            <a:pPr lvl="0"/>
            <a:r>
              <a:rPr lang="en-US" altLang="zh-CN">
                <a:sym typeface="+mn-ea"/>
              </a:rPr>
              <a:t>IP</a:t>
            </a:r>
            <a:r>
              <a:rPr lang="zh-CN" altLang="en-US">
                <a:sym typeface="+mn-ea"/>
              </a:rPr>
              <a:t>地址规划实例</a:t>
            </a:r>
            <a:r>
              <a:rPr lang="en-US" altLang="zh-CN">
                <a:sym typeface="+mn-ea"/>
              </a:rPr>
              <a:t>5-5</a:t>
            </a:r>
            <a:endParaRPr lang="zh-CN" altLang="en-US"/>
          </a:p>
          <a:p>
            <a:pPr lvl="1"/>
            <a:r>
              <a:rPr lang="zh-CN" altLang="en-US"/>
              <a:t>公司内部网段划分</a:t>
            </a:r>
            <a:endParaRPr lang="en-US" altLang="zh-CN"/>
          </a:p>
          <a:p>
            <a:pPr lvl="2"/>
            <a:r>
              <a:rPr lang="zh-CN" altLang="en-US"/>
              <a:t>用户使用网段</a:t>
            </a:r>
            <a:endParaRPr lang="en-US" altLang="zh-CN"/>
          </a:p>
          <a:p>
            <a:pPr lvl="2"/>
            <a:r>
              <a:rPr lang="zh-CN" altLang="en-US"/>
              <a:t>设备管理地址</a:t>
            </a:r>
          </a:p>
          <a:p>
            <a:endParaRPr lang="zh-CN" altLang="en-US"/>
          </a:p>
        </p:txBody>
      </p:sp>
      <p:graphicFrame>
        <p:nvGraphicFramePr>
          <p:cNvPr id="2" name="表格 1"/>
          <p:cNvGraphicFramePr/>
          <p:nvPr>
            <p:custDataLst>
              <p:tags r:id="rId1"/>
            </p:custDataLst>
          </p:nvPr>
        </p:nvGraphicFramePr>
        <p:xfrm>
          <a:off x="2835275" y="2688590"/>
          <a:ext cx="3898265" cy="1247775"/>
        </p:xfrm>
        <a:graphic>
          <a:graphicData uri="http://schemas.openxmlformats.org/drawingml/2006/table">
            <a:tbl>
              <a:tblPr firstRow="1" bandRow="1">
                <a:tableStyleId>{5940675A-B579-460E-94D1-54222C63F5DA}</a:tableStyleId>
              </a:tblPr>
              <a:tblGrid>
                <a:gridCol w="498475">
                  <a:extLst>
                    <a:ext uri="{9D8B030D-6E8A-4147-A177-3AD203B41FA5}">
                      <a16:colId xmlns:a16="http://schemas.microsoft.com/office/drawing/2014/main" val="20000"/>
                    </a:ext>
                  </a:extLst>
                </a:gridCol>
                <a:gridCol w="166243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234950">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编号</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部门</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IP地址段</a:t>
                      </a:r>
                      <a:endParaRPr lang="en-US"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solidFill>
                      <a:srgbClr val="0034DC"/>
                    </a:solidFill>
                  </a:tcPr>
                </a:tc>
                <a:extLst>
                  <a:ext uri="{0D108BD9-81ED-4DB2-BD59-A6C34878D82A}">
                    <a16:rowId xmlns:a16="http://schemas.microsoft.com/office/drawing/2014/main" val="10000"/>
                  </a:ext>
                </a:extLst>
              </a:tr>
              <a:tr h="253365">
                <a:tc>
                  <a:txBody>
                    <a:bodyPr/>
                    <a:lstStyle/>
                    <a:p>
                      <a:pPr indent="0" algn="ctr">
                        <a:buNone/>
                      </a:pPr>
                      <a:r>
                        <a:rPr lang="en-US" sz="1400">
                          <a:latin typeface="微软雅黑" panose="020B0503020204020204" pitchFamily="34" charset="-122"/>
                          <a:ea typeface="微软雅黑" panose="020B0503020204020204" pitchFamily="34" charset="-122"/>
                        </a:rPr>
                        <a:t>1</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财务部</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10.0.2.0/24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1"/>
                  </a:ext>
                </a:extLst>
              </a:tr>
              <a:tr h="252730">
                <a:tc>
                  <a:txBody>
                    <a:bodyPr/>
                    <a:lstStyle/>
                    <a:p>
                      <a:pPr indent="0" algn="ctr">
                        <a:buNone/>
                      </a:pPr>
                      <a:r>
                        <a:rPr lang="en-US" sz="1400">
                          <a:latin typeface="微软雅黑" panose="020B0503020204020204" pitchFamily="34" charset="-122"/>
                          <a:ea typeface="微软雅黑" panose="020B0503020204020204" pitchFamily="34" charset="-122"/>
                        </a:rPr>
                        <a:t>2</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服务器区</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10.0.3.0/24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2"/>
                  </a:ext>
                </a:extLst>
              </a:tr>
              <a:tr h="253365">
                <a:tc>
                  <a:txBody>
                    <a:bodyPr/>
                    <a:lstStyle/>
                    <a:p>
                      <a:pPr indent="0" algn="ctr">
                        <a:buNone/>
                      </a:pPr>
                      <a:r>
                        <a:rPr lang="en-US" sz="1400">
                          <a:latin typeface="微软雅黑" panose="020B0503020204020204" pitchFamily="34" charset="-122"/>
                          <a:ea typeface="微软雅黑" panose="020B0503020204020204" pitchFamily="34" charset="-122"/>
                        </a:rPr>
                        <a:t>3</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综合部</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10.0.4.0/24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3"/>
                  </a:ext>
                </a:extLst>
              </a:tr>
              <a:tr h="253365">
                <a:tc>
                  <a:txBody>
                    <a:bodyPr/>
                    <a:lstStyle/>
                    <a:p>
                      <a:pPr indent="0" algn="ctr">
                        <a:buNone/>
                      </a:pPr>
                      <a:r>
                        <a:rPr lang="en-US" sz="1400">
                          <a:latin typeface="微软雅黑" panose="020B0503020204020204" pitchFamily="34" charset="-122"/>
                          <a:ea typeface="微软雅黑" panose="020B0503020204020204" pitchFamily="34" charset="-122"/>
                        </a:rPr>
                        <a:t>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总裁办公室</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10.0.5.0/24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4"/>
                  </a:ext>
                </a:extLst>
              </a:tr>
            </a:tbl>
          </a:graphicData>
        </a:graphic>
      </p:graphicFrame>
      <p:graphicFrame>
        <p:nvGraphicFramePr>
          <p:cNvPr id="3" name="表格 2"/>
          <p:cNvGraphicFramePr/>
          <p:nvPr>
            <p:custDataLst>
              <p:tags r:id="rId2"/>
            </p:custDataLst>
          </p:nvPr>
        </p:nvGraphicFramePr>
        <p:xfrm>
          <a:off x="2051685" y="4437380"/>
          <a:ext cx="5759450" cy="1644650"/>
        </p:xfrm>
        <a:graphic>
          <a:graphicData uri="http://schemas.openxmlformats.org/drawingml/2006/table">
            <a:tbl>
              <a:tblPr firstRow="1" bandRow="1">
                <a:tableStyleId>{5940675A-B579-460E-94D1-54222C63F5DA}</a:tableStyleId>
              </a:tblPr>
              <a:tblGrid>
                <a:gridCol w="736600">
                  <a:extLst>
                    <a:ext uri="{9D8B030D-6E8A-4147-A177-3AD203B41FA5}">
                      <a16:colId xmlns:a16="http://schemas.microsoft.com/office/drawing/2014/main" val="20000"/>
                    </a:ext>
                  </a:extLst>
                </a:gridCol>
                <a:gridCol w="2455863">
                  <a:extLst>
                    <a:ext uri="{9D8B030D-6E8A-4147-A177-3AD203B41FA5}">
                      <a16:colId xmlns:a16="http://schemas.microsoft.com/office/drawing/2014/main" val="20001"/>
                    </a:ext>
                  </a:extLst>
                </a:gridCol>
                <a:gridCol w="2566987">
                  <a:extLst>
                    <a:ext uri="{9D8B030D-6E8A-4147-A177-3AD203B41FA5}">
                      <a16:colId xmlns:a16="http://schemas.microsoft.com/office/drawing/2014/main" val="20002"/>
                    </a:ext>
                  </a:extLst>
                </a:gridCol>
              </a:tblGrid>
              <a:tr h="0">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编号</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rPr>
                        <a:t>设备</a:t>
                      </a:r>
                      <a:endParaRPr lang="en-US" altLang="en-US" sz="1400">
                        <a:solidFill>
                          <a:schemeClr val="bg1"/>
                        </a:solidFill>
                        <a:latin typeface="微软雅黑" panose="020B0503020204020204" pitchFamily="34" charset="-122"/>
                        <a:ea typeface="微软雅黑" panose="020B0503020204020204" pitchFamily="34" charset="-122"/>
                      </a:endParaRPr>
                    </a:p>
                  </a:txBody>
                  <a:tcPr marL="68580" marR="68580" marT="0" marB="21590" anchor="ctr">
                    <a:solidFill>
                      <a:srgbClr val="0034DC"/>
                    </a:solidFill>
                  </a:tcPr>
                </a:tc>
                <a:tc>
                  <a:txBody>
                    <a:bodyPr/>
                    <a:lstStyle/>
                    <a:p>
                      <a:pPr indent="0" algn="ctr">
                        <a:buNone/>
                      </a:pPr>
                      <a:r>
                        <a:rPr 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IP地址</a:t>
                      </a:r>
                      <a:endParaRPr lang="en-US" altLang="en-US" sz="140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solidFill>
                      <a:srgbClr val="0034DC"/>
                    </a:solidFill>
                  </a:tcPr>
                </a:tc>
                <a:extLst>
                  <a:ext uri="{0D108BD9-81ED-4DB2-BD59-A6C34878D82A}">
                    <a16:rowId xmlns:a16="http://schemas.microsoft.com/office/drawing/2014/main" val="10000"/>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1</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rPr>
                        <a:t>核心交换机1</a:t>
                      </a:r>
                      <a:endParaRPr lang="en-US" altLang="en-US" sz="1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10.0.1.201</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1"/>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2</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cs typeface="微软雅黑" panose="020B0503020204020204" pitchFamily="34" charset="-122"/>
                        </a:rPr>
                        <a:t>核心交换机2</a:t>
                      </a:r>
                      <a:endParaRPr lang="en-US" altLang="en-US" sz="1400">
                        <a:latin typeface="微软雅黑" panose="020B0503020204020204" pitchFamily="34" charset="-122"/>
                        <a:ea typeface="微软雅黑" panose="020B0503020204020204" pitchFamily="34" charset="-122"/>
                        <a:cs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10.0.1.202</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2"/>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3</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财务部交换机</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10.0.1.2/24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3"/>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服务器区交换机</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10.0.1.3/24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4"/>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5</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综合部交换机</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10.0.1.4/24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5"/>
                  </a:ext>
                </a:extLst>
              </a:tr>
              <a:tr h="0">
                <a:tc>
                  <a:txBody>
                    <a:bodyPr/>
                    <a:lstStyle/>
                    <a:p>
                      <a:pPr indent="0" algn="ctr">
                        <a:buNone/>
                      </a:pPr>
                      <a:r>
                        <a:rPr lang="en-US" sz="1400">
                          <a:latin typeface="微软雅黑" panose="020B0503020204020204" pitchFamily="34" charset="-122"/>
                          <a:ea typeface="微软雅黑" panose="020B0503020204020204" pitchFamily="34" charset="-122"/>
                        </a:rPr>
                        <a:t>6</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总裁办公室交换机</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tc>
                  <a:txBody>
                    <a:bodyPr/>
                    <a:lstStyle/>
                    <a:p>
                      <a:pPr indent="0" algn="ctr">
                        <a:buNone/>
                      </a:pPr>
                      <a:r>
                        <a:rPr lang="en-US" sz="1400">
                          <a:latin typeface="微软雅黑" panose="020B0503020204020204" pitchFamily="34" charset="-122"/>
                          <a:ea typeface="微软雅黑" panose="020B0503020204020204" pitchFamily="34" charset="-122"/>
                        </a:rPr>
                        <a:t>10.0.1.5/24</a:t>
                      </a:r>
                      <a:endParaRPr lang="en-US" altLang="en-US" sz="1400">
                        <a:latin typeface="微软雅黑" panose="020B0503020204020204" pitchFamily="34" charset="-122"/>
                        <a:ea typeface="微软雅黑" panose="020B0503020204020204" pitchFamily="34" charset="-122"/>
                      </a:endParaRPr>
                    </a:p>
                  </a:txBody>
                  <a:tcPr marL="68580" marR="68580" marT="0" marB="21590" anchor="ctr"/>
                </a:tc>
                <a:extLst>
                  <a:ext uri="{0D108BD9-81ED-4DB2-BD59-A6C34878D82A}">
                    <a16:rowId xmlns:a16="http://schemas.microsoft.com/office/drawing/2014/main" val="10006"/>
                  </a:ext>
                </a:extLst>
              </a:tr>
            </a:tbl>
          </a:graphicData>
        </a:graphic>
      </p:graphicFrame>
      <p:sp>
        <p:nvSpPr>
          <p:cNvPr id="4" name="灯片编号占位符 3"/>
          <p:cNvSpPr>
            <a:spLocks noGrp="1"/>
          </p:cNvSpPr>
          <p:nvPr>
            <p:ph type="sldNum" sz="quarter" idx="12"/>
          </p:nvPr>
        </p:nvSpPr>
        <p:spPr/>
        <p:txBody>
          <a:bodyPr/>
          <a:lstStyle/>
          <a:p>
            <a:fld id="{0C913308-F349-4B6D-A68A-DD1791B4A57B}" type="slidenum">
              <a:rPr lang="zh-CN" altLang="en-US" smtClean="0"/>
              <a:t>39</a:t>
            </a:fld>
            <a:r>
              <a:rPr lang="en-US" altLang="zh-CN" dirty="0"/>
              <a:t>/45</a:t>
            </a:r>
            <a:endParaRPr lang="zh-CN"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小结</a:t>
            </a:r>
          </a:p>
        </p:txBody>
      </p:sp>
      <p:sp>
        <p:nvSpPr>
          <p:cNvPr id="3" name="内容占位符 2"/>
          <p:cNvSpPr>
            <a:spLocks noGrp="1"/>
          </p:cNvSpPr>
          <p:nvPr>
            <p:ph idx="1"/>
          </p:nvPr>
        </p:nvSpPr>
        <p:spPr/>
        <p:txBody>
          <a:bodyPr/>
          <a:lstStyle/>
          <a:p>
            <a:r>
              <a:rPr lang="zh-CN" altLang="en-US">
                <a:sym typeface="+mn-ea"/>
              </a:rPr>
              <a:t>总结地址汇总的方法</a:t>
            </a:r>
            <a:endParaRPr lang="zh-CN" altLang="en-US"/>
          </a:p>
          <a:p>
            <a:r>
              <a:rPr lang="zh-CN" altLang="en-US"/>
              <a:t>简述IP地址规划的原则</a:t>
            </a:r>
          </a:p>
          <a:p>
            <a:r>
              <a:rPr lang="zh-CN" altLang="en-US">
                <a:sym typeface="+mn-ea"/>
              </a:rPr>
              <a:t>简述</a:t>
            </a:r>
            <a:r>
              <a:rPr lang="en-US" altLang="zh-CN">
                <a:sym typeface="+mn-ea"/>
              </a:rPr>
              <a:t>IP</a:t>
            </a:r>
            <a:r>
              <a:rPr lang="zh-CN" altLang="en-US">
                <a:sym typeface="+mn-ea"/>
              </a:rPr>
              <a:t>地址规划注意事项</a:t>
            </a:r>
            <a:endParaRPr lang="zh-CN" altLang="en-US"/>
          </a:p>
        </p:txBody>
      </p:sp>
      <p:grpSp>
        <p:nvGrpSpPr>
          <p:cNvPr id="5" name="组合 4"/>
          <p:cNvGrpSpPr/>
          <p:nvPr/>
        </p:nvGrpSpPr>
        <p:grpSpPr>
          <a:xfrm>
            <a:off x="2933700" y="2995295"/>
            <a:ext cx="3218180" cy="3455035"/>
            <a:chOff x="4620" y="4717"/>
            <a:chExt cx="5068" cy="5441"/>
          </a:xfrm>
        </p:grpSpPr>
        <p:pic>
          <p:nvPicPr>
            <p:cNvPr id="17" name="图片 16" descr="摄图网_402090509_迷宫中解决问题等距（企业商用）"/>
            <p:cNvPicPr>
              <a:picLocks noChangeAspect="1"/>
            </p:cNvPicPr>
            <p:nvPr/>
          </p:nvPicPr>
          <p:blipFill>
            <a:blip r:embed="rId6"/>
            <a:stretch>
              <a:fillRect/>
            </a:stretch>
          </p:blipFill>
          <p:spPr>
            <a:xfrm>
              <a:off x="4620" y="4717"/>
              <a:ext cx="5068" cy="5068"/>
            </a:xfrm>
            <a:prstGeom prst="rect">
              <a:avLst/>
            </a:prstGeom>
          </p:spPr>
        </p:pic>
        <p:grpSp>
          <p:nvGrpSpPr>
            <p:cNvPr id="8" name="组合 7"/>
            <p:cNvGrpSpPr/>
            <p:nvPr/>
          </p:nvGrpSpPr>
          <p:grpSpPr>
            <a:xfrm>
              <a:off x="5087" y="9254"/>
              <a:ext cx="4279" cy="904"/>
              <a:chOff x="2635654" y="5025223"/>
              <a:chExt cx="2717165" cy="573757"/>
            </a:xfrm>
          </p:grpSpPr>
          <p:sp>
            <p:nvSpPr>
              <p:cNvPr id="9" name="圆角矩形 8"/>
              <p:cNvSpPr/>
              <p:nvPr>
                <p:custDataLst>
                  <p:tags r:id="rId1"/>
                </p:custDataLst>
              </p:nvPr>
            </p:nvSpPr>
            <p:spPr>
              <a:xfrm>
                <a:off x="2796944" y="5131903"/>
                <a:ext cx="2555875" cy="360045"/>
              </a:xfrm>
              <a:prstGeom prst="roundRect">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custDataLst>
                  <p:tags r:id="rId2"/>
                </p:custDataLst>
              </p:nvPr>
            </p:nvSpPr>
            <p:spPr>
              <a:xfrm>
                <a:off x="2635654" y="5025223"/>
                <a:ext cx="573757" cy="573757"/>
              </a:xfrm>
              <a:prstGeom prst="ellipse">
                <a:avLst/>
              </a:prstGeom>
              <a:solidFill>
                <a:srgbClr val="001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5"/>
              <p:cNvSpPr txBox="1"/>
              <p:nvPr>
                <p:custDataLst>
                  <p:tags r:id="rId3"/>
                </p:custDataLst>
              </p:nvPr>
            </p:nvSpPr>
            <p:spPr>
              <a:xfrm>
                <a:off x="3272559" y="5142698"/>
                <a:ext cx="2079625" cy="337185"/>
              </a:xfrm>
              <a:prstGeom prst="rect">
                <a:avLst/>
              </a:prstGeom>
              <a:noFill/>
            </p:spPr>
            <p:txBody>
              <a:bodyPr wrap="square" rtlCol="0" anchor="t">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教员解决共性问题</a:t>
                </a:r>
              </a:p>
            </p:txBody>
          </p:sp>
          <p:pic>
            <p:nvPicPr>
              <p:cNvPr id="14" name="图片 13" descr="1"/>
              <p:cNvPicPr>
                <a:picLocks noChangeAspect="1"/>
              </p:cNvPicPr>
              <p:nvPr>
                <p:custDataLst>
                  <p:tags r:id="rId4"/>
                </p:custDataLst>
              </p:nvPr>
            </p:nvPicPr>
            <p:blipFill>
              <a:blip r:embed="rId7"/>
              <a:stretch>
                <a:fillRect/>
              </a:stretch>
            </p:blipFill>
            <p:spPr>
              <a:xfrm>
                <a:off x="2770196" y="5125836"/>
                <a:ext cx="348886" cy="372531"/>
              </a:xfrm>
              <a:prstGeom prst="rect">
                <a:avLst/>
              </a:prstGeom>
            </p:spPr>
          </p:pic>
        </p:grpSp>
      </p:grpSp>
      <p:sp>
        <p:nvSpPr>
          <p:cNvPr id="4" name="灯片编号占位符 3"/>
          <p:cNvSpPr>
            <a:spLocks noGrp="1"/>
          </p:cNvSpPr>
          <p:nvPr>
            <p:ph type="sldNum" sz="quarter" idx="12"/>
          </p:nvPr>
        </p:nvSpPr>
        <p:spPr/>
        <p:txBody>
          <a:bodyPr/>
          <a:lstStyle/>
          <a:p>
            <a:fld id="{0C913308-F349-4B6D-A68A-DD1791B4A57B}" type="slidenum">
              <a:rPr lang="zh-CN" altLang="en-US" smtClean="0"/>
              <a:t>40</a:t>
            </a:fld>
            <a:r>
              <a:rPr lang="en-US" altLang="zh-CN" dirty="0"/>
              <a:t>/45</a:t>
            </a:r>
            <a:endParaRPr lang="zh-CN" alt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本章总结及笔记自查</a:t>
            </a:r>
            <a:endParaRPr lang="zh-CN" altLang="en-US"/>
          </a:p>
        </p:txBody>
      </p:sp>
      <p:sp>
        <p:nvSpPr>
          <p:cNvPr id="14" name="文本框 13"/>
          <p:cNvSpPr txBox="1"/>
          <p:nvPr/>
        </p:nvSpPr>
        <p:spPr>
          <a:xfrm>
            <a:off x="5614035" y="1446530"/>
            <a:ext cx="3446145" cy="306705"/>
          </a:xfrm>
          <a:prstGeom prst="rect">
            <a:avLst/>
          </a:prstGeom>
          <a:noFill/>
        </p:spPr>
        <p:txBody>
          <a:bodyPr wrap="square" rtlCol="0" anchor="t">
            <a:spAutoFit/>
          </a:bodyPr>
          <a:lstStyle/>
          <a:p>
            <a:r>
              <a:rPr lang="zh-CN" altLang="en-US"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用数字</a:t>
            </a:r>
            <a:r>
              <a:rPr lang="en-US" altLang="zh-CN"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 0</a:t>
            </a:r>
            <a:r>
              <a:rPr lang="zh-CN" altLang="en-US"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1 表示</a:t>
            </a:r>
            <a:r>
              <a:rPr lang="zh-CN" altLang="en-US"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、逢二进一</a:t>
            </a:r>
          </a:p>
        </p:txBody>
      </p:sp>
      <p:sp>
        <p:nvSpPr>
          <p:cNvPr id="3" name="文本框 2"/>
          <p:cNvSpPr txBox="1"/>
          <p:nvPr/>
        </p:nvSpPr>
        <p:spPr>
          <a:xfrm>
            <a:off x="5579110" y="2304415"/>
            <a:ext cx="3446145" cy="737235"/>
          </a:xfrm>
          <a:prstGeom prst="rect">
            <a:avLst/>
          </a:prstGeom>
          <a:noFill/>
        </p:spPr>
        <p:txBody>
          <a:bodyPr wrap="square" rtlCol="0" anchor="t">
            <a:spAutoFit/>
          </a:bodyPr>
          <a:lstStyle/>
          <a:p>
            <a:r>
              <a:rPr lang="en-US" altLang="zh-CN" sz="1400">
                <a:solidFill>
                  <a:srgbClr val="001E7F"/>
                </a:solidFill>
                <a:latin typeface="微软雅黑" panose="020B0503020204020204" pitchFamily="34" charset="-122"/>
                <a:ea typeface="微软雅黑" panose="020B0503020204020204" pitchFamily="34" charset="-122"/>
                <a:sym typeface="+mn-ea"/>
              </a:rPr>
              <a:t>满足不同网络对IP地址的需求 </a:t>
            </a:r>
          </a:p>
          <a:p>
            <a:r>
              <a:rPr lang="en-US" altLang="zh-CN" sz="1400">
                <a:solidFill>
                  <a:srgbClr val="001E7F"/>
                </a:solidFill>
                <a:latin typeface="微软雅黑" panose="020B0503020204020204" pitchFamily="34" charset="-122"/>
                <a:ea typeface="微软雅黑" panose="020B0503020204020204" pitchFamily="34" charset="-122"/>
                <a:sym typeface="+mn-ea"/>
              </a:rPr>
              <a:t>实现网络的层次性</a:t>
            </a:r>
          </a:p>
          <a:p>
            <a:r>
              <a:rPr lang="en-US" altLang="zh-CN" sz="1400">
                <a:solidFill>
                  <a:srgbClr val="001E7F"/>
                </a:solidFill>
                <a:latin typeface="微软雅黑" panose="020B0503020204020204" pitchFamily="34" charset="-122"/>
                <a:ea typeface="微软雅黑" panose="020B0503020204020204" pitchFamily="34" charset="-122"/>
                <a:sym typeface="+mn-ea"/>
              </a:rPr>
              <a:t>节省IP地址</a:t>
            </a:r>
          </a:p>
        </p:txBody>
      </p:sp>
      <p:sp>
        <p:nvSpPr>
          <p:cNvPr id="7" name="AutoShape 5"/>
          <p:cNvSpPr>
            <a:spLocks noChangeArrowheads="1"/>
          </p:cNvSpPr>
          <p:nvPr/>
        </p:nvSpPr>
        <p:spPr bwMode="auto">
          <a:xfrm>
            <a:off x="378163" y="2874706"/>
            <a:ext cx="1971675" cy="373665"/>
          </a:xfrm>
          <a:prstGeom prst="roundRect">
            <a:avLst>
              <a:gd name="adj" fmla="val 16667"/>
            </a:avLst>
          </a:prstGeom>
          <a:solidFill>
            <a:srgbClr val="FEA01A"/>
          </a:solidFill>
          <a:ln w="19050">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chemeClr val="bg1"/>
                </a:solidFill>
                <a:latin typeface="微软雅黑" panose="020B0503020204020204" pitchFamily="34" charset="-122"/>
                <a:ea typeface="微软雅黑" panose="020B0503020204020204" pitchFamily="34" charset="-122"/>
                <a:sym typeface="+mn-ea"/>
              </a:rPr>
              <a:t>子网划分的原理</a:t>
            </a:r>
          </a:p>
        </p:txBody>
      </p:sp>
      <p:sp>
        <p:nvSpPr>
          <p:cNvPr id="8" name="AutoShape 18"/>
          <p:cNvSpPr>
            <a:spLocks noChangeArrowheads="1"/>
          </p:cNvSpPr>
          <p:nvPr/>
        </p:nvSpPr>
        <p:spPr bwMode="auto">
          <a:xfrm>
            <a:off x="2913412" y="1446897"/>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二进制</a:t>
            </a:r>
          </a:p>
        </p:txBody>
      </p:sp>
      <p:sp>
        <p:nvSpPr>
          <p:cNvPr id="9" name="AutoShape 27"/>
          <p:cNvSpPr>
            <a:spLocks noChangeArrowheads="1"/>
          </p:cNvSpPr>
          <p:nvPr/>
        </p:nvSpPr>
        <p:spPr bwMode="auto">
          <a:xfrm>
            <a:off x="2917658" y="2304153"/>
            <a:ext cx="2675479"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子网划分的原因</a:t>
            </a:r>
          </a:p>
        </p:txBody>
      </p:sp>
      <p:sp>
        <p:nvSpPr>
          <p:cNvPr id="12310" name="AutoShape 28"/>
          <p:cNvSpPr>
            <a:spLocks noChangeArrowheads="1"/>
          </p:cNvSpPr>
          <p:nvPr/>
        </p:nvSpPr>
        <p:spPr bwMode="auto">
          <a:xfrm>
            <a:off x="2913412" y="1875525"/>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 IP地址与子网掩码</a:t>
            </a:r>
          </a:p>
        </p:txBody>
      </p:sp>
      <p:sp>
        <p:nvSpPr>
          <p:cNvPr id="10" name="AutoShape 5"/>
          <p:cNvSpPr>
            <a:spLocks noChangeArrowheads="1"/>
          </p:cNvSpPr>
          <p:nvPr/>
        </p:nvSpPr>
        <p:spPr bwMode="auto">
          <a:xfrm>
            <a:off x="378163" y="1873896"/>
            <a:ext cx="1971675"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子网划分基础</a:t>
            </a:r>
          </a:p>
        </p:txBody>
      </p:sp>
      <p:sp>
        <p:nvSpPr>
          <p:cNvPr id="11" name="AutoShape 5"/>
          <p:cNvSpPr>
            <a:spLocks noChangeArrowheads="1"/>
          </p:cNvSpPr>
          <p:nvPr/>
        </p:nvSpPr>
        <p:spPr bwMode="auto">
          <a:xfrm>
            <a:off x="378163" y="4035729"/>
            <a:ext cx="1971675" cy="373665"/>
          </a:xfrm>
          <a:prstGeom prst="roundRect">
            <a:avLst>
              <a:gd name="adj" fmla="val 16667"/>
            </a:avLst>
          </a:prstGeom>
          <a:solidFill>
            <a:srgbClr val="FEA01A"/>
          </a:solidFill>
          <a:ln w="19050">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chemeClr val="bg1"/>
                </a:solidFill>
                <a:latin typeface="微软雅黑" panose="020B0503020204020204" pitchFamily="34" charset="-122"/>
                <a:ea typeface="微软雅黑" panose="020B0503020204020204" pitchFamily="34" charset="-122"/>
                <a:sym typeface="+mn-ea"/>
              </a:rPr>
              <a:t>子网划分的应用</a:t>
            </a:r>
          </a:p>
        </p:txBody>
      </p:sp>
      <p:sp>
        <p:nvSpPr>
          <p:cNvPr id="18" name="AutoShape 5"/>
          <p:cNvSpPr>
            <a:spLocks noChangeArrowheads="1"/>
          </p:cNvSpPr>
          <p:nvPr/>
        </p:nvSpPr>
        <p:spPr bwMode="auto">
          <a:xfrm>
            <a:off x="378163" y="5017377"/>
            <a:ext cx="1971675"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IP地址汇总</a:t>
            </a:r>
          </a:p>
        </p:txBody>
      </p:sp>
      <p:sp>
        <p:nvSpPr>
          <p:cNvPr id="27" name="AutoShape 5"/>
          <p:cNvSpPr>
            <a:spLocks noChangeArrowheads="1"/>
          </p:cNvSpPr>
          <p:nvPr/>
        </p:nvSpPr>
        <p:spPr bwMode="auto">
          <a:xfrm>
            <a:off x="378163" y="5608356"/>
            <a:ext cx="1971675"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IP地址规划及应用</a:t>
            </a:r>
          </a:p>
        </p:txBody>
      </p:sp>
      <p:cxnSp>
        <p:nvCxnSpPr>
          <p:cNvPr id="24" name="肘形连接符 23"/>
          <p:cNvCxnSpPr>
            <a:stCxn id="10" idx="3"/>
            <a:endCxn id="8" idx="1"/>
          </p:cNvCxnSpPr>
          <p:nvPr/>
        </p:nvCxnSpPr>
        <p:spPr>
          <a:xfrm flipV="1">
            <a:off x="2350135" y="1633855"/>
            <a:ext cx="563245" cy="426720"/>
          </a:xfrm>
          <a:prstGeom prst="bentConnector3">
            <a:avLst>
              <a:gd name="adj1" fmla="val 50056"/>
            </a:avLst>
          </a:prstGeom>
          <a:ln w="15875"/>
        </p:spPr>
        <p:style>
          <a:lnRef idx="1">
            <a:schemeClr val="accent1"/>
          </a:lnRef>
          <a:fillRef idx="0">
            <a:schemeClr val="accent1"/>
          </a:fillRef>
          <a:effectRef idx="0">
            <a:schemeClr val="accent1"/>
          </a:effectRef>
          <a:fontRef idx="minor">
            <a:schemeClr val="tx1"/>
          </a:fontRef>
        </p:style>
      </p:cxnSp>
      <p:cxnSp>
        <p:nvCxnSpPr>
          <p:cNvPr id="25" name="肘形连接符 24"/>
          <p:cNvCxnSpPr>
            <a:stCxn id="10" idx="3"/>
            <a:endCxn id="12310" idx="1"/>
          </p:cNvCxnSpPr>
          <p:nvPr/>
        </p:nvCxnSpPr>
        <p:spPr>
          <a:xfrm>
            <a:off x="2350135" y="2060575"/>
            <a:ext cx="563245" cy="1905"/>
          </a:xfrm>
          <a:prstGeom prst="bentConnector3">
            <a:avLst>
              <a:gd name="adj1" fmla="val 50056"/>
            </a:avLst>
          </a:prstGeom>
          <a:ln w="15875"/>
        </p:spPr>
        <p:style>
          <a:lnRef idx="1">
            <a:schemeClr val="accent1"/>
          </a:lnRef>
          <a:fillRef idx="0">
            <a:schemeClr val="accent1"/>
          </a:fillRef>
          <a:effectRef idx="0">
            <a:schemeClr val="accent1"/>
          </a:effectRef>
          <a:fontRef idx="minor">
            <a:schemeClr val="tx1"/>
          </a:fontRef>
        </p:style>
      </p:cxnSp>
      <p:cxnSp>
        <p:nvCxnSpPr>
          <p:cNvPr id="26" name="肘形连接符 25"/>
          <p:cNvCxnSpPr>
            <a:stCxn id="10" idx="3"/>
            <a:endCxn id="9" idx="1"/>
          </p:cNvCxnSpPr>
          <p:nvPr/>
        </p:nvCxnSpPr>
        <p:spPr>
          <a:xfrm>
            <a:off x="2350135" y="2060575"/>
            <a:ext cx="567690" cy="430530"/>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28" name="肘形连接符 27"/>
          <p:cNvCxnSpPr>
            <a:stCxn id="11" idx="3"/>
            <a:endCxn id="20" idx="1"/>
          </p:cNvCxnSpPr>
          <p:nvPr/>
        </p:nvCxnSpPr>
        <p:spPr>
          <a:xfrm flipV="1">
            <a:off x="2350135" y="3722370"/>
            <a:ext cx="528320" cy="49974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29" name="肘形连接符 28"/>
          <p:cNvCxnSpPr>
            <a:stCxn id="11" idx="3"/>
            <a:endCxn id="21" idx="1"/>
          </p:cNvCxnSpPr>
          <p:nvPr/>
        </p:nvCxnSpPr>
        <p:spPr>
          <a:xfrm flipV="1">
            <a:off x="2350135" y="4194810"/>
            <a:ext cx="3229610" cy="2730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cxnSp>
        <p:nvCxnSpPr>
          <p:cNvPr id="30" name="肘形连接符 29"/>
          <p:cNvCxnSpPr>
            <a:stCxn id="11" idx="3"/>
            <a:endCxn id="12" idx="1"/>
          </p:cNvCxnSpPr>
          <p:nvPr/>
        </p:nvCxnSpPr>
        <p:spPr>
          <a:xfrm>
            <a:off x="2350135" y="4222115"/>
            <a:ext cx="528320" cy="483235"/>
          </a:xfrm>
          <a:prstGeom prst="bentConnector3">
            <a:avLst>
              <a:gd name="adj1" fmla="val 50000"/>
            </a:avLst>
          </a:prstGeom>
          <a:ln w="15875"/>
        </p:spPr>
        <p:style>
          <a:lnRef idx="1">
            <a:schemeClr val="accent1"/>
          </a:lnRef>
          <a:fillRef idx="0">
            <a:schemeClr val="accent1"/>
          </a:fillRef>
          <a:effectRef idx="0">
            <a:schemeClr val="accent1"/>
          </a:effectRef>
          <a:fontRef idx="minor">
            <a:schemeClr val="tx1"/>
          </a:fontRef>
        </p:style>
      </p:cxnSp>
      <p:sp>
        <p:nvSpPr>
          <p:cNvPr id="5" name="AutoShape 18"/>
          <p:cNvSpPr>
            <a:spLocks noChangeArrowheads="1"/>
          </p:cNvSpPr>
          <p:nvPr/>
        </p:nvSpPr>
        <p:spPr bwMode="auto">
          <a:xfrm>
            <a:off x="2878493" y="3501690"/>
            <a:ext cx="2700338" cy="373665"/>
          </a:xfrm>
          <a:prstGeom prst="roundRect">
            <a:avLst>
              <a:gd name="adj" fmla="val 16667"/>
            </a:avLst>
          </a:prstGeom>
          <a:solidFill>
            <a:srgbClr val="FEA01A"/>
          </a:solidFill>
          <a:ln w="19050">
            <a:no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 类地址划分</a:t>
            </a:r>
          </a:p>
        </p:txBody>
      </p:sp>
      <p:sp>
        <p:nvSpPr>
          <p:cNvPr id="22" name="AutoShape 18"/>
          <p:cNvSpPr>
            <a:spLocks noChangeArrowheads="1"/>
          </p:cNvSpPr>
          <p:nvPr/>
        </p:nvSpPr>
        <p:spPr bwMode="auto">
          <a:xfrm>
            <a:off x="2878493" y="4484441"/>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sym typeface="+mn-ea"/>
              </a:rPr>
              <a:t>子网划分实例</a:t>
            </a:r>
          </a:p>
        </p:txBody>
      </p:sp>
      <p:sp>
        <p:nvSpPr>
          <p:cNvPr id="6" name="AutoShape 18"/>
          <p:cNvSpPr>
            <a:spLocks noChangeArrowheads="1"/>
          </p:cNvSpPr>
          <p:nvPr/>
        </p:nvSpPr>
        <p:spPr bwMode="auto">
          <a:xfrm>
            <a:off x="2878493" y="3992951"/>
            <a:ext cx="2700338" cy="373665"/>
          </a:xfrm>
          <a:prstGeom prst="roundRect">
            <a:avLst>
              <a:gd name="adj" fmla="val 16667"/>
            </a:avLst>
          </a:prstGeom>
          <a:solidFill>
            <a:schemeClr val="bg1">
              <a:lumMod val="95000"/>
            </a:schemeClr>
          </a:solidFill>
          <a:ln w="19050">
            <a:solidFill>
              <a:srgbClr val="6893C6"/>
            </a:solidFill>
          </a:ln>
        </p:spPr>
        <p:style>
          <a:lnRef idx="2">
            <a:schemeClr val="accent2"/>
          </a:lnRef>
          <a:fillRef idx="1">
            <a:schemeClr val="lt1"/>
          </a:fillRef>
          <a:effectRef idx="0">
            <a:schemeClr val="accent2"/>
          </a:effectRef>
          <a:fontRef idx="minor">
            <a:schemeClr val="dk1"/>
          </a:fontRef>
        </p:style>
        <p:txBody>
          <a:bodyPr vertOverflow="overflow" horzOverflow="overflow" vert="horz" wrap="square" numCol="1" spcCol="0" rtlCol="0" fromWordArt="0" anchor="ctr" anchorCtr="0" forceAA="0" compatLnSpc="1">
            <a:spAutoFit/>
          </a:bodyPr>
          <a:lstStyle>
            <a:lvl1pPr marL="0" lvl="0" indent="0" algn="ctr" defTabSz="914400" eaLnBrk="0" fontAlgn="base" latinLnBrk="0" hangingPunct="0">
              <a:lnSpc>
                <a:spcPct val="100000"/>
              </a:lnSpc>
              <a:spcBef>
                <a:spcPct val="0"/>
              </a:spcBef>
              <a:spcAft>
                <a:spcPct val="0"/>
              </a:spcAft>
              <a:buNone/>
              <a:defRPr sz="1800" b="1" i="0" u="none" kern="1200" baseline="0">
                <a:solidFill>
                  <a:srgbClr val="000000"/>
                </a:solidFill>
                <a:latin typeface="Arial" panose="020B0604020202020204" pitchFamily="34" charset="0"/>
                <a:ea typeface="黑体" panose="02010609060101010101" pitchFamily="49" charset="-122"/>
              </a:defRPr>
            </a:lvl1pPr>
            <a:lvl2pPr marL="457200" lvl="1"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2pPr>
            <a:lvl3pPr marL="914400" lvl="2"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3pPr>
            <a:lvl4pPr marL="1371600" lvl="3"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4pPr>
            <a:lvl5pPr marL="1828800" lvl="4" indent="0" algn="ctr" defTabSz="914400" eaLnBrk="1" fontAlgn="base" latinLnBrk="0" hangingPunct="1">
              <a:lnSpc>
                <a:spcPct val="100000"/>
              </a:lnSpc>
              <a:spcBef>
                <a:spcPct val="0"/>
              </a:spcBef>
              <a:spcAft>
                <a:spcPct val="0"/>
              </a:spcAft>
              <a:buNone/>
              <a:defRPr b="1" i="0" u="none" kern="1200" baseline="0">
                <a:solidFill>
                  <a:srgbClr val="000000"/>
                </a:solidFill>
                <a:latin typeface="Arial" panose="020B0604020202020204" pitchFamily="34" charset="0"/>
                <a:ea typeface="黑体" panose="02010609060101010101" pitchFamily="49" charset="-122"/>
              </a:defRPr>
            </a:lvl5pPr>
          </a:lstStyle>
          <a:p>
            <a:pPr lvl="0" algn="ctr" eaLnBrk="1" hangingPunct="1">
              <a:buClrTx/>
              <a:buSzTx/>
              <a:buFontTx/>
            </a:pPr>
            <a:r>
              <a:rPr lang="zh-CN" altLang="en-US" sz="1600" dirty="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判断可用的IP地址</a:t>
            </a:r>
          </a:p>
        </p:txBody>
      </p:sp>
      <p:sp>
        <p:nvSpPr>
          <p:cNvPr id="15" name="文本框 14"/>
          <p:cNvSpPr txBox="1"/>
          <p:nvPr>
            <p:custDataLst>
              <p:tags r:id="rId1"/>
            </p:custDataLst>
          </p:nvPr>
        </p:nvSpPr>
        <p:spPr>
          <a:xfrm>
            <a:off x="5579110" y="1820545"/>
            <a:ext cx="3446145" cy="521970"/>
          </a:xfrm>
          <a:prstGeom prst="rect">
            <a:avLst/>
          </a:prstGeom>
          <a:noFill/>
        </p:spPr>
        <p:txBody>
          <a:bodyPr wrap="square" rtlCol="0" anchor="t">
            <a:spAutoFit/>
          </a:bodyPr>
          <a:lstStyle/>
          <a:p>
            <a:r>
              <a:rPr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IP 地址组成： 网络部分和主机部分</a:t>
            </a:r>
          </a:p>
          <a:p>
            <a:r>
              <a:rPr lang="zh-CN" altLang="en-US" sz="1400" dirty="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子网掩码：</a:t>
            </a:r>
            <a:r>
              <a:rPr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32个二进制位</a:t>
            </a:r>
          </a:p>
        </p:txBody>
      </p:sp>
      <p:sp>
        <p:nvSpPr>
          <p:cNvPr id="16" name="文本框 15"/>
          <p:cNvSpPr txBox="1"/>
          <p:nvPr>
            <p:custDataLst>
              <p:tags r:id="rId2"/>
            </p:custDataLst>
          </p:nvPr>
        </p:nvSpPr>
        <p:spPr>
          <a:xfrm>
            <a:off x="2339975" y="2900680"/>
            <a:ext cx="3446145" cy="306705"/>
          </a:xfrm>
          <a:prstGeom prst="rect">
            <a:avLst/>
          </a:prstGeom>
          <a:noFill/>
        </p:spPr>
        <p:txBody>
          <a:bodyPr wrap="square" rtlCol="0" anchor="t">
            <a:spAutoFit/>
          </a:bodyPr>
          <a:lstStyle/>
          <a:p>
            <a:r>
              <a:rPr lang="zh-CN" sz="1400">
                <a:solidFill>
                  <a:srgbClr val="001E7F"/>
                </a:solidFill>
                <a:latin typeface="微软雅黑" panose="020B0503020204020204" pitchFamily="34" charset="-122"/>
                <a:ea typeface="微软雅黑" panose="020B0503020204020204" pitchFamily="34" charset="-122"/>
                <a:cs typeface="微软雅黑" panose="020B0503020204020204" pitchFamily="34" charset="-122"/>
                <a:sym typeface="+mn-ea"/>
              </a:rPr>
              <a:t>借位子网划分</a:t>
            </a:r>
          </a:p>
        </p:txBody>
      </p:sp>
      <p:sp>
        <p:nvSpPr>
          <p:cNvPr id="17" name="文本框 16"/>
          <p:cNvSpPr txBox="1"/>
          <p:nvPr/>
        </p:nvSpPr>
        <p:spPr>
          <a:xfrm>
            <a:off x="5580380" y="3417570"/>
            <a:ext cx="3048000" cy="521970"/>
          </a:xfrm>
          <a:prstGeom prst="rect">
            <a:avLst/>
          </a:prstGeom>
          <a:noFill/>
        </p:spPr>
        <p:txBody>
          <a:bodyPr wrap="square" rtlCol="0" anchor="t">
            <a:spAutoFit/>
          </a:bodyPr>
          <a:lstStyle/>
          <a:p>
            <a:pPr lvl="0" algn="l">
              <a:buClrTx/>
              <a:buSzTx/>
              <a:buFontTx/>
            </a:pPr>
            <a:r>
              <a:rPr lang="en-US" altLang="zh-CN" sz="1400">
                <a:solidFill>
                  <a:srgbClr val="001E7F"/>
                </a:solidFill>
                <a:latin typeface="微软雅黑" panose="020B0503020204020204" pitchFamily="34" charset="-122"/>
                <a:ea typeface="微软雅黑" panose="020B0503020204020204" pitchFamily="34" charset="-122"/>
                <a:sym typeface="+mn-ea"/>
              </a:rPr>
              <a:t>子网数=2</a:t>
            </a:r>
            <a:r>
              <a:rPr lang="en-US" altLang="zh-CN" sz="1400" b="1" i="1" baseline="30000" dirty="0">
                <a:solidFill>
                  <a:schemeClr val="tx1"/>
                </a:solidFill>
                <a:latin typeface="Arial" panose="020B0604020202020204" pitchFamily="34" charset="0"/>
                <a:ea typeface="微软雅黑" panose="020B0503020204020204" pitchFamily="34" charset="-122"/>
                <a:cs typeface="Arial" panose="020B0604020202020204" pitchFamily="34" charset="0"/>
                <a:sym typeface="+mn-ea"/>
              </a:rPr>
              <a:t>n</a:t>
            </a:r>
            <a:r>
              <a:rPr lang="en-US" altLang="zh-CN" sz="1400">
                <a:solidFill>
                  <a:srgbClr val="001E7F"/>
                </a:solidFill>
                <a:latin typeface="微软雅黑" panose="020B0503020204020204" pitchFamily="34" charset="-122"/>
                <a:ea typeface="微软雅黑" panose="020B0503020204020204" pitchFamily="34" charset="-122"/>
                <a:sym typeface="+mn-ea"/>
              </a:rPr>
              <a:t>，n为子网部分位数</a:t>
            </a:r>
          </a:p>
          <a:p>
            <a:pPr lvl="0" algn="l">
              <a:buClrTx/>
              <a:buSzTx/>
              <a:buFontTx/>
            </a:pPr>
            <a:r>
              <a:rPr lang="en-US" altLang="zh-CN" sz="1400">
                <a:solidFill>
                  <a:srgbClr val="001E7F"/>
                </a:solidFill>
                <a:latin typeface="微软雅黑" panose="020B0503020204020204" pitchFamily="34" charset="-122"/>
                <a:ea typeface="微软雅黑" panose="020B0503020204020204" pitchFamily="34" charset="-122"/>
                <a:sym typeface="+mn-ea"/>
              </a:rPr>
              <a:t>主机数=2</a:t>
            </a:r>
            <a:r>
              <a:rPr lang="en-US" altLang="zh-CN" sz="1400" b="1" i="1" baseline="30000" dirty="0">
                <a:solidFill>
                  <a:schemeClr val="tx1"/>
                </a:solidFill>
                <a:latin typeface="Arial" panose="020B0604020202020204" pitchFamily="34" charset="0"/>
                <a:ea typeface="微软雅黑" panose="020B0503020204020204" pitchFamily="34" charset="-122"/>
                <a:cs typeface="Arial" panose="020B0604020202020204" pitchFamily="34" charset="0"/>
                <a:sym typeface="+mn-ea"/>
              </a:rPr>
              <a:t>N</a:t>
            </a:r>
            <a:r>
              <a:rPr lang="en-US" altLang="zh-CN" sz="1400">
                <a:solidFill>
                  <a:srgbClr val="001E7F"/>
                </a:solidFill>
                <a:latin typeface="微软雅黑" panose="020B0503020204020204" pitchFamily="34" charset="-122"/>
                <a:ea typeface="微软雅黑" panose="020B0503020204020204" pitchFamily="34" charset="-122"/>
                <a:sym typeface="+mn-ea"/>
              </a:rPr>
              <a:t>－2，N为主机部分位数</a:t>
            </a:r>
          </a:p>
        </p:txBody>
      </p:sp>
      <p:sp>
        <p:nvSpPr>
          <p:cNvPr id="21" name="文本框 20"/>
          <p:cNvSpPr txBox="1"/>
          <p:nvPr>
            <p:custDataLst>
              <p:tags r:id="rId3"/>
            </p:custDataLst>
          </p:nvPr>
        </p:nvSpPr>
        <p:spPr>
          <a:xfrm>
            <a:off x="5579745" y="3933825"/>
            <a:ext cx="3048000" cy="521970"/>
          </a:xfrm>
          <a:prstGeom prst="rect">
            <a:avLst/>
          </a:prstGeom>
          <a:noFill/>
        </p:spPr>
        <p:txBody>
          <a:bodyPr wrap="square" rtlCol="0" anchor="t">
            <a:spAutoFit/>
          </a:bodyPr>
          <a:lstStyle/>
          <a:p>
            <a:pPr lvl="0" algn="l">
              <a:buClrTx/>
              <a:buSzTx/>
              <a:buFontTx/>
            </a:pPr>
            <a:r>
              <a:rPr lang="en-US" altLang="zh-CN" sz="1400">
                <a:solidFill>
                  <a:srgbClr val="001E7F"/>
                </a:solidFill>
                <a:latin typeface="微软雅黑" panose="020B0503020204020204" pitchFamily="34" charset="-122"/>
                <a:ea typeface="微软雅黑" panose="020B0503020204020204" pitchFamily="34" charset="-122"/>
                <a:sym typeface="+mn-ea"/>
              </a:rPr>
              <a:t>有效主机地址范围=  (网络地址+1</a:t>
            </a:r>
            <a:r>
              <a:rPr lang="zh-CN" altLang="en-US" sz="1400">
                <a:solidFill>
                  <a:srgbClr val="001E7F"/>
                </a:solidFill>
                <a:latin typeface="微软雅黑" panose="020B0503020204020204" pitchFamily="34" charset="-122"/>
                <a:ea typeface="微软雅黑" panose="020B0503020204020204" pitchFamily="34" charset="-122"/>
                <a:sym typeface="+mn-ea"/>
              </a:rPr>
              <a:t>）</a:t>
            </a:r>
            <a:r>
              <a:rPr lang="en-US" altLang="zh-CN" sz="1400">
                <a:solidFill>
                  <a:srgbClr val="001E7F"/>
                </a:solidFill>
                <a:latin typeface="微软雅黑" panose="020B0503020204020204" pitchFamily="34" charset="-122"/>
                <a:ea typeface="微软雅黑" panose="020B0503020204020204" pitchFamily="34" charset="-122"/>
                <a:sym typeface="+mn-ea"/>
              </a:rPr>
              <a:t>~</a:t>
            </a:r>
            <a:r>
              <a:rPr lang="zh-CN" altLang="en-US" sz="1400">
                <a:solidFill>
                  <a:srgbClr val="001E7F"/>
                </a:solidFill>
                <a:latin typeface="微软雅黑" panose="020B0503020204020204" pitchFamily="34" charset="-122"/>
                <a:ea typeface="微软雅黑" panose="020B0503020204020204" pitchFamily="34" charset="-122"/>
                <a:sym typeface="+mn-ea"/>
              </a:rPr>
              <a:t>（</a:t>
            </a:r>
            <a:r>
              <a:rPr lang="en-US" altLang="zh-CN" sz="1400">
                <a:solidFill>
                  <a:srgbClr val="001E7F"/>
                </a:solidFill>
                <a:latin typeface="微软雅黑" panose="020B0503020204020204" pitchFamily="34" charset="-122"/>
                <a:ea typeface="微软雅黑" panose="020B0503020204020204" pitchFamily="34" charset="-122"/>
                <a:sym typeface="+mn-ea"/>
              </a:rPr>
              <a:t>广播地址-1)</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t>41</a:t>
            </a:fld>
            <a:r>
              <a:rPr lang="en-US" altLang="zh-CN" dirty="0"/>
              <a:t>/45</a:t>
            </a: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4"/>
          <p:cNvSpPr>
            <a:spLocks noGrp="1"/>
          </p:cNvSpPr>
          <p:nvPr/>
        </p:nvSpPr>
        <p:spPr>
          <a:xfrm>
            <a:off x="1588" y="2479546"/>
            <a:ext cx="9140825" cy="109347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CN" sz="4800" b="1" dirty="0">
                <a:solidFill>
                  <a:schemeClr val="bg1"/>
                </a:solidFill>
                <a:effectLst/>
                <a:latin typeface="微软雅黑" panose="020B0503020204020204" pitchFamily="34" charset="-122"/>
                <a:ea typeface="微软雅黑" panose="020B0503020204020204" pitchFamily="34" charset="-122"/>
                <a:sym typeface="+mn-ea"/>
              </a:rPr>
              <a:t>IP</a:t>
            </a:r>
            <a:r>
              <a:rPr lang="zh-CN" altLang="en-US" sz="4800" b="1" dirty="0">
                <a:solidFill>
                  <a:schemeClr val="bg1"/>
                </a:solidFill>
                <a:effectLst/>
                <a:latin typeface="微软雅黑" panose="020B0503020204020204" pitchFamily="34" charset="-122"/>
                <a:ea typeface="微软雅黑" panose="020B0503020204020204" pitchFamily="34" charset="-122"/>
                <a:sym typeface="+mn-ea"/>
              </a:rPr>
              <a:t>子网划分</a:t>
            </a:r>
          </a:p>
        </p:txBody>
      </p:sp>
      <p:grpSp>
        <p:nvGrpSpPr>
          <p:cNvPr id="9" name="组合 8"/>
          <p:cNvGrpSpPr/>
          <p:nvPr/>
        </p:nvGrpSpPr>
        <p:grpSpPr>
          <a:xfrm>
            <a:off x="3421173" y="1951658"/>
            <a:ext cx="2301655" cy="397222"/>
            <a:chOff x="4932040" y="3751858"/>
            <a:chExt cx="2301655" cy="397222"/>
          </a:xfrm>
        </p:grpSpPr>
        <p:sp>
          <p:nvSpPr>
            <p:cNvPr id="10" name="标题 1"/>
            <p:cNvSpPr txBox="1"/>
            <p:nvPr/>
          </p:nvSpPr>
          <p:spPr>
            <a:xfrm>
              <a:off x="4932040" y="3751858"/>
              <a:ext cx="2301655" cy="397222"/>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000" b="1" dirty="0">
                  <a:solidFill>
                    <a:schemeClr val="bg1"/>
                  </a:solidFill>
                  <a:latin typeface="微软雅黑" panose="020B0503020204020204" pitchFamily="34" charset="-122"/>
                  <a:ea typeface="微软雅黑" panose="020B0503020204020204" pitchFamily="34" charset="-122"/>
                </a:rPr>
                <a:t>第四章</a:t>
              </a:r>
            </a:p>
          </p:txBody>
        </p:sp>
        <p:grpSp>
          <p:nvGrpSpPr>
            <p:cNvPr id="11" name="组合 10"/>
            <p:cNvGrpSpPr/>
            <p:nvPr/>
          </p:nvGrpSpPr>
          <p:grpSpPr>
            <a:xfrm>
              <a:off x="5321495" y="3899824"/>
              <a:ext cx="184008" cy="145008"/>
              <a:chOff x="3923928" y="3595371"/>
              <a:chExt cx="252028" cy="198611"/>
            </a:xfrm>
          </p:grpSpPr>
          <p:sp>
            <p:nvSpPr>
              <p:cNvPr id="12" name="燕尾形 11"/>
              <p:cNvSpPr/>
              <p:nvPr/>
            </p:nvSpPr>
            <p:spPr>
              <a:xfrm>
                <a:off x="4067944" y="3595371"/>
                <a:ext cx="108012" cy="198611"/>
              </a:xfrm>
              <a:prstGeom prst="chevron">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燕尾形 12"/>
              <p:cNvSpPr/>
              <p:nvPr/>
            </p:nvSpPr>
            <p:spPr>
              <a:xfrm>
                <a:off x="3923928" y="3595371"/>
                <a:ext cx="108012" cy="198611"/>
              </a:xfrm>
              <a:prstGeom prst="chevron">
                <a:avLst/>
              </a:prstGeom>
              <a:solidFill>
                <a:srgbClr val="40EC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复习和预习作业</a:t>
            </a:r>
          </a:p>
        </p:txBody>
      </p:sp>
      <p:sp>
        <p:nvSpPr>
          <p:cNvPr id="3" name="内容占位符 2"/>
          <p:cNvSpPr>
            <a:spLocks noGrp="1"/>
          </p:cNvSpPr>
          <p:nvPr>
            <p:ph idx="1"/>
          </p:nvPr>
        </p:nvSpPr>
        <p:spPr>
          <a:xfrm>
            <a:off x="323528" y="837217"/>
            <a:ext cx="8496944" cy="5381337"/>
          </a:xfrm>
        </p:spPr>
        <p:txBody>
          <a:bodyPr/>
          <a:lstStyle/>
          <a:p>
            <a:r>
              <a:rPr lang="zh-CN" altLang="en-US"/>
              <a:t>复习题</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p:txBody>
      </p:sp>
      <p:sp>
        <p:nvSpPr>
          <p:cNvPr id="4" name="TextBox 3"/>
          <p:cNvSpPr txBox="1"/>
          <p:nvPr/>
        </p:nvSpPr>
        <p:spPr>
          <a:xfrm>
            <a:off x="683568" y="1246614"/>
            <a:ext cx="8136904" cy="5400675"/>
          </a:xfrm>
          <a:prstGeom prst="rect">
            <a:avLst/>
          </a:prstGeom>
          <a:noFill/>
        </p:spPr>
        <p:txBody>
          <a:bodyPr wrap="square" rtlCol="0">
            <a:spAutoFit/>
          </a:bodyPr>
          <a:lstStyle/>
          <a:p>
            <a:pPr marL="0" lvl="1">
              <a:lnSpc>
                <a:spcPct val="120000"/>
              </a:lnSpc>
            </a:pPr>
            <a:r>
              <a:rPr lang="zh-CN" altLang="en-US" sz="1600" dirty="0">
                <a:latin typeface="微软雅黑" panose="020B0503020204020204" pitchFamily="34" charset="-122"/>
                <a:ea typeface="微软雅黑" panose="020B0503020204020204" pitchFamily="34" charset="-122"/>
              </a:rPr>
              <a:t>1．十进制数字 189 转换为二进制数字是多少？</a:t>
            </a:r>
          </a:p>
          <a:p>
            <a:pPr marL="0" lvl="1">
              <a:lnSpc>
                <a:spcPct val="120000"/>
              </a:lnSpc>
            </a:pPr>
            <a:r>
              <a:rPr lang="zh-CN" altLang="en-US" sz="1600" dirty="0">
                <a:latin typeface="微软雅黑" panose="020B0503020204020204" pitchFamily="34" charset="-122"/>
                <a:ea typeface="微软雅黑" panose="020B0503020204020204" pitchFamily="34" charset="-122"/>
              </a:rPr>
              <a:t>2．使用/27 的掩码对 192.168.1.0/24 进行子网划分，请写出划分之后的子网数和每个子网的有效主机数</a:t>
            </a:r>
          </a:p>
          <a:p>
            <a:pPr marL="0" lvl="1">
              <a:lnSpc>
                <a:spcPct val="120000"/>
              </a:lnSpc>
            </a:pPr>
            <a:r>
              <a:rPr lang="zh-CN" altLang="en-US" sz="1600" dirty="0">
                <a:latin typeface="微软雅黑" panose="020B0503020204020204" pitchFamily="34" charset="-122"/>
                <a:ea typeface="微软雅黑" panose="020B0503020204020204" pitchFamily="34" charset="-122"/>
              </a:rPr>
              <a:t>3．某公司使用 192.168.0.0/24 网段，公司部门情况如下：财务部有 20 台主机，综合部有 16 台主机，销售部有 60 台主机，生产部有 46 台主机。通过子网划分给部门分配网络地址、子网掩码及广播地址</a:t>
            </a:r>
          </a:p>
          <a:p>
            <a:pPr marL="0" lvl="1">
              <a:lnSpc>
                <a:spcPct val="120000"/>
              </a:lnSpc>
            </a:pPr>
            <a:r>
              <a:rPr lang="zh-CN" altLang="en-US" sz="1600" dirty="0">
                <a:latin typeface="微软雅黑" panose="020B0503020204020204" pitchFamily="34" charset="-122"/>
                <a:ea typeface="微软雅黑" panose="020B0503020204020204" pitchFamily="34" charset="-122"/>
              </a:rPr>
              <a:t>4．某公司使用 192.168.0.0/24 网段，公司部门情况如下：财务部有 20 台主机，综合部有 16 台主机，销售部有 65 台主机，生产部有 46 台主机。通过子网划分给部门分配网络地址、子网掩码及可用主机范围</a:t>
            </a:r>
          </a:p>
          <a:p>
            <a:pPr marL="0" lvl="1">
              <a:lnSpc>
                <a:spcPct val="120000"/>
              </a:lnSpc>
            </a:pPr>
            <a:r>
              <a:rPr lang="zh-CN" altLang="en-US" sz="1600" dirty="0">
                <a:latin typeface="微软雅黑" panose="020B0503020204020204" pitchFamily="34" charset="-122"/>
                <a:ea typeface="微软雅黑" panose="020B0503020204020204" pitchFamily="34" charset="-122"/>
              </a:rPr>
              <a:t>5．使用/23 的掩码对 172.16.0.0/16 进行子网划分，划分后的子网数和每个子网中可用的主机数分别是多少？</a:t>
            </a:r>
          </a:p>
          <a:p>
            <a:pPr marL="0" lvl="1">
              <a:lnSpc>
                <a:spcPct val="120000"/>
              </a:lnSpc>
            </a:pPr>
            <a:r>
              <a:rPr lang="zh-CN" altLang="en-US" sz="1600" dirty="0">
                <a:latin typeface="微软雅黑" panose="020B0503020204020204" pitchFamily="34" charset="-122"/>
                <a:ea typeface="微软雅黑" panose="020B0503020204020204" pitchFamily="34" charset="-122"/>
              </a:rPr>
              <a:t>6．IP 地址 172.16.10.100/22 所在子网号和所在子网的广播地址分别是什么? </a:t>
            </a:r>
          </a:p>
          <a:p>
            <a:pPr marL="0" lvl="1">
              <a:lnSpc>
                <a:spcPct val="120000"/>
              </a:lnSpc>
            </a:pPr>
            <a:r>
              <a:rPr lang="zh-CN" altLang="en-US" sz="1600" dirty="0">
                <a:latin typeface="微软雅黑" panose="020B0503020204020204" pitchFamily="34" charset="-122"/>
                <a:ea typeface="微软雅黑" panose="020B0503020204020204" pitchFamily="34" charset="-122"/>
              </a:rPr>
              <a:t>7．掩码为 255.255.255.240 的网络中可以容纳多少台主机？</a:t>
            </a:r>
          </a:p>
          <a:p>
            <a:pPr marL="0" lvl="1">
              <a:lnSpc>
                <a:spcPct val="120000"/>
              </a:lnSpc>
            </a:pPr>
            <a:r>
              <a:rPr lang="zh-CN" altLang="en-US" sz="1600" dirty="0">
                <a:latin typeface="微软雅黑" panose="020B0503020204020204" pitchFamily="34" charset="-122"/>
                <a:ea typeface="微软雅黑" panose="020B0503020204020204" pitchFamily="34" charset="-122"/>
              </a:rPr>
              <a:t>8．将 4 个网络地址（192.168.32.0/24、192.168.33.0/24、192.168.34.0/24、192.168.35.0/24）汇总成为一个地址段，要求汇总地址恰好包含所有地址，即要求汇总地址段的子网掩码最长</a:t>
            </a:r>
          </a:p>
          <a:p>
            <a:pPr marL="0" lvl="1">
              <a:lnSpc>
                <a:spcPct val="120000"/>
              </a:lnSpc>
            </a:pPr>
            <a:r>
              <a:rPr lang="zh-CN" altLang="en-US" sz="1600" dirty="0">
                <a:latin typeface="微软雅黑" panose="020B0503020204020204" pitchFamily="34" charset="-122"/>
                <a:ea typeface="微软雅黑" panose="020B0503020204020204" pitchFamily="34" charset="-122"/>
              </a:rPr>
              <a:t>9．使用 3 个汇总地址分别写出 3 类私有地址</a:t>
            </a:r>
          </a:p>
          <a:p>
            <a:pPr marL="0" lvl="1">
              <a:lnSpc>
                <a:spcPct val="120000"/>
              </a:lnSpc>
            </a:pPr>
            <a:r>
              <a:rPr lang="zh-CN" altLang="en-US" sz="1600" dirty="0">
                <a:latin typeface="微软雅黑" panose="020B0503020204020204" pitchFamily="34" charset="-122"/>
                <a:ea typeface="微软雅黑" panose="020B0503020204020204" pitchFamily="34" charset="-122"/>
              </a:rPr>
              <a:t>10．如果一个网络中，最多可以容纳 29 个主机地址，请推算出该网络的子网掩码是多少</a:t>
            </a:r>
          </a:p>
        </p:txBody>
      </p:sp>
      <p:pic>
        <p:nvPicPr>
          <p:cNvPr id="6" name="图片 5" descr="印章-1"/>
          <p:cNvPicPr>
            <a:picLocks noChangeAspect="1"/>
          </p:cNvPicPr>
          <p:nvPr/>
        </p:nvPicPr>
        <p:blipFill>
          <a:blip r:embed="rId3"/>
          <a:stretch>
            <a:fillRect/>
          </a:stretch>
        </p:blipFill>
        <p:spPr>
          <a:xfrm>
            <a:off x="7091680" y="44974"/>
            <a:ext cx="1504315" cy="1504315"/>
          </a:xfrm>
          <a:prstGeom prst="rect">
            <a:avLst/>
          </a:prstGeom>
        </p:spPr>
      </p:pic>
      <p:sp>
        <p:nvSpPr>
          <p:cNvPr id="5" name="灯片编号占位符 4"/>
          <p:cNvSpPr>
            <a:spLocks noGrp="1"/>
          </p:cNvSpPr>
          <p:nvPr>
            <p:ph type="sldNum" sz="quarter" idx="12"/>
          </p:nvPr>
        </p:nvSpPr>
        <p:spPr/>
        <p:txBody>
          <a:bodyPr/>
          <a:lstStyle/>
          <a:p>
            <a:fld id="{0C913308-F349-4B6D-A68A-DD1791B4A57B}" type="slidenum">
              <a:rPr lang="zh-CN" altLang="en-US" smtClean="0"/>
              <a:t>43</a:t>
            </a:fld>
            <a:r>
              <a:rPr lang="en-US" altLang="zh-CN" dirty="0"/>
              <a:t>/45</a:t>
            </a:r>
            <a:endParaRPr lang="zh-CN" alt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复习和预习作业</a:t>
            </a:r>
          </a:p>
        </p:txBody>
      </p:sp>
      <p:sp>
        <p:nvSpPr>
          <p:cNvPr id="3" name="内容占位符 2"/>
          <p:cNvSpPr>
            <a:spLocks noGrp="1"/>
          </p:cNvSpPr>
          <p:nvPr>
            <p:ph idx="1"/>
          </p:nvPr>
        </p:nvSpPr>
        <p:spPr>
          <a:xfrm>
            <a:off x="323528" y="837217"/>
            <a:ext cx="8496944" cy="5381337"/>
          </a:xfrm>
        </p:spPr>
        <p:txBody>
          <a:bodyPr/>
          <a:lstStyle/>
          <a:p>
            <a:r>
              <a:rPr lang="zh-CN" altLang="en-US"/>
              <a:t>预习题</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p:txBody>
      </p:sp>
      <p:sp>
        <p:nvSpPr>
          <p:cNvPr id="4" name="TextBox 3"/>
          <p:cNvSpPr txBox="1"/>
          <p:nvPr/>
        </p:nvSpPr>
        <p:spPr>
          <a:xfrm>
            <a:off x="683568" y="1246614"/>
            <a:ext cx="8136904" cy="1565910"/>
          </a:xfrm>
          <a:prstGeom prst="rect">
            <a:avLst/>
          </a:prstGeom>
          <a:noFill/>
        </p:spPr>
        <p:txBody>
          <a:bodyPr wrap="square" rtlCol="0">
            <a:spAutoFit/>
          </a:bodyPr>
          <a:lstStyle/>
          <a:p>
            <a:pPr marL="0" lvl="1">
              <a:lnSpc>
                <a:spcPct val="120000"/>
              </a:lnSpc>
            </a:pPr>
            <a:r>
              <a:rPr lang="zh-CN" altLang="en-US" sz="1600" dirty="0">
                <a:latin typeface="微软雅黑" panose="020B0503020204020204" pitchFamily="34" charset="-122"/>
                <a:ea typeface="微软雅黑" panose="020B0503020204020204" pitchFamily="34" charset="-122"/>
              </a:rPr>
              <a:t>1．动态路由和静态路由的主要区别是什么？</a:t>
            </a:r>
          </a:p>
          <a:p>
            <a:pPr marL="0" lvl="1">
              <a:lnSpc>
                <a:spcPct val="120000"/>
              </a:lnSpc>
            </a:pPr>
            <a:r>
              <a:rPr lang="zh-CN" altLang="en-US" sz="1600" dirty="0">
                <a:latin typeface="微软雅黑" panose="020B0503020204020204" pitchFamily="34" charset="-122"/>
                <a:ea typeface="微软雅黑" panose="020B0503020204020204" pitchFamily="34" charset="-122"/>
              </a:rPr>
              <a:t>2．Router ID 的作用是什么？</a:t>
            </a:r>
          </a:p>
          <a:p>
            <a:pPr marL="0" lvl="1">
              <a:lnSpc>
                <a:spcPct val="120000"/>
              </a:lnSpc>
            </a:pPr>
            <a:r>
              <a:rPr lang="zh-CN" altLang="en-US" sz="1600" dirty="0">
                <a:latin typeface="微软雅黑" panose="020B0503020204020204" pitchFamily="34" charset="-122"/>
                <a:ea typeface="微软雅黑" panose="020B0503020204020204" pitchFamily="34" charset="-122"/>
              </a:rPr>
              <a:t>3．DR 和 BDR 分别是什么？</a:t>
            </a:r>
          </a:p>
          <a:p>
            <a:pPr marL="0" lvl="1">
              <a:lnSpc>
                <a:spcPct val="120000"/>
              </a:lnSpc>
            </a:pPr>
            <a:r>
              <a:rPr lang="zh-CN" altLang="en-US" sz="1600" dirty="0">
                <a:latin typeface="微软雅黑" panose="020B0503020204020204" pitchFamily="34" charset="-122"/>
                <a:ea typeface="微软雅黑" panose="020B0503020204020204" pitchFamily="34" charset="-122"/>
              </a:rPr>
              <a:t>4．区域 ID 的表示方法有哪些？</a:t>
            </a:r>
          </a:p>
          <a:p>
            <a:pPr marL="0" lvl="1">
              <a:lnSpc>
                <a:spcPct val="120000"/>
              </a:lnSpc>
            </a:pPr>
            <a:r>
              <a:rPr lang="zh-CN" altLang="en-US" sz="1600" dirty="0">
                <a:latin typeface="微软雅黑" panose="020B0503020204020204" pitchFamily="34" charset="-122"/>
                <a:ea typeface="微软雅黑" panose="020B0503020204020204" pitchFamily="34" charset="-122"/>
              </a:rPr>
              <a:t>5．OSPF 邻接关系的最终状态是什么？</a:t>
            </a:r>
          </a:p>
        </p:txBody>
      </p:sp>
      <p:pic>
        <p:nvPicPr>
          <p:cNvPr id="7" name="图片 6" descr="印章-2"/>
          <p:cNvPicPr>
            <a:picLocks noChangeAspect="1"/>
          </p:cNvPicPr>
          <p:nvPr/>
        </p:nvPicPr>
        <p:blipFill>
          <a:blip r:embed="rId3"/>
          <a:stretch>
            <a:fillRect/>
          </a:stretch>
        </p:blipFill>
        <p:spPr>
          <a:xfrm>
            <a:off x="6228017" y="1125321"/>
            <a:ext cx="1504315" cy="1504315"/>
          </a:xfrm>
          <a:prstGeom prst="rect">
            <a:avLst/>
          </a:prstGeom>
        </p:spPr>
      </p:pic>
      <p:sp>
        <p:nvSpPr>
          <p:cNvPr id="5" name="灯片编号占位符 4"/>
          <p:cNvSpPr>
            <a:spLocks noGrp="1"/>
          </p:cNvSpPr>
          <p:nvPr>
            <p:ph type="sldNum" sz="quarter" idx="12"/>
          </p:nvPr>
        </p:nvSpPr>
        <p:spPr/>
        <p:txBody>
          <a:bodyPr/>
          <a:lstStyle/>
          <a:p>
            <a:fld id="{0C913308-F349-4B6D-A68A-DD1791B4A57B}" type="slidenum">
              <a:rPr lang="zh-CN" altLang="en-US" smtClean="0"/>
              <a:t>44</a:t>
            </a:fld>
            <a:r>
              <a:rPr lang="en-US" altLang="zh-CN" dirty="0"/>
              <a:t>/45</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2" descr="C:\Users\lei.sun\Desktop\BCNT -3.png"/>
          <p:cNvPicPr>
            <a:picLocks noChangeAspect="1" noChangeArrowheads="1"/>
          </p:cNvPicPr>
          <p:nvPr/>
        </p:nvPicPr>
        <p:blipFill>
          <a:blip r:embed="rId3">
            <a:biLevel thresh="50000"/>
            <a:extLst>
              <a:ext uri="{28A0092B-C50C-407E-A947-70E740481C1C}">
                <a14:useLocalDpi xmlns:a14="http://schemas.microsoft.com/office/drawing/2010/main" val="0"/>
              </a:ext>
            </a:extLst>
          </a:blip>
          <a:srcRect/>
          <a:stretch>
            <a:fillRect/>
          </a:stretch>
        </p:blipFill>
        <p:spPr bwMode="auto">
          <a:xfrm>
            <a:off x="1374815" y="2060848"/>
            <a:ext cx="6394371" cy="14338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c717eddd-e038-4b57-b055-c1b1bf7c2a66"/>
  <p:tag name="COMMONDATA" val="eyJoZGlkIjoiMThhZjcwNDE1ZGEyNWEyMWFhNjUyOWEwZDk5ZmFiMGQifQ=="/>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18050926-fa25-4488-aba7-7cde816111e2}"/>
  <p:tag name="TABLE_ENDDRAG_ORIGIN_RECT" val="271*213"/>
  <p:tag name="TABLE_ENDDRAG_RECT" val="327*253*271*213"/>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9ee4f2da-3046-4d91-a8f5-4d111a8a1e91}"/>
  <p:tag name="TABLE_ENDDRAG_ORIGIN_RECT" val="486*202"/>
  <p:tag name="TABLE_ENDDRAG_RECT" val="141*167*486*202"/>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UNIT_TABLE_BEAUTIFY" val="smartTable{450c6747-b54d-4fd5-b9e5-04eeb67040e9}"/>
</p:tagLst>
</file>

<file path=ppt/tags/tag12.xml><?xml version="1.0" encoding="utf-8"?>
<p:tagLst xmlns:a="http://schemas.openxmlformats.org/drawingml/2006/main" xmlns:r="http://schemas.openxmlformats.org/officeDocument/2006/relationships" xmlns:p="http://schemas.openxmlformats.org/presentationml/2006/main">
  <p:tag name="KSO_WM_UNIT_TABLE_BEAUTIFY" val="smartTable{49e5a06f-e86f-4676-857b-8b706fb479ad}"/>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UNIT_TABLE_BEAUTIFY" val="smartTable{75d5d568-4508-497b-a3c6-57312b201226}"/>
</p:tagLst>
</file>

<file path=ppt/tags/tag18.xml><?xml version="1.0" encoding="utf-8"?>
<p:tagLst xmlns:a="http://schemas.openxmlformats.org/drawingml/2006/main" xmlns:r="http://schemas.openxmlformats.org/officeDocument/2006/relationships" xmlns:p="http://schemas.openxmlformats.org/presentationml/2006/main">
  <p:tag name="KSO_WM_UNIT_TABLE_BEAUTIFY" val="smartTable{8277cd81-b23e-49ce-b09c-472e6db94a28}"/>
</p:tagLst>
</file>

<file path=ppt/tags/tag19.xml><?xml version="1.0" encoding="utf-8"?>
<p:tagLst xmlns:a="http://schemas.openxmlformats.org/drawingml/2006/main" xmlns:r="http://schemas.openxmlformats.org/officeDocument/2006/relationships" xmlns:p="http://schemas.openxmlformats.org/presentationml/2006/main">
  <p:tag name="KSO_WM_UNIT_TABLE_BEAUTIFY" val="smartTable{f40888c3-4847-4d3c-a4f1-184ab710bea1}"/>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6200,&quot;width&quot;:6200}"/>
</p:tagLst>
</file>

<file path=ppt/tags/tag25.xml><?xml version="1.0" encoding="utf-8"?>
<p:tagLst xmlns:a="http://schemas.openxmlformats.org/drawingml/2006/main" xmlns:r="http://schemas.openxmlformats.org/officeDocument/2006/relationships" xmlns:p="http://schemas.openxmlformats.org/presentationml/2006/main">
  <p:tag name="KSO_WM_UNIT_TABLE_BEAUTIFY" val="smartTable{051c9d83-0086-453b-bff4-dcffb9f3b112}"/>
  <p:tag name="TABLE_ENDDRAG_ORIGIN_RECT" val="505*246"/>
  <p:tag name="TABLE_ENDDRAG_RECT" val="127*228*505*246"/>
</p:tagLst>
</file>

<file path=ppt/tags/tag26.xml><?xml version="1.0" encoding="utf-8"?>
<p:tagLst xmlns:a="http://schemas.openxmlformats.org/drawingml/2006/main" xmlns:r="http://schemas.openxmlformats.org/officeDocument/2006/relationships" xmlns:p="http://schemas.openxmlformats.org/presentationml/2006/main">
  <p:tag name="KSO_WM_UNIT_TABLE_BEAUTIFY" val="smartTable{5d6157ed-873d-4145-afaa-0105943bb2cf}"/>
</p:tagLst>
</file>

<file path=ppt/tags/tag27.xml><?xml version="1.0" encoding="utf-8"?>
<p:tagLst xmlns:a="http://schemas.openxmlformats.org/drawingml/2006/main" xmlns:r="http://schemas.openxmlformats.org/officeDocument/2006/relationships" xmlns:p="http://schemas.openxmlformats.org/presentationml/2006/main">
  <p:tag name="KSO_WM_UNIT_TABLE_BEAUTIFY" val="smartTable{8e647a98-7959-4b67-a23d-0dd2851d90c2}"/>
  <p:tag name="TABLE_ENDDRAG_ORIGIN_RECT" val="648*176"/>
  <p:tag name="TABLE_ENDDRAG_RECT" val="25*202*648*176"/>
</p:tagLst>
</file>

<file path=ppt/tags/tag28.xml><?xml version="1.0" encoding="utf-8"?>
<p:tagLst xmlns:a="http://schemas.openxmlformats.org/drawingml/2006/main" xmlns:r="http://schemas.openxmlformats.org/officeDocument/2006/relationships" xmlns:p="http://schemas.openxmlformats.org/presentationml/2006/main">
  <p:tag name="KSO_WM_UNIT_TABLE_BEAUTIFY" val="smartTable{d17589bf-6be0-4597-b2d5-28c0687af6d9}"/>
</p:tagLst>
</file>

<file path=ppt/tags/tag29.xml><?xml version="1.0" encoding="utf-8"?>
<p:tagLst xmlns:a="http://schemas.openxmlformats.org/drawingml/2006/main" xmlns:r="http://schemas.openxmlformats.org/officeDocument/2006/relationships" xmlns:p="http://schemas.openxmlformats.org/presentationml/2006/main">
  <p:tag name="KSO_WM_UNIT_TABLE_BEAUTIFY" val="smartTable{69bb3ce4-5823-441b-ad73-3eea746142b2}"/>
  <p:tag name="TABLE_ENDDRAG_ORIGIN_RECT" val="306*117"/>
  <p:tag name="TABLE_ENDDRAG_RECT" val="42*241*306*117"/>
</p:tagLst>
</file>

<file path=ppt/tags/tag30.xml><?xml version="1.0" encoding="utf-8"?>
<p:tagLst xmlns:a="http://schemas.openxmlformats.org/drawingml/2006/main" xmlns:r="http://schemas.openxmlformats.org/officeDocument/2006/relationships" xmlns:p="http://schemas.openxmlformats.org/presentationml/2006/main">
  <p:tag name="KSO_WM_UNIT_TABLE_BEAUTIFY" val="smartTable{b27adabb-bb3b-4843-8001-381d487d70b9}"/>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3893</Words>
  <Application>Microsoft Office PowerPoint</Application>
  <PresentationFormat>全屏显示(4:3)</PresentationFormat>
  <Paragraphs>937</Paragraphs>
  <Slides>45</Slides>
  <Notes>26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45</vt:i4>
      </vt:variant>
    </vt:vector>
  </HeadingPairs>
  <TitlesOfParts>
    <vt:vector size="52" baseType="lpstr">
      <vt:lpstr>阿里巴巴普惠体 2.0 105 Heavy</vt:lpstr>
      <vt:lpstr>宋体</vt:lpstr>
      <vt:lpstr>微软雅黑</vt:lpstr>
      <vt:lpstr>Arial</vt:lpstr>
      <vt:lpstr>Calibri</vt:lpstr>
      <vt:lpstr>Wingdings</vt:lpstr>
      <vt:lpstr>Office 主题</vt:lpstr>
      <vt:lpstr>课前小考</vt:lpstr>
      <vt:lpstr>PowerPoint 演示文稿</vt:lpstr>
      <vt:lpstr>本章结构</vt:lpstr>
      <vt:lpstr>请思考</vt:lpstr>
      <vt:lpstr>子网划分基础</vt:lpstr>
      <vt:lpstr>子网划分基础</vt:lpstr>
      <vt:lpstr>子网划分基础</vt:lpstr>
      <vt:lpstr>子网划分基础</vt:lpstr>
      <vt:lpstr>子网划分基础</vt:lpstr>
      <vt:lpstr>子网划分基础</vt:lpstr>
      <vt:lpstr>子网划分基础</vt:lpstr>
      <vt:lpstr>子网划分基础</vt:lpstr>
      <vt:lpstr>子网划分基础</vt:lpstr>
      <vt:lpstr>小结</vt:lpstr>
      <vt:lpstr>子网划分的原理</vt:lpstr>
      <vt:lpstr>子网划分的原理</vt:lpstr>
      <vt:lpstr>子网划分的应用</vt:lpstr>
      <vt:lpstr>子网划分的应用</vt:lpstr>
      <vt:lpstr>子网划分的应用</vt:lpstr>
      <vt:lpstr>子网划分的应用</vt:lpstr>
      <vt:lpstr>子网划分的应用</vt:lpstr>
      <vt:lpstr>子网划分的应用</vt:lpstr>
      <vt:lpstr>小结</vt:lpstr>
      <vt:lpstr>子网划分的应用</vt:lpstr>
      <vt:lpstr>子网划分的应用</vt:lpstr>
      <vt:lpstr>子网划分的应用</vt:lpstr>
      <vt:lpstr>子网划分的应用</vt:lpstr>
      <vt:lpstr>子网划分的应用</vt:lpstr>
      <vt:lpstr>子网划分的应用</vt:lpstr>
      <vt:lpstr>小结</vt:lpstr>
      <vt:lpstr>IP地址汇总</vt:lpstr>
      <vt:lpstr>IP地址汇总</vt:lpstr>
      <vt:lpstr>请思考</vt:lpstr>
      <vt:lpstr>IP地址规划及应用</vt:lpstr>
      <vt:lpstr>IP地址规划及应用</vt:lpstr>
      <vt:lpstr>IP地址规划及应用</vt:lpstr>
      <vt:lpstr>IP地址规划及应用</vt:lpstr>
      <vt:lpstr>IP地址规划及应用</vt:lpstr>
      <vt:lpstr>IP地址规划及应用</vt:lpstr>
      <vt:lpstr>小结</vt:lpstr>
      <vt:lpstr>本章总结及笔记自查</vt:lpstr>
      <vt:lpstr>PowerPoint 演示文稿</vt:lpstr>
      <vt:lpstr>复习和预习作业</vt:lpstr>
      <vt:lpstr>复习和预习作业</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sunlei(孙蕾)</dc:creator>
  <cp:lastModifiedBy>jingjing li</cp:lastModifiedBy>
  <cp:revision>471</cp:revision>
  <dcterms:created xsi:type="dcterms:W3CDTF">2021-12-22T01:38:00Z</dcterms:created>
  <dcterms:modified xsi:type="dcterms:W3CDTF">2026-03-07T09:50:11Z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E48CEEC91B1748E699E36C212740B06F</vt:lpwstr>
  </property>
  <property fmtid="{D5CDD505-2E9C-101B-9397-08002B2CF9AE}" pid="3" name="KSOProductBuildVer">
    <vt:lpwstr>2052-11.1.0.13703</vt:lpwstr>
  </property>
</Properties>
</file>